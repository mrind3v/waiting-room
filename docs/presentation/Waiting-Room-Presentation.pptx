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48f7745-a4c7-9c75-8f55-8e5514fd0e6b}">
          <p14:sldIdLst>
            <p14:sldId id="256"/>
            <p14:sldId id="257"/>
            <p14:sldId id="258"/>
            <p14:sldId id="259"/>
          </p14:sldIdLst>
        </p14:section>
        <p14:section name="Application" id="{ab192c5d-dd0f-a1b4-9663-8f318f26507c}">
          <p14:sldIdLst>
            <p14:sldId id="260"/>
            <p14:sldId id="261"/>
            <p14:sldId id="262"/>
            <p14:sldId id="263"/>
            <p14:sldId id="264"/>
            <p14:sldId id="265"/>
            <p14:sldId id="266"/>
          </p14:sldIdLst>
        </p14:section>
        <p14:section name="Quality" id="{1d100a69-b8d4-ccbe-60c4-c6bf9ec710ea}">
          <p14:sldIdLst>
            <p14:sldId id="267"/>
            <p14:sldId id="268"/>
            <p14:sldId id="269"/>
            <p14:sldId id="270"/>
          </p14:sldIdLst>
        </p14:section>
        <p14:section name="Pipeline" id="{815775ce-83ac-6d0a-5f29-ff34d21fcf39}">
          <p14:sldIdLst>
            <p14:sldId id="271"/>
            <p14:sldId id="272"/>
            <p14:sldId id="273"/>
            <p14:sldId id="274"/>
            <p14:sldId id="275"/>
            <p14:sldId id="276"/>
          </p14:sldIdLst>
        </p14:section>
        <p14:section name="Infrastructure" id="{59cced51-707d-89eb-1882-786961087611}">
          <p14:sldIdLst>
            <p14:sldId id="277"/>
            <p14:sldId id="278"/>
            <p14:sldId id="279"/>
            <p14:sldId id="280"/>
            <p14:sldId id="281"/>
            <p14:sldId id="282"/>
            <p14:sldId id="283"/>
            <p14:sldId id="284"/>
            <p14:sldId id="285"/>
          </p14:sldIdLst>
        </p14:section>
        <p14:section name="Operate" id="{a46066d1-4047-52a3-c268-35bfbdb1e4a9}">
          <p14:sldIdLst>
            <p14:sldId id="286"/>
            <p14:sldId id="287"/>
            <p14:sldId id="288"/>
            <p14:sldId id="289"/>
            <p14:sldId id="290"/>
            <p14:sldId id="291"/>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Waiting Room is a clinic front-desk system: reception books patients, checks them in, and a live board shows the queue. I built the app and then took it through the full DevOps path: tests, Docker, CI with a security scan, Terraform on AWS, Kubernetes with Helm, and monitoring. The four pills show the life of every appointment.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product in one minute. Reception books slots per doctor, checks patients in, and the board shows who waits, who sits with a doctor, and for how long. The database itself refuses overlapping bookings.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scorecard. Everything here is real and visible in the repository and in the screenshots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along the top: a developer pushes, GitHub Actions tests and scans, GHCR stores images tagged by commit SHA, and Helm deploys. Inside AWS, a browser reaches one load balancer. Traefik routes slash to the React frontend and slash api to FastAPI. The backend stores data in PostgreSQL. Prometheus scrapes the backend and Grafana draws the charts. Terraform builds the whole AWS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covers what I built: the screens, the lifecycle of an appointment, the database rule that prevents double booking, and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is the centrepiece. Schedule builds each doctor's day from working hours and slot length. Patients and Doctors hold the reference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two receptionists click the same slot, the second sees a clear message instead of a crash. The layout also works down to a 375 pixel phone width, with a bottom tab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Statuses move forward only. The transition table lives in one file, so the API, the board and the tests all agree. Every move stamps a timestamp, which lets the dashboard compute the average wait. Cancelling is allowed only before the consultation starts and frees the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check-then-insert in Python has a race: two requests can both pass the check. A PostgreSQL exclusion constraint closes it, because the database checks atomically. Half-open ranges allow back-to-back slots. Cancelled rows are excluded, so cancelling frees the slot. My test starts two bookings at the same instant and asserts exactly one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groups into doctors, patients, appointments and a dashboard. Every error uses one JSON shape with a code. Health is cheap liveness, ready checks the database and the migration version, and metrics feeds Prometheus. Swagger documents everything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reversible migrations create the three tables. The application never calls create_all, so the database matches the migrations exactly. A Postgres advisory lock lets several pods start at once without racing. The ready endpoint reports 503 until the schema reaches the latest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covers the safety net: the automated tests and the container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suite runs against a real PostgreSQL test database, not SQLite, because the exclusion constraint only exists in Postgres. A guard refuses to run unless the database name ends in _test. A frozen clock makes time rules deterministic. The coverage threshold of 85 percent fails the run if it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use multi-stage builds. The frontend builds with Node and runs on nginx-unprivileged. The backend runs as user 10001 and the frontend as user 101. Base images are pinned by digest, so builds repeat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up starts four containers in order. The database must be healthy before the migration job runs, and the migration must finish before the backend starts. The frontend waits for a ready backend. Passwords come from an ignored .env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covers GitHub Actions: how code travels from a commit to a running pod, and what stops bad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jobs run in parallel as the quality gate: backend tests, frontend build, and Terraform plus Helm validation. If all pass, the build job builds both images, scans them with Trivy, and pushes them tagged with the Git SHA. The deploy job runs only when I enable it for the AWS window, and uses Helm with atomic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 normal run: every job is green and the deploy runs. On the right, I broke one test on a pull request. The test job fails, so the build, scan and deploy jobs never start. No broken image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Container Registry holds both images. Each tag is the full 40-character commit SHA. That gives traceability from a running pod back to the exact source commit, and makes rollback 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the operating system packages and the dependencies inside each image. The pipeline fails on any HIGH or CRITICAL finding that has a fix available. My latest scan found zero. A clean result means no known fixable vulnerability today, so the scan runs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layered. Containers run as non-root with read-only filesystems. Every GitHub Action is pinned to a commit SHA, because the Trivy action itself was compromised through mutable tags in March 2026. Secrets never touch Git: the database password is generated inside the cluster, and CI uses a short-lived IAM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moves from the pipeline to the platform: Terraform for AWS, then Kubernetes with Helm, autoscaling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AWS project sits on the Free plan with managed policies that block certain things. Those limits forced better, cheaper choices. Spot instances are blocked, so I use one on-demand node. IAM OIDC providers are blocked, so the storage driver uses EKS Pod Identity and CI uses a short-lived IAM user. Public subnets and no NAT gateway save about six cents an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always read the plan first: 50 resources to add, none to change or destroy. I audited it for cost traps: no NAT gateway, no Elastic IP, no KMS key, no log group. The apply took twelve minutes, almost all of it the EKS control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console views prove the infrastructure exists in the project's Sydney region: the VPC with two public subnets, and the EKS cluster in Active state with one node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Helm chart deploys everything. Two backend and two frontend pods, a Postgres StatefulSet with a persistent volume, ClusterIP services, one Ingress, and horizontal pod autoscalers. Every pod runs with a restricted security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live on EKS, reached through a single network load balancer. Traefik sends slash api to the backend and everything else to the frontend. Helm lists the three releases: the app, Traefik and the monitoring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generated load with a small fortio job against a database-backed endpoint. CPU rose far above the sixty percent target, and the autoscaler grew the backend from two pods to its maximum of five. It served nearly sixty thousand requests with zero errors. I rehearsed this on the local kind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metrics endpoint serves standard HTTP metrics from the instrumentator, plus three business metrics I added: bookings, double-booking conflicts, and status transitions.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Prometheus lists the backend pods as UP targets. On the right, the Grafana dashboard I provisioned from the Helm chart shows request rate, latency, error ratio, transitions, conflicts, replicas and CPU, running on the EKS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shows the system in operation: a real change reaching production, the troubleshooting lab, the cost discipline, and what went wrong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live-demo evidence. On the left, the running app shows build 10a6c28. I committed a one-line change to the board subtitle and pushed. After the pipeline ran, the right screenshot shows the new subtitle and the new build SHA in the footer.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push triggered all six jobs. They passed, including the Trivy scan and the Helm deploy. The whole run took about three and a half minutes from push to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terminal shows both backend and frontend pods running images tagged with the new commit SHA, and git rev-parse HEAD prints the same value. That chain, from commit to pod, is the traceability the SHA tags give me. Rolling back means deploying an earlier SHA.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three deliberately broken manifests. A bad image tag causes ImagePullBackOff. A Service selecting the wrong label has no endpoints. A wrong database host leaves a pod Running but never Ready. Each has a documented diagnosis and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treated cost as a requirement. A budget with six alerts watches the account. The AWS stack costs about twenty-six cents an hour and ran for a short window. I deleted the load balancer and volumes first, then ran terraform destroy, and verified with a script that checks every resource type in both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problems I hit. Grafana ran out of memory. A missing dependency only surfaced in Docker. A bash quirk on macOS broke my bootstrap script. The cloud policy blocked a Terraform flag during destroy. And a browser upgraded my URL to HTTPS. Each fix is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follows the course, but the domain, schema, API and UI are my own. I also fixed weaknesses I found in the reference: wide-open CORS, deprecated startup hooks, create_all next to Alembic, a root nginx image, a NAT gateway, an old Kubernetes version, plaintext passwords, and tag-pinned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each of the ten course modules to the concrete evidence in the repository and in these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what I would do next: HTTPS with a domain, managed RDS, GitHub OIDC on a paid plan, and alerting rules. Thank the instructor. The repository holds the code, the runbooks and every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200" dirty="0">
                <a:solidFill>
                  <a:schemeClr val="accent6"/>
                </a:solidFill>
              </a:rPr>
              <a:t>Waiting Room  ·  DevOps capstone</a:t>
            </a:r>
            <a:endParaRPr lang="en-US" sz="1200" dirty="0"/>
          </a:p>
        </p:txBody>
      </p:sp>
      <p:sp>
        <p:nvSpPr>
          <p:cNvPr id="3" name="Text 1"/>
          <p:cNvSpPr/>
          <p:nvPr>
            <p:ph idx="101" type="title" hasCustomPrompt="1"/>
          </p:nvPr>
        </p:nvSpPr>
        <p:spPr>
          <a:xfrm>
            <a:off x="548640" y="320040"/>
            <a:ext cx="11094415"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11064240" cy="118872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jp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jp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2.jp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jp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image" Target="../media/image-32-2.jp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jp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2.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text"/>
          <p:cNvSpPr txBox="1"/>
          <p:nvPr/>
        </p:nvSpPr>
        <p:spPr>
          <a:xfrm>
            <a:off x="548640" y="914400"/>
            <a:ext cx="10972800" cy="137160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WAITING ROOM</a:t>
            </a:r>
            <a:endParaRPr lang="en-US" sz="8000" dirty="0"/>
          </a:p>
        </p:txBody>
      </p:sp>
      <p:sp>
        <p:nvSpPr>
          <p:cNvPr id="3" name="subtitle"/>
          <p:cNvSpPr txBox="1"/>
          <p:nvPr/>
        </p:nvSpPr>
        <p:spPr>
          <a:xfrm>
            <a:off x="548640" y="2331720"/>
            <a:ext cx="9601200" cy="1097280"/>
          </a:xfrm>
          <a:prstGeom prst="rect">
            <a:avLst/>
          </a:prstGeom>
          <a:noFill/>
          <a:ln/>
        </p:spPr>
        <p:txBody>
          <a:bodyPr wrap="square" lIns="0" tIns="0" rIns="0" bIns="0" rtlCol="0" anchor="t"/>
          <a:lstStyle/>
          <a:p>
            <a:pPr indent="0" marL="0">
              <a:buNone/>
            </a:pPr>
            <a:r>
              <a:rPr lang="en-US" sz="3000" dirty="0">
                <a:solidFill>
                  <a:schemeClr val="bg2"/>
                </a:solidFill>
              </a:rPr>
              <a:t>A clinic appointment system, shipped through a complete DevOps pipeline</a:t>
            </a:r>
            <a:endParaRPr lang="en-US" sz="3000" dirty="0"/>
          </a:p>
        </p:txBody>
      </p:sp>
      <p:sp>
        <p:nvSpPr>
          <p:cNvPr id="4" name="box BOOKED"/>
          <p:cNvSpPr/>
          <p:nvPr/>
        </p:nvSpPr>
        <p:spPr>
          <a:xfrm>
            <a:off x="548640" y="3931920"/>
            <a:ext cx="2148840" cy="640080"/>
          </a:xfrm>
          <a:prstGeom prst="roundRect">
            <a:avLst>
              <a:gd name="adj" fmla="val 17143"/>
            </a:avLst>
          </a:prstGeom>
          <a:solidFill>
            <a:schemeClr val="accent1"/>
          </a:solidFill>
          <a:ln/>
        </p:spPr>
      </p:sp>
      <p:sp>
        <p:nvSpPr>
          <p:cNvPr id="5" name="label BOOKED"/>
          <p:cNvSpPr txBox="1"/>
          <p:nvPr/>
        </p:nvSpPr>
        <p:spPr>
          <a:xfrm>
            <a:off x="548640" y="3931920"/>
            <a:ext cx="2148840" cy="640080"/>
          </a:xfrm>
          <a:prstGeom prst="rect">
            <a:avLst/>
          </a:prstGeom>
          <a:noFill/>
          <a:ln/>
        </p:spPr>
        <p:txBody>
          <a:bodyPr wrap="square" lIns="762" tIns="762" rIns="762" bIns="762" rtlCol="0" anchor="ctr"/>
          <a:lstStyle/>
          <a:p>
            <a:pPr algn="ctr" indent="0" marL="0">
              <a:buNone/>
            </a:pPr>
            <a:r>
              <a:rPr lang="en-US" sz="1600" b="1" dirty="0">
                <a:solidFill>
                  <a:schemeClr val="bg1"/>
                </a:solidFill>
              </a:rPr>
              <a:t>BOOKED</a:t>
            </a:r>
            <a:endParaRPr lang="en-US" sz="1600" dirty="0"/>
          </a:p>
        </p:txBody>
      </p:sp>
      <p:sp>
        <p:nvSpPr>
          <p:cNvPr id="6" name="arrow"/>
          <p:cNvSpPr/>
          <p:nvPr/>
        </p:nvSpPr>
        <p:spPr>
          <a:xfrm>
            <a:off x="2743200" y="4251960"/>
            <a:ext cx="256032" cy="0"/>
          </a:xfrm>
          <a:prstGeom prst="line">
            <a:avLst/>
          </a:prstGeom>
          <a:noFill/>
          <a:ln w="31750">
            <a:solidFill>
              <a:schemeClr val="bg2"/>
            </a:solidFill>
            <a:prstDash val="solid"/>
            <a:tailEnd type="triangle"/>
          </a:ln>
        </p:spPr>
      </p:sp>
      <p:sp>
        <p:nvSpPr>
          <p:cNvPr id="7" name="box CHECKED IN"/>
          <p:cNvSpPr/>
          <p:nvPr/>
        </p:nvSpPr>
        <p:spPr>
          <a:xfrm>
            <a:off x="3044952" y="3931920"/>
            <a:ext cx="2148840" cy="640080"/>
          </a:xfrm>
          <a:prstGeom prst="roundRect">
            <a:avLst>
              <a:gd name="adj" fmla="val 17143"/>
            </a:avLst>
          </a:prstGeom>
          <a:solidFill>
            <a:schemeClr val="accent2"/>
          </a:solidFill>
          <a:ln/>
        </p:spPr>
      </p:sp>
      <p:sp>
        <p:nvSpPr>
          <p:cNvPr id="8" name="label CHECKED IN"/>
          <p:cNvSpPr txBox="1"/>
          <p:nvPr/>
        </p:nvSpPr>
        <p:spPr>
          <a:xfrm>
            <a:off x="3044952" y="3931920"/>
            <a:ext cx="2148840" cy="640080"/>
          </a:xfrm>
          <a:prstGeom prst="rect">
            <a:avLst/>
          </a:prstGeom>
          <a:noFill/>
          <a:ln/>
        </p:spPr>
        <p:txBody>
          <a:bodyPr wrap="square" lIns="762" tIns="762" rIns="762" bIns="762" rtlCol="0" anchor="ctr"/>
          <a:lstStyle/>
          <a:p>
            <a:pPr algn="ctr" indent="0" marL="0">
              <a:buNone/>
            </a:pPr>
            <a:r>
              <a:rPr lang="en-US" sz="1600" b="1" dirty="0">
                <a:solidFill>
                  <a:schemeClr val="tx1"/>
                </a:solidFill>
              </a:rPr>
              <a:t>CHECKED IN</a:t>
            </a:r>
            <a:endParaRPr lang="en-US" sz="1600" dirty="0"/>
          </a:p>
        </p:txBody>
      </p:sp>
      <p:sp>
        <p:nvSpPr>
          <p:cNvPr id="9" name="arrow"/>
          <p:cNvSpPr/>
          <p:nvPr/>
        </p:nvSpPr>
        <p:spPr>
          <a:xfrm>
            <a:off x="5239512" y="4251960"/>
            <a:ext cx="256032" cy="0"/>
          </a:xfrm>
          <a:prstGeom prst="line">
            <a:avLst/>
          </a:prstGeom>
          <a:noFill/>
          <a:ln w="31750">
            <a:solidFill>
              <a:schemeClr val="bg2"/>
            </a:solidFill>
            <a:prstDash val="solid"/>
            <a:tailEnd type="triangle"/>
          </a:ln>
        </p:spPr>
      </p:sp>
      <p:sp>
        <p:nvSpPr>
          <p:cNvPr id="10" name="box IN CONSULTATION"/>
          <p:cNvSpPr/>
          <p:nvPr/>
        </p:nvSpPr>
        <p:spPr>
          <a:xfrm>
            <a:off x="5541264" y="3931920"/>
            <a:ext cx="2880360" cy="640080"/>
          </a:xfrm>
          <a:prstGeom prst="roundRect">
            <a:avLst>
              <a:gd name="adj" fmla="val 17143"/>
            </a:avLst>
          </a:prstGeom>
          <a:solidFill>
            <a:schemeClr val="accent3"/>
          </a:solidFill>
          <a:ln/>
        </p:spPr>
      </p:sp>
      <p:sp>
        <p:nvSpPr>
          <p:cNvPr id="11" name="label IN CONSULTATION"/>
          <p:cNvSpPr txBox="1"/>
          <p:nvPr/>
        </p:nvSpPr>
        <p:spPr>
          <a:xfrm>
            <a:off x="5541264" y="3931920"/>
            <a:ext cx="2880360" cy="640080"/>
          </a:xfrm>
          <a:prstGeom prst="rect">
            <a:avLst/>
          </a:prstGeom>
          <a:noFill/>
          <a:ln/>
        </p:spPr>
        <p:txBody>
          <a:bodyPr wrap="square" lIns="762" tIns="762" rIns="762" bIns="762" rtlCol="0" anchor="ctr"/>
          <a:lstStyle/>
          <a:p>
            <a:pPr algn="ctr" indent="0" marL="0">
              <a:buNone/>
            </a:pPr>
            <a:r>
              <a:rPr lang="en-US" sz="1600" b="1" dirty="0">
                <a:solidFill>
                  <a:schemeClr val="bg1"/>
                </a:solidFill>
              </a:rPr>
              <a:t>IN CONSULTATION</a:t>
            </a:r>
            <a:endParaRPr lang="en-US" sz="1600" dirty="0"/>
          </a:p>
        </p:txBody>
      </p:sp>
      <p:sp>
        <p:nvSpPr>
          <p:cNvPr id="12" name="arrow"/>
          <p:cNvSpPr/>
          <p:nvPr/>
        </p:nvSpPr>
        <p:spPr>
          <a:xfrm>
            <a:off x="8467344" y="4251960"/>
            <a:ext cx="256032" cy="0"/>
          </a:xfrm>
          <a:prstGeom prst="line">
            <a:avLst/>
          </a:prstGeom>
          <a:noFill/>
          <a:ln w="31750">
            <a:solidFill>
              <a:schemeClr val="bg2"/>
            </a:solidFill>
            <a:prstDash val="solid"/>
            <a:tailEnd type="triangle"/>
          </a:ln>
        </p:spPr>
      </p:sp>
      <p:sp>
        <p:nvSpPr>
          <p:cNvPr id="13" name="box DONE"/>
          <p:cNvSpPr/>
          <p:nvPr/>
        </p:nvSpPr>
        <p:spPr>
          <a:xfrm>
            <a:off x="8769096" y="3931920"/>
            <a:ext cx="2148840" cy="640080"/>
          </a:xfrm>
          <a:prstGeom prst="roundRect">
            <a:avLst>
              <a:gd name="adj" fmla="val 17143"/>
            </a:avLst>
          </a:prstGeom>
          <a:solidFill>
            <a:schemeClr val="accent4"/>
          </a:solidFill>
          <a:ln/>
        </p:spPr>
      </p:sp>
      <p:sp>
        <p:nvSpPr>
          <p:cNvPr id="14" name="label DONE"/>
          <p:cNvSpPr txBox="1"/>
          <p:nvPr/>
        </p:nvSpPr>
        <p:spPr>
          <a:xfrm>
            <a:off x="8769096" y="3931920"/>
            <a:ext cx="2148840" cy="640080"/>
          </a:xfrm>
          <a:prstGeom prst="rect">
            <a:avLst/>
          </a:prstGeom>
          <a:noFill/>
          <a:ln/>
        </p:spPr>
        <p:txBody>
          <a:bodyPr wrap="square" lIns="762" tIns="762" rIns="762" bIns="762" rtlCol="0" anchor="ctr"/>
          <a:lstStyle/>
          <a:p>
            <a:pPr algn="ctr" indent="0" marL="0">
              <a:buNone/>
            </a:pPr>
            <a:r>
              <a:rPr lang="en-US" sz="1600" b="1" dirty="0">
                <a:solidFill>
                  <a:schemeClr val="bg1"/>
                </a:solidFill>
              </a:rPr>
              <a:t>DONE</a:t>
            </a:r>
            <a:endParaRPr lang="en-US" sz="1600" dirty="0"/>
          </a:p>
        </p:txBody>
      </p:sp>
      <p:sp>
        <p:nvSpPr>
          <p:cNvPr id="15" name="author"/>
          <p:cNvSpPr txBox="1"/>
          <p:nvPr/>
        </p:nvSpPr>
        <p:spPr>
          <a:xfrm>
            <a:off x="548640" y="5257800"/>
            <a:ext cx="7315200" cy="457200"/>
          </a:xfrm>
          <a:prstGeom prst="rect">
            <a:avLst/>
          </a:prstGeom>
          <a:noFill/>
          <a:ln/>
        </p:spPr>
        <p:txBody>
          <a:bodyPr wrap="square" lIns="0" tIns="0" rIns="0" bIns="0" rtlCol="0" anchor="ctr"/>
          <a:lstStyle/>
          <a:p>
            <a:pPr indent="0" marL="0">
              <a:buNone/>
            </a:pPr>
            <a:r>
              <a:rPr lang="en-US" sz="2600" b="1" dirty="0">
                <a:solidFill>
                  <a:schemeClr val="bg1"/>
                </a:solidFill>
              </a:rPr>
              <a:t>Mrinmay Dev Sarma</a:t>
            </a:r>
            <a:endParaRPr lang="en-US" sz="2600" dirty="0"/>
          </a:p>
        </p:txBody>
      </p:sp>
      <p:sp>
        <p:nvSpPr>
          <p:cNvPr id="16" name="course"/>
          <p:cNvSpPr txBox="1"/>
          <p:nvPr/>
        </p:nvSpPr>
        <p:spPr>
          <a:xfrm>
            <a:off x="548640" y="5760720"/>
            <a:ext cx="7315200" cy="365760"/>
          </a:xfrm>
          <a:prstGeom prst="rect">
            <a:avLst/>
          </a:prstGeom>
          <a:noFill/>
          <a:ln/>
        </p:spPr>
        <p:txBody>
          <a:bodyPr wrap="square" lIns="0" tIns="0" rIns="0" bIns="0" rtlCol="0" anchor="ctr"/>
          <a:lstStyle/>
          <a:p>
            <a:pPr indent="0" marL="0">
              <a:buNone/>
            </a:pPr>
            <a:r>
              <a:rPr lang="en-US" sz="1800" dirty="0">
                <a:solidFill>
                  <a:schemeClr val="bg2"/>
                </a:solidFill>
              </a:rPr>
              <a:t>DevOps  ·  Instructor: Nensi Ravaliya</a:t>
            </a:r>
            <a:endParaRPr lang="en-US" sz="1800" dirty="0"/>
          </a:p>
        </p:txBody>
      </p:sp>
      <p:sp>
        <p:nvSpPr>
          <p:cNvPr id="18" name="Text 0"/>
          <p:cNvSpPr/>
          <p:nvPr>
            <p:ph idx="100" type="title" hasCustomPrompt="1"/>
          </p:nvPr>
        </p:nvSpPr>
        <p:spPr>
          <a:xfrm>
            <a:off x="548640" y="2331720"/>
            <a:ext cx="11064240" cy="1188720"/>
          </a:xfrm>
          <a:prstGeom prst="rect">
            <a:avLst/>
          </a:prstGeom>
          <a:noFill/>
          <a:ln/>
        </p:spPr>
        <p:txBody>
          <a:bodyPr wrap="square" lIns="0" tIns="0" rIns="0" bIns="0" rtlCol="0" anchor="ctr"/>
          <a:lstStyle/>
          <a:p>
            <a:pPr algn="l" indent="0" marL="0">
              <a:buNone/>
            </a:pPr>
            <a:endParaRPr lang="en-US" sz="5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One desk. One live queue. Zero double bookings</a:t>
            </a:r>
            <a:endParaRPr lang="en-US" sz="3400" dirty="0"/>
          </a:p>
        </p:txBody>
      </p:sp>
      <p:sp>
        <p:nvSpPr>
          <p:cNvPr id="4" name="bullets"/>
          <p:cNvSpPr txBox="1"/>
          <p:nvPr/>
        </p:nvSpPr>
        <p:spPr>
          <a:xfrm>
            <a:off x="548640" y="1554480"/>
            <a:ext cx="4846320" cy="4389120"/>
          </a:xfrm>
          <a:prstGeom prst="rect">
            <a:avLst/>
          </a:prstGeom>
          <a:noFill/>
          <a:ln/>
        </p:spPr>
        <p:txBody>
          <a:bodyPr wrap="square" lIns="0" tIns="0" rIns="0" bIns="0" rtlCol="0" anchor="t"/>
          <a:lstStyle/>
          <a:p>
            <a:pPr marL="228600" indent="-228600">
              <a:spcAft>
                <a:spcPts val="1200"/>
              </a:spcAft>
              <a:buSzPct val="100000"/>
              <a:buChar char="•"/>
            </a:pPr>
            <a:r>
              <a:rPr lang="en-US" sz="2200" b="1" dirty="0">
                <a:solidFill>
                  <a:schemeClr val="tx1"/>
                </a:solidFill>
              </a:rPr>
              <a:t>Books </a:t>
            </a:r>
            <a:pPr indent="0" marL="0">
              <a:spcAft>
                <a:spcPts val="1200"/>
              </a:spcAft>
              <a:buNone/>
            </a:pPr>
            <a:r>
              <a:rPr lang="en-US" sz="2200" dirty="0">
                <a:solidFill>
                  <a:schemeClr val="tx1"/>
                </a:solidFill>
              </a:rPr>
              <a:t>appointments by doctor and time slot</a:t>
            </a:r>
            <a:endParaRPr lang="en-US" sz="2200" dirty="0"/>
          </a:p>
          <a:p>
            <a:pPr marL="228600" indent="-228600">
              <a:spcAft>
                <a:spcPts val="1200"/>
              </a:spcAft>
              <a:buSzPct val="100000"/>
              <a:buChar char="•"/>
            </a:pPr>
            <a:r>
              <a:rPr lang="en-US" sz="2200" b="1" dirty="0">
                <a:solidFill>
                  <a:schemeClr val="tx1"/>
                </a:solidFill>
              </a:rPr>
              <a:t>Checks in </a:t>
            </a:r>
            <a:pPr indent="0" marL="0">
              <a:spcAft>
                <a:spcPts val="1200"/>
              </a:spcAft>
              <a:buNone/>
            </a:pPr>
            <a:r>
              <a:rPr lang="en-US" sz="2200" dirty="0">
                <a:solidFill>
                  <a:schemeClr val="tx1"/>
                </a:solidFill>
              </a:rPr>
              <a:t>patients the moment they arrive</a:t>
            </a:r>
            <a:endParaRPr lang="en-US" sz="2200" dirty="0"/>
          </a:p>
          <a:p>
            <a:pPr marL="228600" indent="-228600">
              <a:spcAft>
                <a:spcPts val="1200"/>
              </a:spcAft>
              <a:buSzPct val="100000"/>
              <a:buChar char="•"/>
            </a:pPr>
            <a:r>
              <a:rPr lang="en-US" sz="2200" b="1" dirty="0">
                <a:solidFill>
                  <a:schemeClr val="tx1"/>
                </a:solidFill>
              </a:rPr>
              <a:t>Shows </a:t>
            </a:r>
            <a:pPr indent="0" marL="0">
              <a:spcAft>
                <a:spcPts val="1200"/>
              </a:spcAft>
              <a:buNone/>
            </a:pPr>
            <a:r>
              <a:rPr lang="en-US" sz="2200" dirty="0">
                <a:solidFill>
                  <a:schemeClr val="tx1"/>
                </a:solidFill>
              </a:rPr>
              <a:t>who waits, who sees a doctor, and for how long</a:t>
            </a:r>
            <a:endParaRPr lang="en-US" sz="2200" dirty="0"/>
          </a:p>
          <a:p>
            <a:pPr marL="228600" indent="-228600">
              <a:spcAft>
                <a:spcPts val="1200"/>
              </a:spcAft>
              <a:buSzPct val="100000"/>
              <a:buChar char="•"/>
            </a:pPr>
            <a:r>
              <a:rPr lang="en-US" sz="2200" b="1" dirty="0">
                <a:solidFill>
                  <a:schemeClr val="tx1"/>
                </a:solidFill>
              </a:rPr>
              <a:t>Blocks </a:t>
            </a:r>
            <a:pPr indent="0" marL="0">
              <a:spcAft>
                <a:spcPts val="1200"/>
              </a:spcAft>
              <a:buNone/>
            </a:pPr>
            <a:r>
              <a:rPr lang="en-US" sz="2200" dirty="0">
                <a:solidFill>
                  <a:schemeClr val="tx1"/>
                </a:solidFill>
              </a:rPr>
              <a:t>double bookings inside the database</a:t>
            </a:r>
            <a:endParaRPr lang="en-US" sz="2200" dirty="0"/>
          </a:p>
        </p:txBody>
      </p:sp>
      <p:sp>
        <p:nvSpPr>
          <p:cNvPr id="5" name="frame m1-board"/>
          <p:cNvSpPr/>
          <p:nvPr/>
        </p:nvSpPr>
        <p:spPr>
          <a:xfrm>
            <a:off x="5705856" y="1684287"/>
            <a:ext cx="6007608" cy="3946627"/>
          </a:xfrm>
          <a:prstGeom prst="roundRect">
            <a:avLst>
              <a:gd name="adj" fmla="val 1390"/>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6" name="m1-board" descr="m1-board">    </p:cNvPr>
          <p:cNvPicPr>
            <a:picLocks noChangeAspect="1"/>
          </p:cNvPicPr>
          <p:nvPr/>
        </p:nvPicPr>
        <p:blipFill>
          <a:blip r:embed="rId1"/>
          <a:stretch>
            <a:fillRect/>
          </a:stretch>
        </p:blipFill>
        <p:spPr>
          <a:xfrm>
            <a:off x="5760720" y="1739151"/>
            <a:ext cx="5897880" cy="3836899"/>
          </a:xfrm>
          <a:prstGeom prst="rect">
            <a:avLst/>
          </a:prstGeom>
        </p:spPr>
      </p:pic>
      <p:sp>
        <p:nvSpPr>
          <p:cNvPr id="7" name="caption"/>
          <p:cNvSpPr txBox="1"/>
          <p:nvPr/>
        </p:nvSpPr>
        <p:spPr>
          <a:xfrm>
            <a:off x="5705856" y="5704065"/>
            <a:ext cx="6007608" cy="365760"/>
          </a:xfrm>
          <a:prstGeom prst="rect">
            <a:avLst/>
          </a:prstGeom>
          <a:noFill/>
          <a:ln/>
        </p:spPr>
        <p:txBody>
          <a:bodyPr wrap="square" lIns="0" tIns="0" rIns="0" bIns="0" rtlCol="0" anchor="ctr"/>
          <a:lstStyle/>
          <a:p>
            <a:pPr algn="ctr" indent="0" marL="0">
              <a:buNone/>
            </a:pPr>
            <a:r>
              <a:rPr lang="en-US" sz="1400" dirty="0">
                <a:solidFill>
                  <a:schemeClr val="accent6"/>
                </a:solidFill>
              </a:rPr>
              <a:t>The live queue board</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The project in numbers</a:t>
            </a:r>
            <a:endParaRPr lang="en-US" sz="3400" dirty="0"/>
          </a:p>
        </p:txBody>
      </p:sp>
      <p:sp>
        <p:nvSpPr>
          <p:cNvPr id="4" name="card"/>
          <p:cNvSpPr/>
          <p:nvPr/>
        </p:nvSpPr>
        <p:spPr>
          <a:xfrm>
            <a:off x="548640" y="1554480"/>
            <a:ext cx="3520440" cy="2148840"/>
          </a:xfrm>
          <a:prstGeom prst="roundRect">
            <a:avLst>
              <a:gd name="adj" fmla="val 5957"/>
            </a:avLst>
          </a:prstGeom>
          <a:solidFill>
            <a:schemeClr val="bg2"/>
          </a:solidFill>
          <a:ln/>
        </p:spPr>
      </p:sp>
      <p:sp>
        <p:nvSpPr>
          <p:cNvPr id="5" name="stat REST endpoints, plus health, ready and metrics"/>
          <p:cNvSpPr txBox="1"/>
          <p:nvPr/>
        </p:nvSpPr>
        <p:spPr>
          <a:xfrm>
            <a:off x="822960" y="1691640"/>
            <a:ext cx="3017520" cy="868680"/>
          </a:xfrm>
          <a:prstGeom prst="rect">
            <a:avLst/>
          </a:prstGeom>
          <a:noFill/>
          <a:ln/>
        </p:spPr>
        <p:txBody>
          <a:bodyPr wrap="square" lIns="0" tIns="0" rIns="0" bIns="0" rtlCol="0" anchor="b"/>
          <a:lstStyle/>
          <a:p>
            <a:pPr indent="0" marL="0">
              <a:buNone/>
            </a:pPr>
            <a:r>
              <a:rPr lang="en-US" sz="6000" b="1" dirty="0">
                <a:solidFill>
                  <a:schemeClr val="accent1"/>
                </a:solidFill>
                <a:latin typeface="Arial" pitchFamily="34" charset="0"/>
                <a:ea typeface="Arial" pitchFamily="34" charset="-122"/>
                <a:cs typeface="Arial" pitchFamily="34" charset="-120"/>
              </a:rPr>
              <a:t>16</a:t>
            </a:r>
            <a:endParaRPr lang="en-US" sz="6000" dirty="0"/>
          </a:p>
        </p:txBody>
      </p:sp>
      <p:sp>
        <p:nvSpPr>
          <p:cNvPr id="6" name="stat label"/>
          <p:cNvSpPr txBox="1"/>
          <p:nvPr/>
        </p:nvSpPr>
        <p:spPr>
          <a:xfrm>
            <a:off x="822960" y="2578608"/>
            <a:ext cx="3017520" cy="640080"/>
          </a:xfrm>
          <a:prstGeom prst="rect">
            <a:avLst/>
          </a:prstGeom>
          <a:noFill/>
          <a:ln/>
        </p:spPr>
        <p:txBody>
          <a:bodyPr wrap="square" lIns="0" tIns="0" rIns="0" bIns="0" rtlCol="0" anchor="t"/>
          <a:lstStyle/>
          <a:p>
            <a:pPr indent="0" marL="0">
              <a:buNone/>
            </a:pPr>
            <a:r>
              <a:rPr lang="en-US" sz="1800" dirty="0">
                <a:solidFill>
                  <a:schemeClr val="accent6"/>
                </a:solidFill>
              </a:rPr>
              <a:t>REST endpoints, plus health, ready and metrics</a:t>
            </a:r>
            <a:endParaRPr lang="en-US" sz="1800" dirty="0"/>
          </a:p>
        </p:txBody>
      </p:sp>
      <p:sp>
        <p:nvSpPr>
          <p:cNvPr id="7" name="card"/>
          <p:cNvSpPr/>
          <p:nvPr/>
        </p:nvSpPr>
        <p:spPr>
          <a:xfrm>
            <a:off x="4297680" y="1554480"/>
            <a:ext cx="3520440" cy="2148840"/>
          </a:xfrm>
          <a:prstGeom prst="roundRect">
            <a:avLst>
              <a:gd name="adj" fmla="val 5957"/>
            </a:avLst>
          </a:prstGeom>
          <a:solidFill>
            <a:schemeClr val="bg2"/>
          </a:solidFill>
          <a:ln/>
        </p:spPr>
      </p:sp>
      <p:sp>
        <p:nvSpPr>
          <p:cNvPr id="8" name="stat tests pass at 97% coverage"/>
          <p:cNvSpPr txBox="1"/>
          <p:nvPr/>
        </p:nvSpPr>
        <p:spPr>
          <a:xfrm>
            <a:off x="4572000" y="1691640"/>
            <a:ext cx="3017520" cy="868680"/>
          </a:xfrm>
          <a:prstGeom prst="rect">
            <a:avLst/>
          </a:prstGeom>
          <a:noFill/>
          <a:ln/>
        </p:spPr>
        <p:txBody>
          <a:bodyPr wrap="square" lIns="0" tIns="0" rIns="0" bIns="0" rtlCol="0" anchor="b"/>
          <a:lstStyle/>
          <a:p>
            <a:pPr indent="0" marL="0">
              <a:buNone/>
            </a:pPr>
            <a:r>
              <a:rPr lang="en-US" sz="6000" b="1" dirty="0">
                <a:solidFill>
                  <a:schemeClr val="accent4"/>
                </a:solidFill>
                <a:latin typeface="Arial" pitchFamily="34" charset="0"/>
                <a:ea typeface="Arial" pitchFamily="34" charset="-122"/>
                <a:cs typeface="Arial" pitchFamily="34" charset="-120"/>
              </a:rPr>
              <a:t>36</a:t>
            </a:r>
            <a:endParaRPr lang="en-US" sz="6000" dirty="0"/>
          </a:p>
        </p:txBody>
      </p:sp>
      <p:sp>
        <p:nvSpPr>
          <p:cNvPr id="9" name="stat label"/>
          <p:cNvSpPr txBox="1"/>
          <p:nvPr/>
        </p:nvSpPr>
        <p:spPr>
          <a:xfrm>
            <a:off x="4572000" y="2578608"/>
            <a:ext cx="3017520" cy="640080"/>
          </a:xfrm>
          <a:prstGeom prst="rect">
            <a:avLst/>
          </a:prstGeom>
          <a:noFill/>
          <a:ln/>
        </p:spPr>
        <p:txBody>
          <a:bodyPr wrap="square" lIns="0" tIns="0" rIns="0" bIns="0" rtlCol="0" anchor="t"/>
          <a:lstStyle/>
          <a:p>
            <a:pPr indent="0" marL="0">
              <a:buNone/>
            </a:pPr>
            <a:r>
              <a:rPr lang="en-US" sz="1800" dirty="0">
                <a:solidFill>
                  <a:schemeClr val="accent6"/>
                </a:solidFill>
              </a:rPr>
              <a:t>tests pass at 97% coverage</a:t>
            </a:r>
            <a:endParaRPr lang="en-US" sz="1800" dirty="0"/>
          </a:p>
        </p:txBody>
      </p:sp>
      <p:sp>
        <p:nvSpPr>
          <p:cNvPr id="10" name="card"/>
          <p:cNvSpPr/>
          <p:nvPr/>
        </p:nvSpPr>
        <p:spPr>
          <a:xfrm>
            <a:off x="8046720" y="1554480"/>
            <a:ext cx="3520440" cy="2148840"/>
          </a:xfrm>
          <a:prstGeom prst="roundRect">
            <a:avLst>
              <a:gd name="adj" fmla="val 5957"/>
            </a:avLst>
          </a:prstGeom>
          <a:solidFill>
            <a:schemeClr val="bg2"/>
          </a:solidFill>
          <a:ln/>
        </p:spPr>
      </p:sp>
      <p:sp>
        <p:nvSpPr>
          <p:cNvPr id="11" name="stat CI/CD jobs run on every push"/>
          <p:cNvSpPr txBox="1"/>
          <p:nvPr/>
        </p:nvSpPr>
        <p:spPr>
          <a:xfrm>
            <a:off x="8321040" y="1691640"/>
            <a:ext cx="3017520" cy="868680"/>
          </a:xfrm>
          <a:prstGeom prst="rect">
            <a:avLst/>
          </a:prstGeom>
          <a:noFill/>
          <a:ln/>
        </p:spPr>
        <p:txBody>
          <a:bodyPr wrap="square" lIns="0" tIns="0" rIns="0" bIns="0" rtlCol="0" anchor="b"/>
          <a:lstStyle/>
          <a:p>
            <a:pPr indent="0" marL="0">
              <a:buNone/>
            </a:pPr>
            <a:r>
              <a:rPr lang="en-US" sz="6000" b="1" dirty="0">
                <a:solidFill>
                  <a:schemeClr val="accent3"/>
                </a:solidFill>
                <a:latin typeface="Arial" pitchFamily="34" charset="0"/>
                <a:ea typeface="Arial" pitchFamily="34" charset="-122"/>
                <a:cs typeface="Arial" pitchFamily="34" charset="-120"/>
              </a:rPr>
              <a:t>6</a:t>
            </a:r>
            <a:endParaRPr lang="en-US" sz="6000" dirty="0"/>
          </a:p>
        </p:txBody>
      </p:sp>
      <p:sp>
        <p:nvSpPr>
          <p:cNvPr id="12" name="stat label"/>
          <p:cNvSpPr txBox="1"/>
          <p:nvPr/>
        </p:nvSpPr>
        <p:spPr>
          <a:xfrm>
            <a:off x="8321040" y="2578608"/>
            <a:ext cx="3017520" cy="640080"/>
          </a:xfrm>
          <a:prstGeom prst="rect">
            <a:avLst/>
          </a:prstGeom>
          <a:noFill/>
          <a:ln/>
        </p:spPr>
        <p:txBody>
          <a:bodyPr wrap="square" lIns="0" tIns="0" rIns="0" bIns="0" rtlCol="0" anchor="t"/>
          <a:lstStyle/>
          <a:p>
            <a:pPr indent="0" marL="0">
              <a:buNone/>
            </a:pPr>
            <a:r>
              <a:rPr lang="en-US" sz="1800" dirty="0">
                <a:solidFill>
                  <a:schemeClr val="accent6"/>
                </a:solidFill>
              </a:rPr>
              <a:t>CI/CD jobs run on every push</a:t>
            </a:r>
            <a:endParaRPr lang="en-US" sz="1800" dirty="0"/>
          </a:p>
        </p:txBody>
      </p:sp>
      <p:sp>
        <p:nvSpPr>
          <p:cNvPr id="13" name="card"/>
          <p:cNvSpPr/>
          <p:nvPr/>
        </p:nvSpPr>
        <p:spPr>
          <a:xfrm>
            <a:off x="548640" y="3931920"/>
            <a:ext cx="3520440" cy="2148840"/>
          </a:xfrm>
          <a:prstGeom prst="roundRect">
            <a:avLst>
              <a:gd name="adj" fmla="val 5957"/>
            </a:avLst>
          </a:prstGeom>
          <a:solidFill>
            <a:schemeClr val="bg2"/>
          </a:solidFill>
          <a:ln/>
        </p:spPr>
      </p:sp>
      <p:sp>
        <p:nvSpPr>
          <p:cNvPr id="14" name="stat AWS resources: created and destroyed by Terraform"/>
          <p:cNvSpPr txBox="1"/>
          <p:nvPr/>
        </p:nvSpPr>
        <p:spPr>
          <a:xfrm>
            <a:off x="822960" y="4069080"/>
            <a:ext cx="3017520" cy="868680"/>
          </a:xfrm>
          <a:prstGeom prst="rect">
            <a:avLst/>
          </a:prstGeom>
          <a:noFill/>
          <a:ln/>
        </p:spPr>
        <p:txBody>
          <a:bodyPr wrap="square" lIns="0" tIns="0" rIns="0" bIns="0" rtlCol="0" anchor="b"/>
          <a:lstStyle/>
          <a:p>
            <a:pPr indent="0" marL="0">
              <a:buNone/>
            </a:pPr>
            <a:r>
              <a:rPr lang="en-US" sz="6000" b="1" dirty="0">
                <a:solidFill>
                  <a:schemeClr val="accent2"/>
                </a:solidFill>
                <a:latin typeface="Arial" pitchFamily="34" charset="0"/>
                <a:ea typeface="Arial" pitchFamily="34" charset="-122"/>
                <a:cs typeface="Arial" pitchFamily="34" charset="-120"/>
              </a:rPr>
              <a:t>50</a:t>
            </a:r>
            <a:endParaRPr lang="en-US" sz="6000" dirty="0"/>
          </a:p>
        </p:txBody>
      </p:sp>
      <p:sp>
        <p:nvSpPr>
          <p:cNvPr id="15" name="stat label"/>
          <p:cNvSpPr txBox="1"/>
          <p:nvPr/>
        </p:nvSpPr>
        <p:spPr>
          <a:xfrm>
            <a:off x="822960" y="4956048"/>
            <a:ext cx="3017520" cy="640080"/>
          </a:xfrm>
          <a:prstGeom prst="rect">
            <a:avLst/>
          </a:prstGeom>
          <a:noFill/>
          <a:ln/>
        </p:spPr>
        <p:txBody>
          <a:bodyPr wrap="square" lIns="0" tIns="0" rIns="0" bIns="0" rtlCol="0" anchor="t"/>
          <a:lstStyle/>
          <a:p>
            <a:pPr indent="0" marL="0">
              <a:buNone/>
            </a:pPr>
            <a:r>
              <a:rPr lang="en-US" sz="1800" dirty="0">
                <a:solidFill>
                  <a:schemeClr val="accent6"/>
                </a:solidFill>
              </a:rPr>
              <a:t>AWS resources: created and destroyed by Terraform</a:t>
            </a:r>
            <a:endParaRPr lang="en-US" sz="1800" dirty="0"/>
          </a:p>
        </p:txBody>
      </p:sp>
      <p:sp>
        <p:nvSpPr>
          <p:cNvPr id="16" name="card"/>
          <p:cNvSpPr/>
          <p:nvPr/>
        </p:nvSpPr>
        <p:spPr>
          <a:xfrm>
            <a:off x="4297680" y="3931920"/>
            <a:ext cx="3520440" cy="2148840"/>
          </a:xfrm>
          <a:prstGeom prst="roundRect">
            <a:avLst>
              <a:gd name="adj" fmla="val 5957"/>
            </a:avLst>
          </a:prstGeom>
          <a:solidFill>
            <a:schemeClr val="bg2"/>
          </a:solidFill>
          <a:ln/>
        </p:spPr>
      </p:sp>
      <p:sp>
        <p:nvSpPr>
          <p:cNvPr id="17" name="stat per hour for the whole AWS stack"/>
          <p:cNvSpPr txBox="1"/>
          <p:nvPr/>
        </p:nvSpPr>
        <p:spPr>
          <a:xfrm>
            <a:off x="4572000" y="4069080"/>
            <a:ext cx="3017520" cy="868680"/>
          </a:xfrm>
          <a:prstGeom prst="rect">
            <a:avLst/>
          </a:prstGeom>
          <a:noFill/>
          <a:ln/>
        </p:spPr>
        <p:txBody>
          <a:bodyPr wrap="square" lIns="0" tIns="0" rIns="0" bIns="0" rtlCol="0" anchor="b"/>
          <a:lstStyle/>
          <a:p>
            <a:pPr indent="0" marL="0">
              <a:buNone/>
            </a:pPr>
            <a:r>
              <a:rPr lang="en-US" sz="6000" b="1" dirty="0">
                <a:solidFill>
                  <a:schemeClr val="accent1"/>
                </a:solidFill>
                <a:latin typeface="Arial" pitchFamily="34" charset="0"/>
                <a:ea typeface="Arial" pitchFamily="34" charset="-122"/>
                <a:cs typeface="Arial" pitchFamily="34" charset="-120"/>
              </a:rPr>
              <a:t>$0.26</a:t>
            </a:r>
            <a:endParaRPr lang="en-US" sz="6000" dirty="0"/>
          </a:p>
        </p:txBody>
      </p:sp>
      <p:sp>
        <p:nvSpPr>
          <p:cNvPr id="18" name="stat label"/>
          <p:cNvSpPr txBox="1"/>
          <p:nvPr/>
        </p:nvSpPr>
        <p:spPr>
          <a:xfrm>
            <a:off x="4572000" y="4956048"/>
            <a:ext cx="3017520" cy="640080"/>
          </a:xfrm>
          <a:prstGeom prst="rect">
            <a:avLst/>
          </a:prstGeom>
          <a:noFill/>
          <a:ln/>
        </p:spPr>
        <p:txBody>
          <a:bodyPr wrap="square" lIns="0" tIns="0" rIns="0" bIns="0" rtlCol="0" anchor="t"/>
          <a:lstStyle/>
          <a:p>
            <a:pPr indent="0" marL="0">
              <a:buNone/>
            </a:pPr>
            <a:r>
              <a:rPr lang="en-US" sz="1800" dirty="0">
                <a:solidFill>
                  <a:schemeClr val="accent6"/>
                </a:solidFill>
              </a:rPr>
              <a:t>per hour for the whole AWS stack</a:t>
            </a:r>
            <a:endParaRPr lang="en-US" sz="1800" dirty="0"/>
          </a:p>
        </p:txBody>
      </p:sp>
      <p:sp>
        <p:nvSpPr>
          <p:cNvPr id="19" name="card"/>
          <p:cNvSpPr/>
          <p:nvPr/>
        </p:nvSpPr>
        <p:spPr>
          <a:xfrm>
            <a:off x="8046720" y="3931920"/>
            <a:ext cx="3520440" cy="2148840"/>
          </a:xfrm>
          <a:prstGeom prst="roundRect">
            <a:avLst>
              <a:gd name="adj" fmla="val 5957"/>
            </a:avLst>
          </a:prstGeom>
          <a:solidFill>
            <a:schemeClr val="bg2"/>
          </a:solidFill>
          <a:ln/>
        </p:spPr>
      </p:sp>
      <p:sp>
        <p:nvSpPr>
          <p:cNvPr id="20" name="stat secrets committed to Git"/>
          <p:cNvSpPr txBox="1"/>
          <p:nvPr/>
        </p:nvSpPr>
        <p:spPr>
          <a:xfrm>
            <a:off x="8321040" y="4069080"/>
            <a:ext cx="3017520" cy="868680"/>
          </a:xfrm>
          <a:prstGeom prst="rect">
            <a:avLst/>
          </a:prstGeom>
          <a:noFill/>
          <a:ln/>
        </p:spPr>
        <p:txBody>
          <a:bodyPr wrap="square" lIns="0" tIns="0" rIns="0" bIns="0" rtlCol="0" anchor="b"/>
          <a:lstStyle/>
          <a:p>
            <a:pPr indent="0" marL="0">
              <a:buNone/>
            </a:pPr>
            <a:r>
              <a:rPr lang="en-US" sz="6000" b="1" dirty="0">
                <a:solidFill>
                  <a:schemeClr val="accent5"/>
                </a:solidFill>
                <a:latin typeface="Arial" pitchFamily="34" charset="0"/>
                <a:ea typeface="Arial" pitchFamily="34" charset="-122"/>
                <a:cs typeface="Arial" pitchFamily="34" charset="-120"/>
              </a:rPr>
              <a:t>0</a:t>
            </a:r>
            <a:endParaRPr lang="en-US" sz="6000" dirty="0"/>
          </a:p>
        </p:txBody>
      </p:sp>
      <p:sp>
        <p:nvSpPr>
          <p:cNvPr id="21" name="stat label"/>
          <p:cNvSpPr txBox="1"/>
          <p:nvPr/>
        </p:nvSpPr>
        <p:spPr>
          <a:xfrm>
            <a:off x="8321040" y="4956048"/>
            <a:ext cx="3017520" cy="640080"/>
          </a:xfrm>
          <a:prstGeom prst="rect">
            <a:avLst/>
          </a:prstGeom>
          <a:noFill/>
          <a:ln/>
        </p:spPr>
        <p:txBody>
          <a:bodyPr wrap="square" lIns="0" tIns="0" rIns="0" bIns="0" rtlCol="0" anchor="t"/>
          <a:lstStyle/>
          <a:p>
            <a:pPr indent="0" marL="0">
              <a:buNone/>
            </a:pPr>
            <a:r>
              <a:rPr lang="en-US" sz="1800" dirty="0">
                <a:solidFill>
                  <a:schemeClr val="accent6"/>
                </a:solidFill>
              </a:rPr>
              <a:t>secrets committed to Git</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How it all fits together</a:t>
            </a:r>
            <a:endParaRPr lang="en-US" sz="3400" dirty="0"/>
          </a:p>
        </p:txBody>
      </p:sp>
      <p:sp>
        <p:nvSpPr>
          <p:cNvPr id="4" name="box Developer pushes to "/>
          <p:cNvSpPr/>
          <p:nvPr/>
        </p:nvSpPr>
        <p:spPr>
          <a:xfrm>
            <a:off x="548640" y="1417320"/>
            <a:ext cx="2194560" cy="868680"/>
          </a:xfrm>
          <a:prstGeom prst="roundRect">
            <a:avLst>
              <a:gd name="adj" fmla="val 12632"/>
            </a:avLst>
          </a:prstGeom>
          <a:solidFill>
            <a:schemeClr val="accent1"/>
          </a:solidFill>
          <a:ln/>
          <a:effectLst>
            <a:outerShdw sx="100000" sy="100000" kx="0" ky="0" algn="bl" rotWithShape="0" blurRad="127000" dist="38100" dir="5400000">
              <a:srgbClr val="000000">
                <a:alpha val="22000"/>
              </a:srgbClr>
            </a:outerShdw>
          </a:effectLst>
        </p:spPr>
      </p:sp>
      <p:sp>
        <p:nvSpPr>
          <p:cNvPr id="5" name="label Developer pushes to "/>
          <p:cNvSpPr txBox="1"/>
          <p:nvPr/>
        </p:nvSpPr>
        <p:spPr>
          <a:xfrm>
            <a:off x="548640" y="1417320"/>
            <a:ext cx="2194560" cy="868680"/>
          </a:xfrm>
          <a:prstGeom prst="rect">
            <a:avLst/>
          </a:prstGeom>
          <a:noFill/>
          <a:ln/>
        </p:spPr>
        <p:txBody>
          <a:bodyPr wrap="square" lIns="762" tIns="762" rIns="762" bIns="762" rtlCol="0" anchor="ctr"/>
          <a:lstStyle/>
          <a:p>
            <a:pPr algn="ctr" indent="0" marL="0">
              <a:buNone/>
            </a:pPr>
            <a:r>
              <a:rPr lang="en-US" sz="1500" b="1" dirty="0">
                <a:solidFill>
                  <a:schemeClr val="bg1"/>
                </a:solidFill>
              </a:rPr>
              <a:t>Developer pushes to GitHub</a:t>
            </a:r>
            <a:endParaRPr lang="en-US" sz="1500" dirty="0"/>
          </a:p>
        </p:txBody>
      </p:sp>
      <p:sp>
        <p:nvSpPr>
          <p:cNvPr id="6" name="arrow"/>
          <p:cNvSpPr/>
          <p:nvPr/>
        </p:nvSpPr>
        <p:spPr>
          <a:xfrm>
            <a:off x="2788920" y="1851660"/>
            <a:ext cx="685800" cy="0"/>
          </a:xfrm>
          <a:prstGeom prst="line">
            <a:avLst/>
          </a:prstGeom>
          <a:noFill/>
          <a:ln w="28575">
            <a:solidFill>
              <a:schemeClr val="accent6"/>
            </a:solidFill>
            <a:prstDash val="solid"/>
            <a:tailEnd type="triangle"/>
          </a:ln>
        </p:spPr>
      </p:sp>
      <p:sp>
        <p:nvSpPr>
          <p:cNvPr id="7" name="box GitHub Actions: test"/>
          <p:cNvSpPr/>
          <p:nvPr/>
        </p:nvSpPr>
        <p:spPr>
          <a:xfrm>
            <a:off x="3520440" y="1417320"/>
            <a:ext cx="2194560" cy="868680"/>
          </a:xfrm>
          <a:prstGeom prst="roundRect">
            <a:avLst>
              <a:gd name="adj" fmla="val 12632"/>
            </a:avLst>
          </a:prstGeom>
          <a:solidFill>
            <a:schemeClr val="accent1"/>
          </a:solidFill>
          <a:ln/>
          <a:effectLst>
            <a:outerShdw sx="100000" sy="100000" kx="0" ky="0" algn="bl" rotWithShape="0" blurRad="127000" dist="38100" dir="5400000">
              <a:srgbClr val="000000">
                <a:alpha val="22000"/>
              </a:srgbClr>
            </a:outerShdw>
          </a:effectLst>
        </p:spPr>
      </p:sp>
      <p:sp>
        <p:nvSpPr>
          <p:cNvPr id="8" name="label GitHub Actions: test"/>
          <p:cNvSpPr txBox="1"/>
          <p:nvPr/>
        </p:nvSpPr>
        <p:spPr>
          <a:xfrm>
            <a:off x="3520440" y="1417320"/>
            <a:ext cx="2194560" cy="868680"/>
          </a:xfrm>
          <a:prstGeom prst="rect">
            <a:avLst/>
          </a:prstGeom>
          <a:noFill/>
          <a:ln/>
        </p:spPr>
        <p:txBody>
          <a:bodyPr wrap="square" lIns="762" tIns="762" rIns="762" bIns="762" rtlCol="0" anchor="ctr"/>
          <a:lstStyle/>
          <a:p>
            <a:pPr algn="ctr" indent="0" marL="0">
              <a:buNone/>
            </a:pPr>
            <a:r>
              <a:rPr lang="en-US" sz="1500" b="1" dirty="0">
                <a:solidFill>
                  <a:schemeClr val="bg1"/>
                </a:solidFill>
              </a:rPr>
              <a:t>GitHub Actions: test, scan, build</a:t>
            </a:r>
            <a:endParaRPr lang="en-US" sz="1500" dirty="0"/>
          </a:p>
        </p:txBody>
      </p:sp>
      <p:sp>
        <p:nvSpPr>
          <p:cNvPr id="9" name="arrow"/>
          <p:cNvSpPr/>
          <p:nvPr/>
        </p:nvSpPr>
        <p:spPr>
          <a:xfrm>
            <a:off x="5760720" y="1851660"/>
            <a:ext cx="685800" cy="0"/>
          </a:xfrm>
          <a:prstGeom prst="line">
            <a:avLst/>
          </a:prstGeom>
          <a:noFill/>
          <a:ln w="28575">
            <a:solidFill>
              <a:schemeClr val="accent6"/>
            </a:solidFill>
            <a:prstDash val="solid"/>
            <a:tailEnd type="triangle"/>
          </a:ln>
        </p:spPr>
      </p:sp>
      <p:sp>
        <p:nvSpPr>
          <p:cNvPr id="10" name="box GHCR: images tagged "/>
          <p:cNvSpPr/>
          <p:nvPr/>
        </p:nvSpPr>
        <p:spPr>
          <a:xfrm>
            <a:off x="6492240" y="1417320"/>
            <a:ext cx="2194560" cy="868680"/>
          </a:xfrm>
          <a:prstGeom prst="roundRect">
            <a:avLst>
              <a:gd name="adj" fmla="val 12632"/>
            </a:avLst>
          </a:prstGeom>
          <a:solidFill>
            <a:schemeClr val="accent1"/>
          </a:solidFill>
          <a:ln/>
          <a:effectLst>
            <a:outerShdw sx="100000" sy="100000" kx="0" ky="0" algn="bl" rotWithShape="0" blurRad="127000" dist="38100" dir="5400000">
              <a:srgbClr val="000000">
                <a:alpha val="22000"/>
              </a:srgbClr>
            </a:outerShdw>
          </a:effectLst>
        </p:spPr>
      </p:sp>
      <p:sp>
        <p:nvSpPr>
          <p:cNvPr id="11" name="label GHCR: images tagged "/>
          <p:cNvSpPr txBox="1"/>
          <p:nvPr/>
        </p:nvSpPr>
        <p:spPr>
          <a:xfrm>
            <a:off x="6492240" y="1417320"/>
            <a:ext cx="2194560" cy="868680"/>
          </a:xfrm>
          <a:prstGeom prst="rect">
            <a:avLst/>
          </a:prstGeom>
          <a:noFill/>
          <a:ln/>
        </p:spPr>
        <p:txBody>
          <a:bodyPr wrap="square" lIns="762" tIns="762" rIns="762" bIns="762" rtlCol="0" anchor="ctr"/>
          <a:lstStyle/>
          <a:p>
            <a:pPr algn="ctr" indent="0" marL="0">
              <a:buNone/>
            </a:pPr>
            <a:r>
              <a:rPr lang="en-US" sz="1500" b="1" dirty="0">
                <a:solidFill>
                  <a:schemeClr val="bg1"/>
                </a:solidFill>
              </a:rPr>
              <a:t>GHCR: images tagged by SHA</a:t>
            </a:r>
            <a:endParaRPr lang="en-US" sz="1500" dirty="0"/>
          </a:p>
        </p:txBody>
      </p:sp>
      <p:sp>
        <p:nvSpPr>
          <p:cNvPr id="12" name="arrow"/>
          <p:cNvSpPr/>
          <p:nvPr/>
        </p:nvSpPr>
        <p:spPr>
          <a:xfrm>
            <a:off x="8732520" y="1851660"/>
            <a:ext cx="685800" cy="0"/>
          </a:xfrm>
          <a:prstGeom prst="line">
            <a:avLst/>
          </a:prstGeom>
          <a:noFill/>
          <a:ln w="28575">
            <a:solidFill>
              <a:schemeClr val="accent6"/>
            </a:solidFill>
            <a:prstDash val="solid"/>
            <a:tailEnd type="triangle"/>
          </a:ln>
        </p:spPr>
      </p:sp>
      <p:sp>
        <p:nvSpPr>
          <p:cNvPr id="13" name="box Helm deploy to EKS"/>
          <p:cNvSpPr/>
          <p:nvPr/>
        </p:nvSpPr>
        <p:spPr>
          <a:xfrm>
            <a:off x="9464040" y="1417320"/>
            <a:ext cx="2194560" cy="868680"/>
          </a:xfrm>
          <a:prstGeom prst="roundRect">
            <a:avLst>
              <a:gd name="adj" fmla="val 12632"/>
            </a:avLst>
          </a:prstGeom>
          <a:solidFill>
            <a:schemeClr val="accent2"/>
          </a:solidFill>
          <a:ln/>
          <a:effectLst>
            <a:outerShdw sx="100000" sy="100000" kx="0" ky="0" algn="bl" rotWithShape="0" blurRad="127000" dist="38100" dir="5400000">
              <a:srgbClr val="000000">
                <a:alpha val="22000"/>
              </a:srgbClr>
            </a:outerShdw>
          </a:effectLst>
        </p:spPr>
      </p:sp>
      <p:sp>
        <p:nvSpPr>
          <p:cNvPr id="14" name="label Helm deploy to EKS"/>
          <p:cNvSpPr txBox="1"/>
          <p:nvPr/>
        </p:nvSpPr>
        <p:spPr>
          <a:xfrm>
            <a:off x="9464040" y="1417320"/>
            <a:ext cx="2194560" cy="868680"/>
          </a:xfrm>
          <a:prstGeom prst="rect">
            <a:avLst/>
          </a:prstGeom>
          <a:noFill/>
          <a:ln/>
        </p:spPr>
        <p:txBody>
          <a:bodyPr wrap="square" lIns="762" tIns="762" rIns="762" bIns="762" rtlCol="0" anchor="ctr"/>
          <a:lstStyle/>
          <a:p>
            <a:pPr algn="ctr" indent="0" marL="0">
              <a:buNone/>
            </a:pPr>
            <a:r>
              <a:rPr lang="en-US" sz="1500" b="1" dirty="0">
                <a:solidFill>
                  <a:schemeClr val="tx1"/>
                </a:solidFill>
              </a:rPr>
              <a:t>Helm deploy to EKS</a:t>
            </a:r>
            <a:endParaRPr lang="en-US" sz="1500" dirty="0"/>
          </a:p>
        </p:txBody>
      </p:sp>
      <p:sp>
        <p:nvSpPr>
          <p:cNvPr id="15" name="aws region"/>
          <p:cNvSpPr/>
          <p:nvPr/>
        </p:nvSpPr>
        <p:spPr>
          <a:xfrm>
            <a:off x="548640" y="2697480"/>
            <a:ext cx="11094415" cy="3108960"/>
          </a:xfrm>
          <a:prstGeom prst="roundRect">
            <a:avLst>
              <a:gd name="adj" fmla="val 4706"/>
            </a:avLst>
          </a:prstGeom>
          <a:solidFill>
            <a:schemeClr val="bg2"/>
          </a:solidFill>
          <a:ln w="19050">
            <a:solidFill>
              <a:schemeClr val="accent1"/>
            </a:solidFill>
            <a:prstDash val="dash"/>
          </a:ln>
        </p:spPr>
      </p:sp>
      <p:sp>
        <p:nvSpPr>
          <p:cNvPr id="16" name="aws label"/>
          <p:cNvSpPr txBox="1"/>
          <p:nvPr/>
        </p:nvSpPr>
        <p:spPr>
          <a:xfrm>
            <a:off x="777240" y="2761488"/>
            <a:ext cx="8229600" cy="365760"/>
          </a:xfrm>
          <a:prstGeom prst="rect">
            <a:avLst/>
          </a:prstGeom>
          <a:noFill/>
          <a:ln/>
        </p:spPr>
        <p:txBody>
          <a:bodyPr wrap="square" lIns="0" tIns="0" rIns="0" bIns="0" rtlCol="0" anchor="ctr"/>
          <a:lstStyle/>
          <a:p>
            <a:pPr indent="0" marL="0">
              <a:buNone/>
            </a:pPr>
            <a:r>
              <a:rPr lang="en-US" sz="1600" b="1" dirty="0">
                <a:solidFill>
                  <a:schemeClr val="accent1"/>
                </a:solidFill>
              </a:rPr>
              <a:t>AWS  ·  ap-southeast-2  ·  built by Terraform  ·  VPC + EKS</a:t>
            </a:r>
            <a:endParaRPr lang="en-US" sz="1600" dirty="0"/>
          </a:p>
        </p:txBody>
      </p:sp>
      <p:sp>
        <p:nvSpPr>
          <p:cNvPr id="17" name="arrow"/>
          <p:cNvSpPr/>
          <p:nvPr/>
        </p:nvSpPr>
        <p:spPr>
          <a:xfrm>
            <a:off x="10561320" y="2331720"/>
            <a:ext cx="0" cy="320040"/>
          </a:xfrm>
          <a:prstGeom prst="line">
            <a:avLst/>
          </a:prstGeom>
          <a:noFill/>
          <a:ln w="28575">
            <a:solidFill>
              <a:schemeClr val="accent2"/>
            </a:solidFill>
            <a:prstDash val="solid"/>
            <a:tailEnd type="triangle"/>
          </a:ln>
        </p:spPr>
      </p:sp>
      <p:sp>
        <p:nvSpPr>
          <p:cNvPr id="18" name="box Browser"/>
          <p:cNvSpPr/>
          <p:nvPr/>
        </p:nvSpPr>
        <p:spPr>
          <a:xfrm>
            <a:off x="822960" y="4160520"/>
            <a:ext cx="1554480" cy="822960"/>
          </a:xfrm>
          <a:prstGeom prst="roundRect">
            <a:avLst>
              <a:gd name="adj" fmla="val 13333"/>
            </a:avLst>
          </a:prstGeom>
          <a:solidFill>
            <a:schemeClr val="accent6"/>
          </a:solidFill>
          <a:ln/>
          <a:effectLst>
            <a:outerShdw sx="100000" sy="100000" kx="0" ky="0" algn="bl" rotWithShape="0" blurRad="127000" dist="38100" dir="5400000">
              <a:srgbClr val="000000">
                <a:alpha val="22000"/>
              </a:srgbClr>
            </a:outerShdw>
          </a:effectLst>
        </p:spPr>
      </p:sp>
      <p:sp>
        <p:nvSpPr>
          <p:cNvPr id="19" name="label Browser"/>
          <p:cNvSpPr txBox="1"/>
          <p:nvPr/>
        </p:nvSpPr>
        <p:spPr>
          <a:xfrm>
            <a:off x="822960" y="4160520"/>
            <a:ext cx="1554480" cy="822960"/>
          </a:xfrm>
          <a:prstGeom prst="rect">
            <a:avLst/>
          </a:prstGeom>
          <a:noFill/>
          <a:ln/>
        </p:spPr>
        <p:txBody>
          <a:bodyPr wrap="square" lIns="762" tIns="762" rIns="762" bIns="762" rtlCol="0" anchor="ctr"/>
          <a:lstStyle/>
          <a:p>
            <a:pPr algn="ctr" indent="0" marL="0">
              <a:buNone/>
            </a:pPr>
            <a:r>
              <a:rPr lang="en-US" sz="1600" b="1" dirty="0">
                <a:solidFill>
                  <a:schemeClr val="bg1"/>
                </a:solidFill>
              </a:rPr>
              <a:t>Browser</a:t>
            </a:r>
            <a:endParaRPr lang="en-US" sz="1600" dirty="0"/>
          </a:p>
        </p:txBody>
      </p:sp>
      <p:sp>
        <p:nvSpPr>
          <p:cNvPr id="20" name="box NLB + Traefik Ingres"/>
          <p:cNvSpPr/>
          <p:nvPr/>
        </p:nvSpPr>
        <p:spPr>
          <a:xfrm>
            <a:off x="2743200" y="4160520"/>
            <a:ext cx="2194560" cy="822960"/>
          </a:xfrm>
          <a:prstGeom prst="roundRect">
            <a:avLst>
              <a:gd name="adj" fmla="val 13333"/>
            </a:avLst>
          </a:prstGeom>
          <a:solidFill>
            <a:schemeClr val="accent3"/>
          </a:solidFill>
          <a:ln/>
          <a:effectLst>
            <a:outerShdw sx="100000" sy="100000" kx="0" ky="0" algn="bl" rotWithShape="0" blurRad="127000" dist="38100" dir="5400000">
              <a:srgbClr val="000000">
                <a:alpha val="22000"/>
              </a:srgbClr>
            </a:outerShdw>
          </a:effectLst>
        </p:spPr>
      </p:sp>
      <p:sp>
        <p:nvSpPr>
          <p:cNvPr id="21" name="label NLB + Traefik Ingres"/>
          <p:cNvSpPr txBox="1"/>
          <p:nvPr/>
        </p:nvSpPr>
        <p:spPr>
          <a:xfrm>
            <a:off x="2743200" y="4160520"/>
            <a:ext cx="2194560" cy="822960"/>
          </a:xfrm>
          <a:prstGeom prst="rect">
            <a:avLst/>
          </a:prstGeom>
          <a:noFill/>
          <a:ln/>
        </p:spPr>
        <p:txBody>
          <a:bodyPr wrap="square" lIns="762" tIns="762" rIns="762" bIns="762" rtlCol="0" anchor="ctr"/>
          <a:lstStyle/>
          <a:p>
            <a:pPr algn="ctr" indent="0" marL="0">
              <a:buNone/>
            </a:pPr>
            <a:r>
              <a:rPr lang="en-US" sz="1500" b="1" dirty="0">
                <a:solidFill>
                  <a:schemeClr val="bg1"/>
                </a:solidFill>
              </a:rPr>
              <a:t>NLB + Traefik Ingress</a:t>
            </a:r>
            <a:endParaRPr lang="en-US" sz="1500" dirty="0"/>
          </a:p>
        </p:txBody>
      </p:sp>
      <p:sp>
        <p:nvSpPr>
          <p:cNvPr id="22" name="box Frontend: nginx ×2"/>
          <p:cNvSpPr/>
          <p:nvPr/>
        </p:nvSpPr>
        <p:spPr>
          <a:xfrm>
            <a:off x="5486400" y="3337560"/>
            <a:ext cx="2377440" cy="777240"/>
          </a:xfrm>
          <a:prstGeom prst="roundRect">
            <a:avLst>
              <a:gd name="adj" fmla="val 14118"/>
            </a:avLst>
          </a:prstGeom>
          <a:solidFill>
            <a:schemeClr val="accent1"/>
          </a:solidFill>
          <a:ln/>
          <a:effectLst>
            <a:outerShdw sx="100000" sy="100000" kx="0" ky="0" algn="bl" rotWithShape="0" blurRad="127000" dist="38100" dir="5400000">
              <a:srgbClr val="000000">
                <a:alpha val="22000"/>
              </a:srgbClr>
            </a:outerShdw>
          </a:effectLst>
        </p:spPr>
      </p:sp>
      <p:sp>
        <p:nvSpPr>
          <p:cNvPr id="23" name="label Frontend: nginx ×2"/>
          <p:cNvSpPr txBox="1"/>
          <p:nvPr/>
        </p:nvSpPr>
        <p:spPr>
          <a:xfrm>
            <a:off x="5486400" y="3337560"/>
            <a:ext cx="2377440" cy="777240"/>
          </a:xfrm>
          <a:prstGeom prst="rect">
            <a:avLst/>
          </a:prstGeom>
          <a:noFill/>
          <a:ln/>
        </p:spPr>
        <p:txBody>
          <a:bodyPr wrap="square" lIns="762" tIns="762" rIns="762" bIns="762" rtlCol="0" anchor="ctr"/>
          <a:lstStyle/>
          <a:p>
            <a:pPr algn="ctr" indent="0" marL="0">
              <a:buNone/>
            </a:pPr>
            <a:r>
              <a:rPr lang="en-US" sz="1500" b="1" dirty="0">
                <a:solidFill>
                  <a:schemeClr val="bg1"/>
                </a:solidFill>
              </a:rPr>
              <a:t>Frontend: nginx ×2</a:t>
            </a:r>
            <a:endParaRPr lang="en-US" sz="1500" dirty="0"/>
          </a:p>
        </p:txBody>
      </p:sp>
      <p:sp>
        <p:nvSpPr>
          <p:cNvPr id="24" name="box Backend: FastAPI ×2–"/>
          <p:cNvSpPr/>
          <p:nvPr/>
        </p:nvSpPr>
        <p:spPr>
          <a:xfrm>
            <a:off x="5486400" y="4617720"/>
            <a:ext cx="2377440" cy="777240"/>
          </a:xfrm>
          <a:prstGeom prst="roundRect">
            <a:avLst>
              <a:gd name="adj" fmla="val 14118"/>
            </a:avLst>
          </a:prstGeom>
          <a:solidFill>
            <a:schemeClr val="accent1"/>
          </a:solidFill>
          <a:ln/>
          <a:effectLst>
            <a:outerShdw sx="100000" sy="100000" kx="0" ky="0" algn="bl" rotWithShape="0" blurRad="127000" dist="38100" dir="5400000">
              <a:srgbClr val="000000">
                <a:alpha val="22000"/>
              </a:srgbClr>
            </a:outerShdw>
          </a:effectLst>
        </p:spPr>
      </p:sp>
      <p:sp>
        <p:nvSpPr>
          <p:cNvPr id="25" name="label Backend: FastAPI ×2–"/>
          <p:cNvSpPr txBox="1"/>
          <p:nvPr/>
        </p:nvSpPr>
        <p:spPr>
          <a:xfrm>
            <a:off x="5486400" y="4617720"/>
            <a:ext cx="2377440" cy="777240"/>
          </a:xfrm>
          <a:prstGeom prst="rect">
            <a:avLst/>
          </a:prstGeom>
          <a:noFill/>
          <a:ln/>
        </p:spPr>
        <p:txBody>
          <a:bodyPr wrap="square" lIns="762" tIns="762" rIns="762" bIns="762" rtlCol="0" anchor="ctr"/>
          <a:lstStyle/>
          <a:p>
            <a:pPr algn="ctr" indent="0" marL="0">
              <a:buNone/>
            </a:pPr>
            <a:r>
              <a:rPr lang="en-US" sz="1500" b="1" dirty="0">
                <a:solidFill>
                  <a:schemeClr val="bg1"/>
                </a:solidFill>
              </a:rPr>
              <a:t>Backend: FastAPI ×2–5</a:t>
            </a:r>
            <a:endParaRPr lang="en-US" sz="1500" dirty="0"/>
          </a:p>
        </p:txBody>
      </p:sp>
      <p:sp>
        <p:nvSpPr>
          <p:cNvPr id="26" name="box PostgreSQL + gp3 vol"/>
          <p:cNvSpPr/>
          <p:nvPr/>
        </p:nvSpPr>
        <p:spPr>
          <a:xfrm>
            <a:off x="8229600" y="4617720"/>
            <a:ext cx="2926080" cy="777240"/>
          </a:xfrm>
          <a:prstGeom prst="roundRect">
            <a:avLst>
              <a:gd name="adj" fmla="val 14118"/>
            </a:avLst>
          </a:prstGeom>
          <a:solidFill>
            <a:schemeClr val="accent4"/>
          </a:solidFill>
          <a:ln/>
          <a:effectLst>
            <a:outerShdw sx="100000" sy="100000" kx="0" ky="0" algn="bl" rotWithShape="0" blurRad="127000" dist="38100" dir="5400000">
              <a:srgbClr val="000000">
                <a:alpha val="22000"/>
              </a:srgbClr>
            </a:outerShdw>
          </a:effectLst>
        </p:spPr>
      </p:sp>
      <p:sp>
        <p:nvSpPr>
          <p:cNvPr id="27" name="label PostgreSQL + gp3 vol"/>
          <p:cNvSpPr txBox="1"/>
          <p:nvPr/>
        </p:nvSpPr>
        <p:spPr>
          <a:xfrm>
            <a:off x="8229600" y="4617720"/>
            <a:ext cx="2926080" cy="777240"/>
          </a:xfrm>
          <a:prstGeom prst="rect">
            <a:avLst/>
          </a:prstGeom>
          <a:noFill/>
          <a:ln/>
        </p:spPr>
        <p:txBody>
          <a:bodyPr wrap="square" lIns="762" tIns="762" rIns="762" bIns="762" rtlCol="0" anchor="ctr"/>
          <a:lstStyle/>
          <a:p>
            <a:pPr algn="ctr" indent="0" marL="0">
              <a:buNone/>
            </a:pPr>
            <a:r>
              <a:rPr lang="en-US" sz="1500" b="1" dirty="0">
                <a:solidFill>
                  <a:schemeClr val="bg1"/>
                </a:solidFill>
              </a:rPr>
              <a:t>PostgreSQL + gp3 volume</a:t>
            </a:r>
            <a:endParaRPr lang="en-US" sz="1500" dirty="0"/>
          </a:p>
        </p:txBody>
      </p:sp>
      <p:sp>
        <p:nvSpPr>
          <p:cNvPr id="28" name="box Prometheus"/>
          <p:cNvSpPr/>
          <p:nvPr/>
        </p:nvSpPr>
        <p:spPr>
          <a:xfrm>
            <a:off x="8229600" y="3337560"/>
            <a:ext cx="1554480" cy="777240"/>
          </a:xfrm>
          <a:prstGeom prst="roundRect">
            <a:avLst>
              <a:gd name="adj" fmla="val 14118"/>
            </a:avLst>
          </a:prstGeom>
          <a:solidFill>
            <a:schemeClr val="accent2"/>
          </a:solidFill>
          <a:ln/>
          <a:effectLst>
            <a:outerShdw sx="100000" sy="100000" kx="0" ky="0" algn="bl" rotWithShape="0" blurRad="127000" dist="38100" dir="5400000">
              <a:srgbClr val="000000">
                <a:alpha val="22000"/>
              </a:srgbClr>
            </a:outerShdw>
          </a:effectLst>
        </p:spPr>
      </p:sp>
      <p:sp>
        <p:nvSpPr>
          <p:cNvPr id="29" name="label Prometheus"/>
          <p:cNvSpPr txBox="1"/>
          <p:nvPr/>
        </p:nvSpPr>
        <p:spPr>
          <a:xfrm>
            <a:off x="8229600" y="3337560"/>
            <a:ext cx="1554480" cy="777240"/>
          </a:xfrm>
          <a:prstGeom prst="rect">
            <a:avLst/>
          </a:prstGeom>
          <a:noFill/>
          <a:ln/>
        </p:spPr>
        <p:txBody>
          <a:bodyPr wrap="square" lIns="762" tIns="762" rIns="762" bIns="762" rtlCol="0" anchor="ctr"/>
          <a:lstStyle/>
          <a:p>
            <a:pPr algn="ctr" indent="0" marL="0">
              <a:buNone/>
            </a:pPr>
            <a:r>
              <a:rPr lang="en-US" sz="1500" b="1" dirty="0">
                <a:solidFill>
                  <a:schemeClr val="tx1"/>
                </a:solidFill>
              </a:rPr>
              <a:t>Prometheus</a:t>
            </a:r>
            <a:endParaRPr lang="en-US" sz="1500" dirty="0"/>
          </a:p>
        </p:txBody>
      </p:sp>
      <p:sp>
        <p:nvSpPr>
          <p:cNvPr id="30" name="box Grafana"/>
          <p:cNvSpPr/>
          <p:nvPr/>
        </p:nvSpPr>
        <p:spPr>
          <a:xfrm>
            <a:off x="10058400" y="3337560"/>
            <a:ext cx="1097280" cy="777240"/>
          </a:xfrm>
          <a:prstGeom prst="roundRect">
            <a:avLst>
              <a:gd name="adj" fmla="val 14118"/>
            </a:avLst>
          </a:prstGeom>
          <a:solidFill>
            <a:schemeClr val="accent2"/>
          </a:solidFill>
          <a:ln/>
          <a:effectLst>
            <a:outerShdw sx="100000" sy="100000" kx="0" ky="0" algn="bl" rotWithShape="0" blurRad="127000" dist="38100" dir="5400000">
              <a:srgbClr val="000000">
                <a:alpha val="22000"/>
              </a:srgbClr>
            </a:outerShdw>
          </a:effectLst>
        </p:spPr>
      </p:sp>
      <p:sp>
        <p:nvSpPr>
          <p:cNvPr id="31" name="label Grafana"/>
          <p:cNvSpPr txBox="1"/>
          <p:nvPr/>
        </p:nvSpPr>
        <p:spPr>
          <a:xfrm>
            <a:off x="10058400" y="3337560"/>
            <a:ext cx="1097280" cy="777240"/>
          </a:xfrm>
          <a:prstGeom prst="rect">
            <a:avLst/>
          </a:prstGeom>
          <a:noFill/>
          <a:ln/>
        </p:spPr>
        <p:txBody>
          <a:bodyPr wrap="square" lIns="762" tIns="762" rIns="762" bIns="762" rtlCol="0" anchor="ctr"/>
          <a:lstStyle/>
          <a:p>
            <a:pPr algn="ctr" indent="0" marL="0">
              <a:buNone/>
            </a:pPr>
            <a:r>
              <a:rPr lang="en-US" sz="1500" b="1" dirty="0">
                <a:solidFill>
                  <a:schemeClr val="tx1"/>
                </a:solidFill>
              </a:rPr>
              <a:t>Grafana</a:t>
            </a:r>
            <a:endParaRPr lang="en-US" sz="1500" dirty="0"/>
          </a:p>
        </p:txBody>
      </p:sp>
      <p:sp>
        <p:nvSpPr>
          <p:cNvPr id="32" name="arrow"/>
          <p:cNvSpPr/>
          <p:nvPr/>
        </p:nvSpPr>
        <p:spPr>
          <a:xfrm>
            <a:off x="2423160" y="4572000"/>
            <a:ext cx="274320" cy="0"/>
          </a:xfrm>
          <a:prstGeom prst="line">
            <a:avLst/>
          </a:prstGeom>
          <a:noFill/>
          <a:ln w="28575">
            <a:solidFill>
              <a:schemeClr val="accent6"/>
            </a:solidFill>
            <a:prstDash val="solid"/>
            <a:tailEnd type="triangle"/>
          </a:ln>
        </p:spPr>
      </p:sp>
      <p:sp>
        <p:nvSpPr>
          <p:cNvPr id="33" name="arrow"/>
          <p:cNvSpPr/>
          <p:nvPr/>
        </p:nvSpPr>
        <p:spPr>
          <a:xfrm flipV="1">
            <a:off x="4983480" y="3749040"/>
            <a:ext cx="457200" cy="640080"/>
          </a:xfrm>
          <a:prstGeom prst="line">
            <a:avLst/>
          </a:prstGeom>
          <a:noFill/>
          <a:ln w="28575">
            <a:solidFill>
              <a:schemeClr val="accent6"/>
            </a:solidFill>
            <a:prstDash val="solid"/>
            <a:tailEnd type="triangle"/>
          </a:ln>
        </p:spPr>
      </p:sp>
      <p:sp>
        <p:nvSpPr>
          <p:cNvPr id="34" name="arrow"/>
          <p:cNvSpPr/>
          <p:nvPr/>
        </p:nvSpPr>
        <p:spPr>
          <a:xfrm>
            <a:off x="4983480" y="4754880"/>
            <a:ext cx="457200" cy="274320"/>
          </a:xfrm>
          <a:prstGeom prst="line">
            <a:avLst/>
          </a:prstGeom>
          <a:noFill/>
          <a:ln w="28575">
            <a:solidFill>
              <a:schemeClr val="accent6"/>
            </a:solidFill>
            <a:prstDash val="solid"/>
            <a:tailEnd type="triangle"/>
          </a:ln>
        </p:spPr>
      </p:sp>
      <p:sp>
        <p:nvSpPr>
          <p:cNvPr id="35" name="arrow"/>
          <p:cNvSpPr/>
          <p:nvPr/>
        </p:nvSpPr>
        <p:spPr>
          <a:xfrm>
            <a:off x="7909560" y="5010912"/>
            <a:ext cx="274320" cy="0"/>
          </a:xfrm>
          <a:prstGeom prst="line">
            <a:avLst/>
          </a:prstGeom>
          <a:noFill/>
          <a:ln w="28575">
            <a:solidFill>
              <a:schemeClr val="accent6"/>
            </a:solidFill>
            <a:prstDash val="solid"/>
            <a:tailEnd type="triangle"/>
          </a:ln>
        </p:spPr>
      </p:sp>
      <p:sp>
        <p:nvSpPr>
          <p:cNvPr id="36" name="arrow"/>
          <p:cNvSpPr/>
          <p:nvPr/>
        </p:nvSpPr>
        <p:spPr>
          <a:xfrm>
            <a:off x="9829800" y="3730752"/>
            <a:ext cx="182880" cy="0"/>
          </a:xfrm>
          <a:prstGeom prst="line">
            <a:avLst/>
          </a:prstGeom>
          <a:noFill/>
          <a:ln w="28575">
            <a:solidFill>
              <a:schemeClr val="accent6"/>
            </a:solidFill>
            <a:prstDash val="solid"/>
            <a:tailEnd type="triangle"/>
          </a:ln>
        </p:spPr>
      </p:sp>
      <p:sp>
        <p:nvSpPr>
          <p:cNvPr id="37" name="arrow"/>
          <p:cNvSpPr/>
          <p:nvPr/>
        </p:nvSpPr>
        <p:spPr>
          <a:xfrm flipH="1">
            <a:off x="7909560" y="4160520"/>
            <a:ext cx="685800" cy="521208"/>
          </a:xfrm>
          <a:prstGeom prst="line">
            <a:avLst/>
          </a:prstGeom>
          <a:noFill/>
          <a:ln w="28575">
            <a:solidFill>
              <a:schemeClr val="accent2"/>
            </a:solidFill>
            <a:prstDash val="solid"/>
            <a:tailEnd type="triangle"/>
          </a:ln>
        </p:spPr>
      </p:sp>
      <p:sp>
        <p:nvSpPr>
          <p:cNvPr id="38" name="scrape label"/>
          <p:cNvSpPr txBox="1"/>
          <p:nvPr/>
        </p:nvSpPr>
        <p:spPr>
          <a:xfrm>
            <a:off x="8732520" y="4343400"/>
            <a:ext cx="2194560" cy="320040"/>
          </a:xfrm>
          <a:prstGeom prst="rect">
            <a:avLst/>
          </a:prstGeom>
          <a:noFill/>
          <a:ln/>
        </p:spPr>
        <p:txBody>
          <a:bodyPr wrap="square" lIns="0" tIns="0" rIns="0" bIns="0" rtlCol="0" anchor="ctr"/>
          <a:lstStyle/>
          <a:p>
            <a:pPr algn="l" indent="0" marL="0">
              <a:buNone/>
            </a:pPr>
            <a:r>
              <a:rPr lang="en-US" sz="1400" dirty="0">
                <a:solidFill>
                  <a:schemeClr val="accent6"/>
                </a:solidFill>
              </a:rPr>
              <a:t>scrapes /metrics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number"/>
          <p:cNvSpPr txBox="1"/>
          <p:nvPr/>
        </p:nvSpPr>
        <p:spPr>
          <a:xfrm>
            <a:off x="548640" y="1097280"/>
            <a:ext cx="3657600" cy="1280160"/>
          </a:xfrm>
          <a:prstGeom prst="rect">
            <a:avLst/>
          </a:prstGeom>
          <a:noFill/>
          <a:ln/>
        </p:spPr>
        <p:txBody>
          <a:bodyPr wrap="square" lIns="0" tIns="0" rIns="0" bIns="0" rtlCol="0" anchor="ctr"/>
          <a:lstStyle/>
          <a:p>
            <a:pPr indent="0" marL="0">
              <a:buNone/>
            </a:pPr>
            <a:r>
              <a:rPr lang="en-US" sz="9600" b="1" dirty="0">
                <a:solidFill>
                  <a:schemeClr val="accent2"/>
                </a:solidFill>
                <a:latin typeface="Arial" pitchFamily="34" charset="0"/>
                <a:ea typeface="Arial" pitchFamily="34" charset="-122"/>
                <a:cs typeface="Arial" pitchFamily="34" charset="-120"/>
              </a:rPr>
              <a:t>01</a:t>
            </a:r>
            <a:endParaRPr lang="en-US" sz="9600" dirty="0"/>
          </a:p>
        </p:txBody>
      </p:sp>
      <p:sp>
        <p:nvSpPr>
          <p:cNvPr id="3" name="Text 0"/>
          <p:cNvSpPr/>
          <p:nvPr>
            <p:ph idx="100" type="title" hasCustomPrompt="1"/>
          </p:nvPr>
        </p:nvSpPr>
        <p:spPr>
          <a:xfrm>
            <a:off x="548640" y="2331720"/>
            <a:ext cx="11064240" cy="1188720"/>
          </a:xfrm>
          <a:prstGeom prst="rect">
            <a:avLst/>
          </a:prstGeom>
          <a:noFill/>
          <a:ln/>
        </p:spPr>
        <p:txBody>
          <a:bodyPr wrap="square" lIns="0" tIns="0" rIns="0" bIns="0" rtlCol="0" anchor="ctr"/>
          <a:lstStyle/>
          <a:p>
            <a:pPr algn="l" indent="0" marL="0">
              <a:buNone/>
            </a:pPr>
            <a:r>
              <a:rPr lang="en-US" sz="5000" b="1" dirty="0">
                <a:solidFill>
                  <a:schemeClr val="bg1"/>
                </a:solidFill>
              </a:rPr>
              <a:t>The application</a:t>
            </a:r>
            <a:endParaRPr lang="en-US" sz="5000" dirty="0"/>
          </a:p>
        </p:txBody>
      </p:sp>
      <p:sp>
        <p:nvSpPr>
          <p:cNvPr id="4" name="section subtitle"/>
          <p:cNvSpPr txBox="1"/>
          <p:nvPr/>
        </p:nvSpPr>
        <p:spPr>
          <a:xfrm>
            <a:off x="548640" y="3749040"/>
            <a:ext cx="10515600" cy="822960"/>
          </a:xfrm>
          <a:prstGeom prst="rect">
            <a:avLst/>
          </a:prstGeom>
          <a:noFill/>
          <a:ln/>
        </p:spPr>
        <p:txBody>
          <a:bodyPr wrap="square" lIns="0" tIns="0" rIns="0" bIns="0" rtlCol="0" anchor="t"/>
          <a:lstStyle/>
          <a:p>
            <a:pPr indent="0" marL="0">
              <a:buNone/>
            </a:pPr>
            <a:r>
              <a:rPr lang="en-US" sz="2400" dirty="0">
                <a:solidFill>
                  <a:schemeClr val="bg2"/>
                </a:solidFill>
              </a:rPr>
              <a:t>FastAPI, React and PostgreSQL, built around one hard rule: never double-book a doctor</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Four screens run the front desk</a:t>
            </a:r>
            <a:endParaRPr lang="en-US" sz="3400" dirty="0"/>
          </a:p>
        </p:txBody>
      </p:sp>
      <p:sp>
        <p:nvSpPr>
          <p:cNvPr id="4" name="icon bg FaTh"/>
          <p:cNvSpPr/>
          <p:nvPr/>
        </p:nvSpPr>
        <p:spPr>
          <a:xfrm>
            <a:off x="548640" y="1508760"/>
            <a:ext cx="777240" cy="777240"/>
          </a:xfrm>
          <a:prstGeom prst="ellipse">
            <a:avLst/>
          </a:prstGeom>
          <a:solidFill>
            <a:schemeClr val="accent1"/>
          </a:solidFill>
          <a:ln/>
        </p:spPr>
      </p:sp>
      <p:pic>
        <p:nvPicPr>
          <p:cNvPr id="5" name="icon FaTh" descr="FaTh">    </p:cNvPr>
          <p:cNvPicPr>
            <a:picLocks noChangeAspect="1"/>
          </p:cNvPicPr>
          <p:nvPr/>
        </p:nvPicPr>
        <p:blipFill>
          <a:blip r:embed="rId1"/>
          <a:stretch>
            <a:fillRect/>
          </a:stretch>
        </p:blipFill>
        <p:spPr>
          <a:xfrm>
            <a:off x="758495" y="1718615"/>
            <a:ext cx="357530" cy="357530"/>
          </a:xfrm>
          <a:prstGeom prst="rect">
            <a:avLst/>
          </a:prstGeom>
        </p:spPr>
      </p:pic>
      <p:sp>
        <p:nvSpPr>
          <p:cNvPr id="6" name="screen name"/>
          <p:cNvSpPr txBox="1"/>
          <p:nvPr/>
        </p:nvSpPr>
        <p:spPr>
          <a:xfrm>
            <a:off x="1554480" y="1490472"/>
            <a:ext cx="3840480" cy="411480"/>
          </a:xfrm>
          <a:prstGeom prst="rect">
            <a:avLst/>
          </a:prstGeom>
          <a:noFill/>
          <a:ln/>
        </p:spPr>
        <p:txBody>
          <a:bodyPr wrap="square" lIns="0" tIns="0" rIns="0" bIns="0" rtlCol="0" anchor="ctr"/>
          <a:lstStyle/>
          <a:p>
            <a:pPr indent="0" marL="0">
              <a:buNone/>
            </a:pPr>
            <a:r>
              <a:rPr lang="en-US" sz="2400" b="1" dirty="0">
                <a:solidFill>
                  <a:schemeClr val="tx1"/>
                </a:solidFill>
              </a:rPr>
              <a:t>Board</a:t>
            </a:r>
            <a:endParaRPr lang="en-US" sz="2400" dirty="0"/>
          </a:p>
        </p:txBody>
      </p:sp>
      <p:sp>
        <p:nvSpPr>
          <p:cNvPr id="7" name="screen desc"/>
          <p:cNvSpPr txBox="1"/>
          <p:nvPr/>
        </p:nvSpPr>
        <p:spPr>
          <a:xfrm>
            <a:off x="1554480" y="1892808"/>
            <a:ext cx="4023360" cy="548640"/>
          </a:xfrm>
          <a:prstGeom prst="rect">
            <a:avLst/>
          </a:prstGeom>
          <a:noFill/>
          <a:ln/>
        </p:spPr>
        <p:txBody>
          <a:bodyPr wrap="square" lIns="0" tIns="0" rIns="0" bIns="0" rtlCol="0" anchor="t"/>
          <a:lstStyle/>
          <a:p>
            <a:pPr indent="0" marL="0">
              <a:buNone/>
            </a:pPr>
            <a:r>
              <a:rPr lang="en-US" sz="1600" dirty="0">
                <a:solidFill>
                  <a:schemeClr val="accent6"/>
                </a:solidFill>
              </a:rPr>
              <a:t>Four live columns with waiting timers and KPIs</a:t>
            </a:r>
            <a:endParaRPr lang="en-US" sz="1600" dirty="0"/>
          </a:p>
        </p:txBody>
      </p:sp>
      <p:sp>
        <p:nvSpPr>
          <p:cNvPr id="8" name="icon bg FaCalendarAlt"/>
          <p:cNvSpPr/>
          <p:nvPr/>
        </p:nvSpPr>
        <p:spPr>
          <a:xfrm>
            <a:off x="548640" y="2697480"/>
            <a:ext cx="777240" cy="777240"/>
          </a:xfrm>
          <a:prstGeom prst="ellipse">
            <a:avLst/>
          </a:prstGeom>
          <a:solidFill>
            <a:schemeClr val="accent1"/>
          </a:solidFill>
          <a:ln/>
        </p:spPr>
      </p:sp>
      <p:pic>
        <p:nvPicPr>
          <p:cNvPr id="9" name="icon FaCalendarAlt" descr="FaCalendarAlt">    </p:cNvPr>
          <p:cNvPicPr>
            <a:picLocks noChangeAspect="1"/>
          </p:cNvPicPr>
          <p:nvPr/>
        </p:nvPicPr>
        <p:blipFill>
          <a:blip r:embed="rId2"/>
          <a:stretch>
            <a:fillRect/>
          </a:stretch>
        </p:blipFill>
        <p:spPr>
          <a:xfrm>
            <a:off x="758495" y="2907335"/>
            <a:ext cx="357530" cy="357530"/>
          </a:xfrm>
          <a:prstGeom prst="rect">
            <a:avLst/>
          </a:prstGeom>
        </p:spPr>
      </p:pic>
      <p:sp>
        <p:nvSpPr>
          <p:cNvPr id="10" name="screen name"/>
          <p:cNvSpPr txBox="1"/>
          <p:nvPr/>
        </p:nvSpPr>
        <p:spPr>
          <a:xfrm>
            <a:off x="1554480" y="2679192"/>
            <a:ext cx="3840480" cy="411480"/>
          </a:xfrm>
          <a:prstGeom prst="rect">
            <a:avLst/>
          </a:prstGeom>
          <a:noFill/>
          <a:ln/>
        </p:spPr>
        <p:txBody>
          <a:bodyPr wrap="square" lIns="0" tIns="0" rIns="0" bIns="0" rtlCol="0" anchor="ctr"/>
          <a:lstStyle/>
          <a:p>
            <a:pPr indent="0" marL="0">
              <a:buNone/>
            </a:pPr>
            <a:r>
              <a:rPr lang="en-US" sz="2400" b="1" dirty="0">
                <a:solidFill>
                  <a:schemeClr val="tx1"/>
                </a:solidFill>
              </a:rPr>
              <a:t>Schedule</a:t>
            </a:r>
            <a:endParaRPr lang="en-US" sz="2400" dirty="0"/>
          </a:p>
        </p:txBody>
      </p:sp>
      <p:sp>
        <p:nvSpPr>
          <p:cNvPr id="11" name="screen desc"/>
          <p:cNvSpPr txBox="1"/>
          <p:nvPr/>
        </p:nvSpPr>
        <p:spPr>
          <a:xfrm>
            <a:off x="1554480" y="3081528"/>
            <a:ext cx="4023360" cy="548640"/>
          </a:xfrm>
          <a:prstGeom prst="rect">
            <a:avLst/>
          </a:prstGeom>
          <a:noFill/>
          <a:ln/>
        </p:spPr>
        <p:txBody>
          <a:bodyPr wrap="square" lIns="0" tIns="0" rIns="0" bIns="0" rtlCol="0" anchor="t"/>
          <a:lstStyle/>
          <a:p>
            <a:pPr indent="0" marL="0">
              <a:buNone/>
            </a:pPr>
            <a:r>
              <a:rPr lang="en-US" sz="1600" dirty="0">
                <a:solidFill>
                  <a:schemeClr val="accent6"/>
                </a:solidFill>
              </a:rPr>
              <a:t>Each doctor's day. Click a free slot to book</a:t>
            </a:r>
            <a:endParaRPr lang="en-US" sz="1600" dirty="0"/>
          </a:p>
        </p:txBody>
      </p:sp>
      <p:sp>
        <p:nvSpPr>
          <p:cNvPr id="12" name="icon bg FaUserInjured"/>
          <p:cNvSpPr/>
          <p:nvPr/>
        </p:nvSpPr>
        <p:spPr>
          <a:xfrm>
            <a:off x="548640" y="3886200"/>
            <a:ext cx="777240" cy="777240"/>
          </a:xfrm>
          <a:prstGeom prst="ellipse">
            <a:avLst/>
          </a:prstGeom>
          <a:solidFill>
            <a:schemeClr val="accent1"/>
          </a:solidFill>
          <a:ln/>
        </p:spPr>
      </p:sp>
      <p:pic>
        <p:nvPicPr>
          <p:cNvPr id="13" name="icon FaUserInjured" descr="FaUserInjured">    </p:cNvPr>
          <p:cNvPicPr>
            <a:picLocks noChangeAspect="1"/>
          </p:cNvPicPr>
          <p:nvPr/>
        </p:nvPicPr>
        <p:blipFill>
          <a:blip r:embed="rId3"/>
          <a:stretch>
            <a:fillRect/>
          </a:stretch>
        </p:blipFill>
        <p:spPr>
          <a:xfrm>
            <a:off x="758495" y="4096055"/>
            <a:ext cx="357530" cy="357530"/>
          </a:xfrm>
          <a:prstGeom prst="rect">
            <a:avLst/>
          </a:prstGeom>
        </p:spPr>
      </p:pic>
      <p:sp>
        <p:nvSpPr>
          <p:cNvPr id="14" name="screen name"/>
          <p:cNvSpPr txBox="1"/>
          <p:nvPr/>
        </p:nvSpPr>
        <p:spPr>
          <a:xfrm>
            <a:off x="1554480" y="3867912"/>
            <a:ext cx="3840480" cy="411480"/>
          </a:xfrm>
          <a:prstGeom prst="rect">
            <a:avLst/>
          </a:prstGeom>
          <a:noFill/>
          <a:ln/>
        </p:spPr>
        <p:txBody>
          <a:bodyPr wrap="square" lIns="0" tIns="0" rIns="0" bIns="0" rtlCol="0" anchor="ctr"/>
          <a:lstStyle/>
          <a:p>
            <a:pPr indent="0" marL="0">
              <a:buNone/>
            </a:pPr>
            <a:r>
              <a:rPr lang="en-US" sz="2400" b="1" dirty="0">
                <a:solidFill>
                  <a:schemeClr val="tx1"/>
                </a:solidFill>
              </a:rPr>
              <a:t>Patients</a:t>
            </a:r>
            <a:endParaRPr lang="en-US" sz="2400" dirty="0"/>
          </a:p>
        </p:txBody>
      </p:sp>
      <p:sp>
        <p:nvSpPr>
          <p:cNvPr id="15" name="screen desc"/>
          <p:cNvSpPr txBox="1"/>
          <p:nvPr/>
        </p:nvSpPr>
        <p:spPr>
          <a:xfrm>
            <a:off x="1554480" y="4270248"/>
            <a:ext cx="4023360" cy="548640"/>
          </a:xfrm>
          <a:prstGeom prst="rect">
            <a:avLst/>
          </a:prstGeom>
          <a:noFill/>
          <a:ln/>
        </p:spPr>
        <p:txBody>
          <a:bodyPr wrap="square" lIns="0" tIns="0" rIns="0" bIns="0" rtlCol="0" anchor="t"/>
          <a:lstStyle/>
          <a:p>
            <a:pPr indent="0" marL="0">
              <a:buNone/>
            </a:pPr>
            <a:r>
              <a:rPr lang="en-US" sz="1600" dirty="0">
                <a:solidFill>
                  <a:schemeClr val="accent6"/>
                </a:solidFill>
              </a:rPr>
              <a:t>Search, register, edit and delete</a:t>
            </a:r>
            <a:endParaRPr lang="en-US" sz="1600" dirty="0"/>
          </a:p>
        </p:txBody>
      </p:sp>
      <p:sp>
        <p:nvSpPr>
          <p:cNvPr id="16" name="icon bg FaStethoscope"/>
          <p:cNvSpPr/>
          <p:nvPr/>
        </p:nvSpPr>
        <p:spPr>
          <a:xfrm>
            <a:off x="548640" y="5074920"/>
            <a:ext cx="777240" cy="777240"/>
          </a:xfrm>
          <a:prstGeom prst="ellipse">
            <a:avLst/>
          </a:prstGeom>
          <a:solidFill>
            <a:schemeClr val="accent1"/>
          </a:solidFill>
          <a:ln/>
        </p:spPr>
      </p:sp>
      <p:pic>
        <p:nvPicPr>
          <p:cNvPr id="17" name="icon FaStethoscope" descr="FaStethoscope">    </p:cNvPr>
          <p:cNvPicPr>
            <a:picLocks noChangeAspect="1"/>
          </p:cNvPicPr>
          <p:nvPr/>
        </p:nvPicPr>
        <p:blipFill>
          <a:blip r:embed="rId4"/>
          <a:stretch>
            <a:fillRect/>
          </a:stretch>
        </p:blipFill>
        <p:spPr>
          <a:xfrm>
            <a:off x="758495" y="5284775"/>
            <a:ext cx="357530" cy="357530"/>
          </a:xfrm>
          <a:prstGeom prst="rect">
            <a:avLst/>
          </a:prstGeom>
        </p:spPr>
      </p:pic>
      <p:sp>
        <p:nvSpPr>
          <p:cNvPr id="18" name="screen name"/>
          <p:cNvSpPr txBox="1"/>
          <p:nvPr/>
        </p:nvSpPr>
        <p:spPr>
          <a:xfrm>
            <a:off x="1554480" y="5056632"/>
            <a:ext cx="3840480" cy="411480"/>
          </a:xfrm>
          <a:prstGeom prst="rect">
            <a:avLst/>
          </a:prstGeom>
          <a:noFill/>
          <a:ln/>
        </p:spPr>
        <p:txBody>
          <a:bodyPr wrap="square" lIns="0" tIns="0" rIns="0" bIns="0" rtlCol="0" anchor="ctr"/>
          <a:lstStyle/>
          <a:p>
            <a:pPr indent="0" marL="0">
              <a:buNone/>
            </a:pPr>
            <a:r>
              <a:rPr lang="en-US" sz="2400" b="1" dirty="0">
                <a:solidFill>
                  <a:schemeClr val="tx1"/>
                </a:solidFill>
              </a:rPr>
              <a:t>Doctors</a:t>
            </a:r>
            <a:endParaRPr lang="en-US" sz="2400" dirty="0"/>
          </a:p>
        </p:txBody>
      </p:sp>
      <p:sp>
        <p:nvSpPr>
          <p:cNvPr id="19" name="screen desc"/>
          <p:cNvSpPr txBox="1"/>
          <p:nvPr/>
        </p:nvSpPr>
        <p:spPr>
          <a:xfrm>
            <a:off x="1554480" y="5458968"/>
            <a:ext cx="4023360" cy="548640"/>
          </a:xfrm>
          <a:prstGeom prst="rect">
            <a:avLst/>
          </a:prstGeom>
          <a:noFill/>
          <a:ln/>
        </p:spPr>
        <p:txBody>
          <a:bodyPr wrap="square" lIns="0" tIns="0" rIns="0" bIns="0" rtlCol="0" anchor="t"/>
          <a:lstStyle/>
          <a:p>
            <a:pPr indent="0" marL="0">
              <a:buNone/>
            </a:pPr>
            <a:r>
              <a:rPr lang="en-US" sz="1600" dirty="0">
                <a:solidFill>
                  <a:schemeClr val="accent6"/>
                </a:solidFill>
              </a:rPr>
              <a:t>Specialty, room, hours and slot length</a:t>
            </a:r>
            <a:endParaRPr lang="en-US" sz="1600" dirty="0"/>
          </a:p>
        </p:txBody>
      </p:sp>
      <p:sp>
        <p:nvSpPr>
          <p:cNvPr id="20" name="frame m4-localhost-3000"/>
          <p:cNvSpPr/>
          <p:nvPr/>
        </p:nvSpPr>
        <p:spPr>
          <a:xfrm>
            <a:off x="5705856" y="1684287"/>
            <a:ext cx="6007608" cy="3946627"/>
          </a:xfrm>
          <a:prstGeom prst="roundRect">
            <a:avLst>
              <a:gd name="adj" fmla="val 1390"/>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21" name="m4-localhost-3000" descr="m4-localhost-3000">    </p:cNvPr>
          <p:cNvPicPr>
            <a:picLocks noChangeAspect="1"/>
          </p:cNvPicPr>
          <p:nvPr/>
        </p:nvPicPr>
        <p:blipFill>
          <a:blip r:embed="rId5"/>
          <a:stretch>
            <a:fillRect/>
          </a:stretch>
        </p:blipFill>
        <p:spPr>
          <a:xfrm>
            <a:off x="5760720" y="1739151"/>
            <a:ext cx="5897880" cy="3836899"/>
          </a:xfrm>
          <a:prstGeom prst="rect">
            <a:avLst/>
          </a:prstGeom>
        </p:spPr>
      </p:pic>
      <p:sp>
        <p:nvSpPr>
          <p:cNvPr id="22" name="caption"/>
          <p:cNvSpPr txBox="1"/>
          <p:nvPr/>
        </p:nvSpPr>
        <p:spPr>
          <a:xfrm>
            <a:off x="5705856" y="5704065"/>
            <a:ext cx="6007608" cy="365760"/>
          </a:xfrm>
          <a:prstGeom prst="rect">
            <a:avLst/>
          </a:prstGeom>
          <a:noFill/>
          <a:ln/>
        </p:spPr>
        <p:txBody>
          <a:bodyPr wrap="square" lIns="0" tIns="0" rIns="0" bIns="0" rtlCol="0" anchor="ctr"/>
          <a:lstStyle/>
          <a:p>
            <a:pPr algn="ctr" indent="0" marL="0">
              <a:buNone/>
            </a:pPr>
            <a:r>
              <a:rPr lang="en-US" sz="1400" dirty="0">
                <a:solidFill>
                  <a:schemeClr val="accent6"/>
                </a:solidFill>
              </a:rPr>
              <a:t>The Board, served from Docker Compose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Users see conflicts instantly, on any screen size</a:t>
            </a:r>
            <a:endParaRPr lang="en-US" sz="3400" dirty="0"/>
          </a:p>
        </p:txBody>
      </p:sp>
      <p:sp>
        <p:nvSpPr>
          <p:cNvPr id="4" name="frame m1-schedule-409"/>
          <p:cNvSpPr/>
          <p:nvPr/>
        </p:nvSpPr>
        <p:spPr>
          <a:xfrm>
            <a:off x="493776" y="1635252"/>
            <a:ext cx="5596128" cy="3678936"/>
          </a:xfrm>
          <a:prstGeom prst="roundRect">
            <a:avLst>
              <a:gd name="adj" fmla="val 1491"/>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m1-schedule-409" descr="m1-schedule-409">    </p:cNvPr>
          <p:cNvPicPr>
            <a:picLocks noChangeAspect="1"/>
          </p:cNvPicPr>
          <p:nvPr/>
        </p:nvPicPr>
        <p:blipFill>
          <a:blip r:embed="rId1"/>
          <a:stretch>
            <a:fillRect/>
          </a:stretch>
        </p:blipFill>
        <p:spPr>
          <a:xfrm>
            <a:off x="548640" y="1690116"/>
            <a:ext cx="5486400" cy="3569208"/>
          </a:xfrm>
          <a:prstGeom prst="rect">
            <a:avLst/>
          </a:prstGeom>
        </p:spPr>
      </p:pic>
      <p:sp>
        <p:nvSpPr>
          <p:cNvPr id="6" name="caption"/>
          <p:cNvSpPr txBox="1"/>
          <p:nvPr/>
        </p:nvSpPr>
        <p:spPr>
          <a:xfrm>
            <a:off x="493776" y="5387340"/>
            <a:ext cx="5596128" cy="365760"/>
          </a:xfrm>
          <a:prstGeom prst="rect">
            <a:avLst/>
          </a:prstGeom>
          <a:noFill/>
          <a:ln/>
        </p:spPr>
        <p:txBody>
          <a:bodyPr wrap="square" lIns="0" tIns="0" rIns="0" bIns="0" rtlCol="0" anchor="ctr"/>
          <a:lstStyle/>
          <a:p>
            <a:pPr algn="ctr" indent="0" marL="0">
              <a:buNone/>
            </a:pPr>
            <a:r>
              <a:rPr lang="en-US" sz="1400" dirty="0">
                <a:solidFill>
                  <a:schemeClr val="accent6"/>
                </a:solidFill>
              </a:rPr>
              <a:t>A taken slot shows an inline error, not a crash</a:t>
            </a:r>
            <a:endParaRPr lang="en-US" sz="1400" dirty="0"/>
          </a:p>
        </p:txBody>
      </p:sp>
      <p:sp>
        <p:nvSpPr>
          <p:cNvPr id="7" name="frame m1-mobile"/>
          <p:cNvSpPr/>
          <p:nvPr/>
        </p:nvSpPr>
        <p:spPr>
          <a:xfrm>
            <a:off x="6117336" y="1635252"/>
            <a:ext cx="5596128" cy="3678936"/>
          </a:xfrm>
          <a:prstGeom prst="roundRect">
            <a:avLst>
              <a:gd name="adj" fmla="val 1491"/>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8" name="m1-mobile" descr="m1-mobile">    </p:cNvPr>
          <p:cNvPicPr>
            <a:picLocks noChangeAspect="1"/>
          </p:cNvPicPr>
          <p:nvPr/>
        </p:nvPicPr>
        <p:blipFill>
          <a:blip r:embed="rId2"/>
          <a:stretch>
            <a:fillRect/>
          </a:stretch>
        </p:blipFill>
        <p:spPr>
          <a:xfrm>
            <a:off x="6172200" y="1690116"/>
            <a:ext cx="5486400" cy="3569208"/>
          </a:xfrm>
          <a:prstGeom prst="rect">
            <a:avLst/>
          </a:prstGeom>
        </p:spPr>
      </p:pic>
      <p:sp>
        <p:nvSpPr>
          <p:cNvPr id="9" name="caption"/>
          <p:cNvSpPr txBox="1"/>
          <p:nvPr/>
        </p:nvSpPr>
        <p:spPr>
          <a:xfrm>
            <a:off x="6117336" y="5387340"/>
            <a:ext cx="5596128" cy="365760"/>
          </a:xfrm>
          <a:prstGeom prst="rect">
            <a:avLst/>
          </a:prstGeom>
          <a:noFill/>
          <a:ln/>
        </p:spPr>
        <p:txBody>
          <a:bodyPr wrap="square" lIns="0" tIns="0" rIns="0" bIns="0" rtlCol="0" anchor="ctr"/>
          <a:lstStyle/>
          <a:p>
            <a:pPr algn="ctr" indent="0" marL="0">
              <a:buNone/>
            </a:pPr>
            <a:r>
              <a:rPr lang="en-US" sz="1400" dirty="0">
                <a:solidFill>
                  <a:schemeClr val="accent6"/>
                </a:solidFill>
              </a:rPr>
              <a:t>The layout adapts down to 375 px</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Every appointment follows one lifecycle</a:t>
            </a:r>
            <a:endParaRPr lang="en-US" sz="3400" dirty="0"/>
          </a:p>
        </p:txBody>
      </p:sp>
      <p:sp>
        <p:nvSpPr>
          <p:cNvPr id="4" name="box BOOKED"/>
          <p:cNvSpPr/>
          <p:nvPr/>
        </p:nvSpPr>
        <p:spPr>
          <a:xfrm>
            <a:off x="548640" y="1737360"/>
            <a:ext cx="2286000" cy="914400"/>
          </a:xfrm>
          <a:prstGeom prst="roundRect">
            <a:avLst>
              <a:gd name="adj" fmla="val 12000"/>
            </a:avLst>
          </a:prstGeom>
          <a:solidFill>
            <a:schemeClr val="accent1"/>
          </a:solidFill>
          <a:ln/>
          <a:effectLst>
            <a:outerShdw sx="100000" sy="100000" kx="0" ky="0" algn="bl" rotWithShape="0" blurRad="127000" dist="38100" dir="5400000">
              <a:srgbClr val="000000">
                <a:alpha val="22000"/>
              </a:srgbClr>
            </a:outerShdw>
          </a:effectLst>
        </p:spPr>
      </p:sp>
      <p:sp>
        <p:nvSpPr>
          <p:cNvPr id="5" name="label BOOKED"/>
          <p:cNvSpPr txBox="1"/>
          <p:nvPr/>
        </p:nvSpPr>
        <p:spPr>
          <a:xfrm>
            <a:off x="548640" y="1737360"/>
            <a:ext cx="2286000" cy="914400"/>
          </a:xfrm>
          <a:prstGeom prst="rect">
            <a:avLst/>
          </a:prstGeom>
          <a:noFill/>
          <a:ln/>
        </p:spPr>
        <p:txBody>
          <a:bodyPr wrap="square" lIns="762" tIns="762" rIns="762" bIns="762" rtlCol="0" anchor="ctr"/>
          <a:lstStyle/>
          <a:p>
            <a:pPr algn="ctr" indent="0" marL="0">
              <a:buNone/>
            </a:pPr>
            <a:r>
              <a:rPr lang="en-US" sz="1900" b="1" dirty="0">
                <a:solidFill>
                  <a:schemeClr val="bg1"/>
                </a:solidFill>
              </a:rPr>
              <a:t>BOOKED</a:t>
            </a:r>
            <a:endParaRPr lang="en-US" sz="1900" dirty="0"/>
          </a:p>
        </p:txBody>
      </p:sp>
      <p:sp>
        <p:nvSpPr>
          <p:cNvPr id="6" name="arrow"/>
          <p:cNvSpPr/>
          <p:nvPr/>
        </p:nvSpPr>
        <p:spPr>
          <a:xfrm>
            <a:off x="2880360" y="2194560"/>
            <a:ext cx="457200" cy="0"/>
          </a:xfrm>
          <a:prstGeom prst="line">
            <a:avLst/>
          </a:prstGeom>
          <a:noFill/>
          <a:ln w="38100">
            <a:solidFill>
              <a:schemeClr val="tx1"/>
            </a:solidFill>
            <a:prstDash val="solid"/>
            <a:tailEnd type="triangle"/>
          </a:ln>
        </p:spPr>
      </p:sp>
      <p:sp>
        <p:nvSpPr>
          <p:cNvPr id="7" name="box CHECKED IN"/>
          <p:cNvSpPr/>
          <p:nvPr/>
        </p:nvSpPr>
        <p:spPr>
          <a:xfrm>
            <a:off x="3383280" y="1737360"/>
            <a:ext cx="2286000" cy="914400"/>
          </a:xfrm>
          <a:prstGeom prst="roundRect">
            <a:avLst>
              <a:gd name="adj" fmla="val 12000"/>
            </a:avLst>
          </a:prstGeom>
          <a:solidFill>
            <a:schemeClr val="accent2"/>
          </a:solidFill>
          <a:ln/>
          <a:effectLst>
            <a:outerShdw sx="100000" sy="100000" kx="0" ky="0" algn="bl" rotWithShape="0" blurRad="127000" dist="38100" dir="5400000">
              <a:srgbClr val="000000">
                <a:alpha val="22000"/>
              </a:srgbClr>
            </a:outerShdw>
          </a:effectLst>
        </p:spPr>
      </p:sp>
      <p:sp>
        <p:nvSpPr>
          <p:cNvPr id="8" name="label CHECKED IN"/>
          <p:cNvSpPr txBox="1"/>
          <p:nvPr/>
        </p:nvSpPr>
        <p:spPr>
          <a:xfrm>
            <a:off x="3383280" y="1737360"/>
            <a:ext cx="2286000" cy="914400"/>
          </a:xfrm>
          <a:prstGeom prst="rect">
            <a:avLst/>
          </a:prstGeom>
          <a:noFill/>
          <a:ln/>
        </p:spPr>
        <p:txBody>
          <a:bodyPr wrap="square" lIns="762" tIns="762" rIns="762" bIns="762" rtlCol="0" anchor="ctr"/>
          <a:lstStyle/>
          <a:p>
            <a:pPr algn="ctr" indent="0" marL="0">
              <a:buNone/>
            </a:pPr>
            <a:r>
              <a:rPr lang="en-US" sz="1900" b="1" dirty="0">
                <a:solidFill>
                  <a:schemeClr val="tx1"/>
                </a:solidFill>
              </a:rPr>
              <a:t>CHECKED IN</a:t>
            </a:r>
            <a:endParaRPr lang="en-US" sz="1900" dirty="0"/>
          </a:p>
        </p:txBody>
      </p:sp>
      <p:sp>
        <p:nvSpPr>
          <p:cNvPr id="9" name="arrow"/>
          <p:cNvSpPr/>
          <p:nvPr/>
        </p:nvSpPr>
        <p:spPr>
          <a:xfrm>
            <a:off x="5715000" y="2194560"/>
            <a:ext cx="457200" cy="0"/>
          </a:xfrm>
          <a:prstGeom prst="line">
            <a:avLst/>
          </a:prstGeom>
          <a:noFill/>
          <a:ln w="38100">
            <a:solidFill>
              <a:schemeClr val="tx1"/>
            </a:solidFill>
            <a:prstDash val="solid"/>
            <a:tailEnd type="triangle"/>
          </a:ln>
        </p:spPr>
      </p:sp>
      <p:sp>
        <p:nvSpPr>
          <p:cNvPr id="10" name="box IN CONSULTATION"/>
          <p:cNvSpPr/>
          <p:nvPr/>
        </p:nvSpPr>
        <p:spPr>
          <a:xfrm>
            <a:off x="6217920" y="1737360"/>
            <a:ext cx="2286000" cy="914400"/>
          </a:xfrm>
          <a:prstGeom prst="roundRect">
            <a:avLst>
              <a:gd name="adj" fmla="val 12000"/>
            </a:avLst>
          </a:prstGeom>
          <a:solidFill>
            <a:schemeClr val="accent3"/>
          </a:solidFill>
          <a:ln/>
          <a:effectLst>
            <a:outerShdw sx="100000" sy="100000" kx="0" ky="0" algn="bl" rotWithShape="0" blurRad="127000" dist="38100" dir="5400000">
              <a:srgbClr val="000000">
                <a:alpha val="22000"/>
              </a:srgbClr>
            </a:outerShdw>
          </a:effectLst>
        </p:spPr>
      </p:sp>
      <p:sp>
        <p:nvSpPr>
          <p:cNvPr id="11" name="label IN CONSULTATION"/>
          <p:cNvSpPr txBox="1"/>
          <p:nvPr/>
        </p:nvSpPr>
        <p:spPr>
          <a:xfrm>
            <a:off x="6217920" y="1737360"/>
            <a:ext cx="2286000" cy="914400"/>
          </a:xfrm>
          <a:prstGeom prst="rect">
            <a:avLst/>
          </a:prstGeom>
          <a:noFill/>
          <a:ln/>
        </p:spPr>
        <p:txBody>
          <a:bodyPr wrap="square" lIns="762" tIns="762" rIns="762" bIns="762" rtlCol="0" anchor="ctr"/>
          <a:lstStyle/>
          <a:p>
            <a:pPr algn="ctr" indent="0" marL="0">
              <a:buNone/>
            </a:pPr>
            <a:r>
              <a:rPr lang="en-US" sz="1900" b="1" dirty="0">
                <a:solidFill>
                  <a:schemeClr val="bg1"/>
                </a:solidFill>
              </a:rPr>
              <a:t>IN CONSULTATION</a:t>
            </a:r>
            <a:endParaRPr lang="en-US" sz="1900" dirty="0"/>
          </a:p>
        </p:txBody>
      </p:sp>
      <p:sp>
        <p:nvSpPr>
          <p:cNvPr id="12" name="arrow"/>
          <p:cNvSpPr/>
          <p:nvPr/>
        </p:nvSpPr>
        <p:spPr>
          <a:xfrm>
            <a:off x="8549640" y="2194560"/>
            <a:ext cx="457200" cy="0"/>
          </a:xfrm>
          <a:prstGeom prst="line">
            <a:avLst/>
          </a:prstGeom>
          <a:noFill/>
          <a:ln w="38100">
            <a:solidFill>
              <a:schemeClr val="tx1"/>
            </a:solidFill>
            <a:prstDash val="solid"/>
            <a:tailEnd type="triangle"/>
          </a:ln>
        </p:spPr>
      </p:sp>
      <p:sp>
        <p:nvSpPr>
          <p:cNvPr id="13" name="box DONE"/>
          <p:cNvSpPr/>
          <p:nvPr/>
        </p:nvSpPr>
        <p:spPr>
          <a:xfrm>
            <a:off x="9052560" y="1737360"/>
            <a:ext cx="2286000" cy="914400"/>
          </a:xfrm>
          <a:prstGeom prst="roundRect">
            <a:avLst>
              <a:gd name="adj" fmla="val 12000"/>
            </a:avLst>
          </a:prstGeom>
          <a:solidFill>
            <a:schemeClr val="accent4"/>
          </a:solidFill>
          <a:ln/>
          <a:effectLst>
            <a:outerShdw sx="100000" sy="100000" kx="0" ky="0" algn="bl" rotWithShape="0" blurRad="127000" dist="38100" dir="5400000">
              <a:srgbClr val="000000">
                <a:alpha val="22000"/>
              </a:srgbClr>
            </a:outerShdw>
          </a:effectLst>
        </p:spPr>
      </p:sp>
      <p:sp>
        <p:nvSpPr>
          <p:cNvPr id="14" name="label DONE"/>
          <p:cNvSpPr txBox="1"/>
          <p:nvPr/>
        </p:nvSpPr>
        <p:spPr>
          <a:xfrm>
            <a:off x="9052560" y="1737360"/>
            <a:ext cx="2286000" cy="914400"/>
          </a:xfrm>
          <a:prstGeom prst="rect">
            <a:avLst/>
          </a:prstGeom>
          <a:noFill/>
          <a:ln/>
        </p:spPr>
        <p:txBody>
          <a:bodyPr wrap="square" lIns="762" tIns="762" rIns="762" bIns="762" rtlCol="0" anchor="ctr"/>
          <a:lstStyle/>
          <a:p>
            <a:pPr algn="ctr" indent="0" marL="0">
              <a:buNone/>
            </a:pPr>
            <a:r>
              <a:rPr lang="en-US" sz="1900" b="1" dirty="0">
                <a:solidFill>
                  <a:schemeClr val="bg1"/>
                </a:solidFill>
              </a:rPr>
              <a:t>DONE</a:t>
            </a:r>
            <a:endParaRPr lang="en-US" sz="1900" dirty="0"/>
          </a:p>
        </p:txBody>
      </p:sp>
      <p:sp>
        <p:nvSpPr>
          <p:cNvPr id="15" name="box CANCELLED"/>
          <p:cNvSpPr/>
          <p:nvPr/>
        </p:nvSpPr>
        <p:spPr>
          <a:xfrm>
            <a:off x="1965960" y="3383280"/>
            <a:ext cx="2286000" cy="777240"/>
          </a:xfrm>
          <a:prstGeom prst="roundRect">
            <a:avLst>
              <a:gd name="adj" fmla="val 14118"/>
            </a:avLst>
          </a:prstGeom>
          <a:solidFill>
            <a:schemeClr val="accent5"/>
          </a:solidFill>
          <a:ln/>
          <a:effectLst>
            <a:outerShdw sx="100000" sy="100000" kx="0" ky="0" algn="bl" rotWithShape="0" blurRad="127000" dist="38100" dir="5400000">
              <a:srgbClr val="000000">
                <a:alpha val="22000"/>
              </a:srgbClr>
            </a:outerShdw>
          </a:effectLst>
        </p:spPr>
      </p:sp>
      <p:sp>
        <p:nvSpPr>
          <p:cNvPr id="16" name="label CANCELLED"/>
          <p:cNvSpPr txBox="1"/>
          <p:nvPr/>
        </p:nvSpPr>
        <p:spPr>
          <a:xfrm>
            <a:off x="1965960" y="3383280"/>
            <a:ext cx="2286000" cy="777240"/>
          </a:xfrm>
          <a:prstGeom prst="rect">
            <a:avLst/>
          </a:prstGeom>
          <a:noFill/>
          <a:ln/>
        </p:spPr>
        <p:txBody>
          <a:bodyPr wrap="square" lIns="762" tIns="762" rIns="762" bIns="762" rtlCol="0" anchor="ctr"/>
          <a:lstStyle/>
          <a:p>
            <a:pPr algn="ctr" indent="0" marL="0">
              <a:buNone/>
            </a:pPr>
            <a:r>
              <a:rPr lang="en-US" sz="1800" b="1" dirty="0">
                <a:solidFill>
                  <a:schemeClr val="bg1"/>
                </a:solidFill>
              </a:rPr>
              <a:t>CANCELLED</a:t>
            </a:r>
            <a:endParaRPr lang="en-US" sz="1800" dirty="0"/>
          </a:p>
        </p:txBody>
      </p:sp>
      <p:sp>
        <p:nvSpPr>
          <p:cNvPr id="17" name="arrow"/>
          <p:cNvSpPr/>
          <p:nvPr/>
        </p:nvSpPr>
        <p:spPr>
          <a:xfrm>
            <a:off x="1691640" y="2697480"/>
            <a:ext cx="685800" cy="640080"/>
          </a:xfrm>
          <a:prstGeom prst="line">
            <a:avLst/>
          </a:prstGeom>
          <a:noFill/>
          <a:ln w="31750">
            <a:solidFill>
              <a:schemeClr val="accent5"/>
            </a:solidFill>
            <a:prstDash val="solid"/>
            <a:tailEnd type="triangle"/>
          </a:ln>
        </p:spPr>
      </p:sp>
      <p:sp>
        <p:nvSpPr>
          <p:cNvPr id="18" name="arrow"/>
          <p:cNvSpPr/>
          <p:nvPr/>
        </p:nvSpPr>
        <p:spPr>
          <a:xfrm flipH="1">
            <a:off x="3931920" y="2697480"/>
            <a:ext cx="640080" cy="640080"/>
          </a:xfrm>
          <a:prstGeom prst="line">
            <a:avLst/>
          </a:prstGeom>
          <a:noFill/>
          <a:ln w="31750">
            <a:solidFill>
              <a:schemeClr val="accent5"/>
            </a:solidFill>
            <a:prstDash val="solid"/>
            <a:tailEnd type="triangle"/>
          </a:ln>
        </p:spPr>
      </p:sp>
      <p:sp>
        <p:nvSpPr>
          <p:cNvPr id="19" name="card"/>
          <p:cNvSpPr/>
          <p:nvPr/>
        </p:nvSpPr>
        <p:spPr>
          <a:xfrm>
            <a:off x="548640" y="4480560"/>
            <a:ext cx="3520440" cy="1600200"/>
          </a:xfrm>
          <a:prstGeom prst="roundRect">
            <a:avLst>
              <a:gd name="adj" fmla="val 8000"/>
            </a:avLst>
          </a:prstGeom>
          <a:solidFill>
            <a:schemeClr val="bg2"/>
          </a:solidFill>
          <a:ln/>
        </p:spPr>
      </p:sp>
      <p:sp>
        <p:nvSpPr>
          <p:cNvPr id="20" name="icon bg FaBan"/>
          <p:cNvSpPr/>
          <p:nvPr/>
        </p:nvSpPr>
        <p:spPr>
          <a:xfrm>
            <a:off x="777240" y="4663440"/>
            <a:ext cx="640080" cy="640080"/>
          </a:xfrm>
          <a:prstGeom prst="ellipse">
            <a:avLst/>
          </a:prstGeom>
          <a:solidFill>
            <a:schemeClr val="accent1"/>
          </a:solidFill>
          <a:ln/>
        </p:spPr>
      </p:sp>
      <p:pic>
        <p:nvPicPr>
          <p:cNvPr id="21" name="icon FaBan" descr="FaBan">    </p:cNvPr>
          <p:cNvPicPr>
            <a:picLocks noChangeAspect="1"/>
          </p:cNvPicPr>
          <p:nvPr/>
        </p:nvPicPr>
        <p:blipFill>
          <a:blip r:embed="rId1"/>
          <a:stretch>
            <a:fillRect/>
          </a:stretch>
        </p:blipFill>
        <p:spPr>
          <a:xfrm>
            <a:off x="950062" y="4836262"/>
            <a:ext cx="294437" cy="294437"/>
          </a:xfrm>
          <a:prstGeom prst="rect">
            <a:avLst/>
          </a:prstGeom>
        </p:spPr>
      </p:pic>
      <p:sp>
        <p:nvSpPr>
          <p:cNvPr id="22" name="rule text"/>
          <p:cNvSpPr txBox="1"/>
          <p:nvPr/>
        </p:nvSpPr>
        <p:spPr>
          <a:xfrm>
            <a:off x="1554480" y="4572000"/>
            <a:ext cx="2331720" cy="1371600"/>
          </a:xfrm>
          <a:prstGeom prst="rect">
            <a:avLst/>
          </a:prstGeom>
          <a:noFill/>
          <a:ln/>
        </p:spPr>
        <p:txBody>
          <a:bodyPr wrap="square" lIns="0" tIns="0" rIns="0" bIns="0" rtlCol="0" anchor="ctr"/>
          <a:lstStyle/>
          <a:p>
            <a:pPr indent="0" marL="0">
              <a:buNone/>
            </a:pPr>
            <a:r>
              <a:rPr lang="en-US" sz="1700" dirty="0">
                <a:solidFill>
                  <a:schemeClr val="tx1"/>
                </a:solidFill>
              </a:rPr>
              <a:t>Illegal moves return 409 and list the allowed next steps</a:t>
            </a:r>
            <a:endParaRPr lang="en-US" sz="1700" dirty="0"/>
          </a:p>
        </p:txBody>
      </p:sp>
      <p:sp>
        <p:nvSpPr>
          <p:cNvPr id="23" name="card"/>
          <p:cNvSpPr/>
          <p:nvPr/>
        </p:nvSpPr>
        <p:spPr>
          <a:xfrm>
            <a:off x="4297680" y="4480560"/>
            <a:ext cx="3520440" cy="1600200"/>
          </a:xfrm>
          <a:prstGeom prst="roundRect">
            <a:avLst>
              <a:gd name="adj" fmla="val 8000"/>
            </a:avLst>
          </a:prstGeom>
          <a:solidFill>
            <a:schemeClr val="bg2"/>
          </a:solidFill>
          <a:ln/>
        </p:spPr>
      </p:sp>
      <p:sp>
        <p:nvSpPr>
          <p:cNvPr id="24" name="icon bg FaClock"/>
          <p:cNvSpPr/>
          <p:nvPr/>
        </p:nvSpPr>
        <p:spPr>
          <a:xfrm>
            <a:off x="4526280" y="4663440"/>
            <a:ext cx="640080" cy="640080"/>
          </a:xfrm>
          <a:prstGeom prst="ellipse">
            <a:avLst/>
          </a:prstGeom>
          <a:solidFill>
            <a:schemeClr val="accent1"/>
          </a:solidFill>
          <a:ln/>
        </p:spPr>
      </p:sp>
      <p:pic>
        <p:nvPicPr>
          <p:cNvPr id="25" name="icon FaClock" descr="FaClock">    </p:cNvPr>
          <p:cNvPicPr>
            <a:picLocks noChangeAspect="1"/>
          </p:cNvPicPr>
          <p:nvPr/>
        </p:nvPicPr>
        <p:blipFill>
          <a:blip r:embed="rId2"/>
          <a:stretch>
            <a:fillRect/>
          </a:stretch>
        </p:blipFill>
        <p:spPr>
          <a:xfrm>
            <a:off x="4699102" y="4836262"/>
            <a:ext cx="294437" cy="294437"/>
          </a:xfrm>
          <a:prstGeom prst="rect">
            <a:avLst/>
          </a:prstGeom>
        </p:spPr>
      </p:pic>
      <p:sp>
        <p:nvSpPr>
          <p:cNvPr id="26" name="rule text"/>
          <p:cNvSpPr txBox="1"/>
          <p:nvPr/>
        </p:nvSpPr>
        <p:spPr>
          <a:xfrm>
            <a:off x="5303520" y="4572000"/>
            <a:ext cx="2331720" cy="1371600"/>
          </a:xfrm>
          <a:prstGeom prst="rect">
            <a:avLst/>
          </a:prstGeom>
          <a:noFill/>
          <a:ln/>
        </p:spPr>
        <p:txBody>
          <a:bodyPr wrap="square" lIns="0" tIns="0" rIns="0" bIns="0" rtlCol="0" anchor="ctr"/>
          <a:lstStyle/>
          <a:p>
            <a:pPr indent="0" marL="0">
              <a:buNone/>
            </a:pPr>
            <a:r>
              <a:rPr lang="en-US" sz="1700" dirty="0">
                <a:solidFill>
                  <a:schemeClr val="tx1"/>
                </a:solidFill>
              </a:rPr>
              <a:t>Each move stamps a time, so the board shows live waiting</a:t>
            </a:r>
            <a:endParaRPr lang="en-US" sz="1700" dirty="0"/>
          </a:p>
        </p:txBody>
      </p:sp>
      <p:sp>
        <p:nvSpPr>
          <p:cNvPr id="27" name="card"/>
          <p:cNvSpPr/>
          <p:nvPr/>
        </p:nvSpPr>
        <p:spPr>
          <a:xfrm>
            <a:off x="8046720" y="4480560"/>
            <a:ext cx="3520440" cy="1600200"/>
          </a:xfrm>
          <a:prstGeom prst="roundRect">
            <a:avLst>
              <a:gd name="adj" fmla="val 8000"/>
            </a:avLst>
          </a:prstGeom>
          <a:solidFill>
            <a:schemeClr val="bg2"/>
          </a:solidFill>
          <a:ln/>
        </p:spPr>
      </p:sp>
      <p:sp>
        <p:nvSpPr>
          <p:cNvPr id="28" name="icon bg FaUnlock"/>
          <p:cNvSpPr/>
          <p:nvPr/>
        </p:nvSpPr>
        <p:spPr>
          <a:xfrm>
            <a:off x="8275320" y="4663440"/>
            <a:ext cx="640080" cy="640080"/>
          </a:xfrm>
          <a:prstGeom prst="ellipse">
            <a:avLst/>
          </a:prstGeom>
          <a:solidFill>
            <a:schemeClr val="accent1"/>
          </a:solidFill>
          <a:ln/>
        </p:spPr>
      </p:sp>
      <p:pic>
        <p:nvPicPr>
          <p:cNvPr id="29" name="icon FaUnlock" descr="FaUnlock">    </p:cNvPr>
          <p:cNvPicPr>
            <a:picLocks noChangeAspect="1"/>
          </p:cNvPicPr>
          <p:nvPr/>
        </p:nvPicPr>
        <p:blipFill>
          <a:blip r:embed="rId3"/>
          <a:stretch>
            <a:fillRect/>
          </a:stretch>
        </p:blipFill>
        <p:spPr>
          <a:xfrm>
            <a:off x="8448142" y="4836262"/>
            <a:ext cx="294437" cy="294437"/>
          </a:xfrm>
          <a:prstGeom prst="rect">
            <a:avLst/>
          </a:prstGeom>
        </p:spPr>
      </p:pic>
      <p:sp>
        <p:nvSpPr>
          <p:cNvPr id="30" name="rule text"/>
          <p:cNvSpPr txBox="1"/>
          <p:nvPr/>
        </p:nvSpPr>
        <p:spPr>
          <a:xfrm>
            <a:off x="9052560" y="4572000"/>
            <a:ext cx="2331720" cy="1371600"/>
          </a:xfrm>
          <a:prstGeom prst="rect">
            <a:avLst/>
          </a:prstGeom>
          <a:noFill/>
          <a:ln/>
        </p:spPr>
        <p:txBody>
          <a:bodyPr wrap="square" lIns="0" tIns="0" rIns="0" bIns="0" rtlCol="0" anchor="ctr"/>
          <a:lstStyle/>
          <a:p>
            <a:pPr indent="0" marL="0">
              <a:buNone/>
            </a:pPr>
            <a:r>
              <a:rPr lang="en-US" sz="1700" dirty="0">
                <a:solidFill>
                  <a:schemeClr val="tx1"/>
                </a:solidFill>
              </a:rPr>
              <a:t>Cancelling frees the slot for the next patient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PostgreSQL blocks double bookings, not the app</a:t>
            </a:r>
            <a:endParaRPr lang="en-US" sz="3400" dirty="0"/>
          </a:p>
        </p:txBody>
      </p:sp>
      <p:sp>
        <p:nvSpPr>
          <p:cNvPr id="4" name="code card"/>
          <p:cNvSpPr/>
          <p:nvPr/>
        </p:nvSpPr>
        <p:spPr>
          <a:xfrm>
            <a:off x="548640" y="1508760"/>
            <a:ext cx="6035040" cy="2880360"/>
          </a:xfrm>
          <a:prstGeom prst="roundRect">
            <a:avLst>
              <a:gd name="adj" fmla="val 4444"/>
            </a:avLst>
          </a:prstGeom>
          <a:solidFill>
            <a:schemeClr val="tx1"/>
          </a:solidFill>
          <a:ln/>
          <a:effectLst>
            <a:outerShdw sx="100000" sy="100000" kx="0" ky="0" algn="bl" rotWithShape="0" blurRad="127000" dist="38100" dir="5400000">
              <a:srgbClr val="000000">
                <a:alpha val="22000"/>
              </a:srgbClr>
            </a:outerShdw>
          </a:effectLst>
        </p:spPr>
      </p:sp>
      <p:sp>
        <p:nvSpPr>
          <p:cNvPr id="5" name="sql"/>
          <p:cNvSpPr txBox="1"/>
          <p:nvPr/>
        </p:nvSpPr>
        <p:spPr>
          <a:xfrm>
            <a:off x="822960" y="1645920"/>
            <a:ext cx="5577840" cy="2606040"/>
          </a:xfrm>
          <a:prstGeom prst="rect">
            <a:avLst/>
          </a:prstGeom>
          <a:noFill/>
          <a:ln/>
        </p:spPr>
        <p:txBody>
          <a:bodyPr wrap="square" lIns="0" tIns="0" rIns="0" bIns="0" rtlCol="0" anchor="ctr"/>
          <a:lstStyle/>
          <a:p>
            <a:pPr indent="0" marL="0">
              <a:buNone/>
            </a:pPr>
            <a:r>
              <a:rPr lang="en-US" sz="1700" dirty="0">
                <a:solidFill>
                  <a:schemeClr val="bg2"/>
                </a:solidFill>
                <a:latin typeface="Courier New" pitchFamily="34" charset="0"/>
                <a:ea typeface="Courier New" pitchFamily="34" charset="-122"/>
                <a:cs typeface="Courier New" pitchFamily="34" charset="-120"/>
              </a:rPr>
              <a:t>EXCLUDE USING gist (</a:t>
            </a:r>
            <a:endParaRPr lang="en-US" sz="1700" dirty="0"/>
          </a:p>
          <a:p>
            <a:pPr indent="0" marL="0">
              <a:buNone/>
            </a:pPr>
            <a:r>
              <a:rPr lang="en-US" sz="1700" dirty="0">
                <a:solidFill>
                  <a:schemeClr val="bg2"/>
                </a:solidFill>
                <a:latin typeface="Courier New" pitchFamily="34" charset="0"/>
                <a:ea typeface="Courier New" pitchFamily="34" charset="-122"/>
                <a:cs typeface="Courier New" pitchFamily="34" charset="-120"/>
              </a:rPr>
              <a:t>  doctor_id WITH =,</a:t>
            </a:r>
            <a:endParaRPr lang="en-US" sz="1700" dirty="0"/>
          </a:p>
          <a:p>
            <a:pPr indent="0" marL="0">
              <a:buNone/>
            </a:pPr>
            <a:r>
              <a:rPr lang="en-US" sz="1700" dirty="0">
                <a:solidFill>
                  <a:schemeClr val="bg2"/>
                </a:solidFill>
                <a:latin typeface="Courier New" pitchFamily="34" charset="0"/>
                <a:ea typeface="Courier New" pitchFamily="34" charset="-122"/>
                <a:cs typeface="Courier New" pitchFamily="34" charset="-120"/>
              </a:rPr>
              <a:t>  tstzrange(starts_at, ends_at, '[)')</a:t>
            </a:r>
            <a:endParaRPr lang="en-US" sz="1700" dirty="0"/>
          </a:p>
          <a:p>
            <a:pPr indent="0" marL="0">
              <a:buNone/>
            </a:pPr>
            <a:r>
              <a:rPr lang="en-US" sz="1700" dirty="0">
                <a:solidFill>
                  <a:schemeClr val="bg2"/>
                </a:solidFill>
                <a:latin typeface="Courier New" pitchFamily="34" charset="0"/>
                <a:ea typeface="Courier New" pitchFamily="34" charset="-122"/>
                <a:cs typeface="Courier New" pitchFamily="34" charset="-120"/>
              </a:rPr>
              <a:t>    WITH &amp;&amp;</a:t>
            </a:r>
            <a:endParaRPr lang="en-US" sz="1700" dirty="0"/>
          </a:p>
          <a:p>
            <a:pPr indent="0" marL="0">
              <a:buNone/>
            </a:pPr>
            <a:r>
              <a:rPr lang="en-US" sz="1700" dirty="0">
                <a:solidFill>
                  <a:schemeClr val="bg2"/>
                </a:solidFill>
                <a:latin typeface="Courier New" pitchFamily="34" charset="0"/>
                <a:ea typeface="Courier New" pitchFamily="34" charset="-122"/>
                <a:cs typeface="Courier New" pitchFamily="34" charset="-120"/>
              </a:rPr>
              <a:t>) WHERE (status &lt;&gt; 'CANCELLED')</a:t>
            </a:r>
            <a:endParaRPr lang="en-US" sz="1700" dirty="0"/>
          </a:p>
        </p:txBody>
      </p:sp>
      <p:sp>
        <p:nvSpPr>
          <p:cNvPr id="6" name="bullets"/>
          <p:cNvSpPr txBox="1"/>
          <p:nvPr/>
        </p:nvSpPr>
        <p:spPr>
          <a:xfrm>
            <a:off x="6903720" y="1554480"/>
            <a:ext cx="4754880" cy="2926080"/>
          </a:xfrm>
          <a:prstGeom prst="rect">
            <a:avLst/>
          </a:prstGeom>
          <a:noFill/>
          <a:ln/>
        </p:spPr>
        <p:txBody>
          <a:bodyPr wrap="square" lIns="0" tIns="0" rIns="0" bIns="0" rtlCol="0" anchor="t"/>
          <a:lstStyle/>
          <a:p>
            <a:pPr marL="228600" indent="-228600">
              <a:spcAft>
                <a:spcPts val="1200"/>
              </a:spcAft>
              <a:buSzPct val="100000"/>
              <a:buChar char="•"/>
            </a:pPr>
            <a:r>
              <a:rPr lang="en-US" sz="1900" b="1" dirty="0">
                <a:solidFill>
                  <a:schemeClr val="tx1"/>
                </a:solidFill>
              </a:rPr>
              <a:t>Atomic: </a:t>
            </a:r>
            <a:pPr indent="0" marL="0">
              <a:spcAft>
                <a:spcPts val="1200"/>
              </a:spcAft>
              <a:buNone/>
            </a:pPr>
            <a:r>
              <a:rPr lang="en-US" sz="1900" dirty="0">
                <a:solidFill>
                  <a:schemeClr val="tx1"/>
                </a:solidFill>
              </a:rPr>
              <a:t>the database decides, so two clicks in the same millisecond cannot both win</a:t>
            </a:r>
            <a:endParaRPr lang="en-US" sz="1900" dirty="0"/>
          </a:p>
          <a:p>
            <a:pPr marL="228600" indent="-228600">
              <a:spcAft>
                <a:spcPts val="1200"/>
              </a:spcAft>
              <a:buSzPct val="100000"/>
              <a:buChar char="•"/>
            </a:pPr>
            <a:r>
              <a:rPr lang="en-US" sz="1900" b="1" dirty="0">
                <a:solidFill>
                  <a:schemeClr val="tx1"/>
                </a:solidFill>
              </a:rPr>
              <a:t>Precise: </a:t>
            </a:r>
            <a:pPr indent="0" marL="0">
              <a:spcAft>
                <a:spcPts val="1200"/>
              </a:spcAft>
              <a:buNone/>
            </a:pPr>
            <a:r>
              <a:rPr lang="en-US" sz="1900" dirty="0">
                <a:solidFill>
                  <a:schemeClr val="tx1"/>
                </a:solidFill>
              </a:rPr>
              <a:t>partial overlaps fail, back-to-back slots pass</a:t>
            </a:r>
            <a:endParaRPr lang="en-US" sz="1900" dirty="0"/>
          </a:p>
          <a:p>
            <a:pPr marL="228600" indent="-228600">
              <a:spcAft>
                <a:spcPts val="1200"/>
              </a:spcAft>
              <a:buSzPct val="100000"/>
              <a:buChar char="•"/>
            </a:pPr>
            <a:r>
              <a:rPr lang="en-US" sz="1900" b="1" dirty="0">
                <a:solidFill>
                  <a:schemeClr val="tx1"/>
                </a:solidFill>
              </a:rPr>
              <a:t>Self-healing: </a:t>
            </a:r>
            <a:pPr indent="0" marL="0">
              <a:spcAft>
                <a:spcPts val="1200"/>
              </a:spcAft>
              <a:buNone/>
            </a:pPr>
            <a:r>
              <a:rPr lang="en-US" sz="1900" dirty="0">
                <a:solidFill>
                  <a:schemeClr val="tx1"/>
                </a:solidFill>
              </a:rPr>
              <a:t>cancelling frees the slot at once</a:t>
            </a:r>
            <a:endParaRPr lang="en-US" sz="1900" dirty="0"/>
          </a:p>
        </p:txBody>
      </p:sp>
      <p:sp>
        <p:nvSpPr>
          <p:cNvPr id="7" name="card"/>
          <p:cNvSpPr/>
          <p:nvPr/>
        </p:nvSpPr>
        <p:spPr>
          <a:xfrm>
            <a:off x="548640" y="4709160"/>
            <a:ext cx="11094415" cy="1417320"/>
          </a:xfrm>
          <a:prstGeom prst="roundRect">
            <a:avLst>
              <a:gd name="adj" fmla="val 9032"/>
            </a:avLst>
          </a:prstGeom>
          <a:solidFill>
            <a:schemeClr val="accent1"/>
          </a:solidFill>
          <a:ln/>
        </p:spPr>
      </p:sp>
      <p:sp>
        <p:nvSpPr>
          <p:cNvPr id="8" name="proof"/>
          <p:cNvSpPr txBox="1"/>
          <p:nvPr/>
        </p:nvSpPr>
        <p:spPr>
          <a:xfrm>
            <a:off x="914400" y="4754880"/>
            <a:ext cx="10362895" cy="1325880"/>
          </a:xfrm>
          <a:prstGeom prst="rect">
            <a:avLst/>
          </a:prstGeom>
          <a:noFill/>
          <a:ln/>
        </p:spPr>
        <p:txBody>
          <a:bodyPr wrap="square" lIns="0" tIns="0" rIns="0" bIns="0" rtlCol="0" anchor="ctr"/>
          <a:lstStyle/>
          <a:p>
            <a:pPr indent="0" marL="0">
              <a:buNone/>
            </a:pPr>
            <a:r>
              <a:rPr lang="en-US" sz="2100" b="1" dirty="0">
                <a:solidFill>
                  <a:schemeClr val="bg1"/>
                </a:solidFill>
              </a:rPr>
              <a:t>The proof: </a:t>
            </a:r>
            <a:pPr indent="0" marL="0">
              <a:buNone/>
            </a:pPr>
            <a:r>
              <a:rPr lang="en-US" sz="2100" dirty="0">
                <a:solidFill>
                  <a:schemeClr val="bg1"/>
                </a:solidFill>
              </a:rPr>
              <a:t>a concurrency test fires two bookings at once. One request returns 201 and the other returns 409 SLOT_TAKEN.</a:t>
            </a:r>
            <a:endParaRPr lang="en-US" sz="2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Sixteen endpoints plus three ops probes</a:t>
            </a:r>
            <a:endParaRPr lang="en-US" sz="3400" dirty="0"/>
          </a:p>
        </p:txBody>
      </p:sp>
      <p:sp>
        <p:nvSpPr>
          <p:cNvPr id="4" name="card"/>
          <p:cNvSpPr/>
          <p:nvPr/>
        </p:nvSpPr>
        <p:spPr>
          <a:xfrm>
            <a:off x="548640" y="1463040"/>
            <a:ext cx="5212080" cy="822960"/>
          </a:xfrm>
          <a:prstGeom prst="roundRect">
            <a:avLst>
              <a:gd name="adj" fmla="val 15556"/>
            </a:avLst>
          </a:prstGeom>
          <a:solidFill>
            <a:schemeClr val="bg2"/>
          </a:solidFill>
          <a:ln/>
        </p:spPr>
      </p:sp>
      <p:sp>
        <p:nvSpPr>
          <p:cNvPr id="5" name="group name"/>
          <p:cNvSpPr txBox="1"/>
          <p:nvPr/>
        </p:nvSpPr>
        <p:spPr>
          <a:xfrm>
            <a:off x="777240" y="1508760"/>
            <a:ext cx="4846320" cy="365760"/>
          </a:xfrm>
          <a:prstGeom prst="rect">
            <a:avLst/>
          </a:prstGeom>
          <a:noFill/>
          <a:ln/>
        </p:spPr>
        <p:txBody>
          <a:bodyPr wrap="square" lIns="0" tIns="0" rIns="0" bIns="0" rtlCol="0" anchor="ctr"/>
          <a:lstStyle/>
          <a:p>
            <a:pPr indent="0" marL="0">
              <a:buNone/>
            </a:pPr>
            <a:r>
              <a:rPr lang="en-US" sz="2000" b="1" dirty="0">
                <a:solidFill>
                  <a:schemeClr val="accent1"/>
                </a:solidFill>
              </a:rPr>
              <a:t>Doctors</a:t>
            </a:r>
            <a:endParaRPr lang="en-US" sz="2000" dirty="0"/>
          </a:p>
        </p:txBody>
      </p:sp>
      <p:sp>
        <p:nvSpPr>
          <p:cNvPr id="6" name="group desc"/>
          <p:cNvSpPr txBox="1"/>
          <p:nvPr/>
        </p:nvSpPr>
        <p:spPr>
          <a:xfrm>
            <a:off x="777240" y="1865376"/>
            <a:ext cx="4846320" cy="365760"/>
          </a:xfrm>
          <a:prstGeom prst="rect">
            <a:avLst/>
          </a:prstGeom>
          <a:noFill/>
          <a:ln/>
        </p:spPr>
        <p:txBody>
          <a:bodyPr wrap="square" lIns="0" tIns="0" rIns="0" bIns="0" rtlCol="0" anchor="ctr"/>
          <a:lstStyle/>
          <a:p>
            <a:pPr indent="0" marL="0">
              <a:buNone/>
            </a:pPr>
            <a:r>
              <a:rPr lang="en-US" sz="1500" dirty="0">
                <a:solidFill>
                  <a:schemeClr val="tx1"/>
                </a:solidFill>
              </a:rPr>
              <a:t>list · create · update · availability</a:t>
            </a:r>
            <a:endParaRPr lang="en-US" sz="1500" dirty="0"/>
          </a:p>
        </p:txBody>
      </p:sp>
      <p:sp>
        <p:nvSpPr>
          <p:cNvPr id="7" name="card"/>
          <p:cNvSpPr/>
          <p:nvPr/>
        </p:nvSpPr>
        <p:spPr>
          <a:xfrm>
            <a:off x="548640" y="2395728"/>
            <a:ext cx="5212080" cy="822960"/>
          </a:xfrm>
          <a:prstGeom prst="roundRect">
            <a:avLst>
              <a:gd name="adj" fmla="val 15556"/>
            </a:avLst>
          </a:prstGeom>
          <a:solidFill>
            <a:schemeClr val="bg2"/>
          </a:solidFill>
          <a:ln/>
        </p:spPr>
      </p:sp>
      <p:sp>
        <p:nvSpPr>
          <p:cNvPr id="8" name="group name"/>
          <p:cNvSpPr txBox="1"/>
          <p:nvPr/>
        </p:nvSpPr>
        <p:spPr>
          <a:xfrm>
            <a:off x="777240" y="2441448"/>
            <a:ext cx="4846320" cy="365760"/>
          </a:xfrm>
          <a:prstGeom prst="rect">
            <a:avLst/>
          </a:prstGeom>
          <a:noFill/>
          <a:ln/>
        </p:spPr>
        <p:txBody>
          <a:bodyPr wrap="square" lIns="0" tIns="0" rIns="0" bIns="0" rtlCol="0" anchor="ctr"/>
          <a:lstStyle/>
          <a:p>
            <a:pPr indent="0" marL="0">
              <a:buNone/>
            </a:pPr>
            <a:r>
              <a:rPr lang="en-US" sz="2000" b="1" dirty="0">
                <a:solidFill>
                  <a:schemeClr val="accent1"/>
                </a:solidFill>
              </a:rPr>
              <a:t>Patients</a:t>
            </a:r>
            <a:endParaRPr lang="en-US" sz="2000" dirty="0"/>
          </a:p>
        </p:txBody>
      </p:sp>
      <p:sp>
        <p:nvSpPr>
          <p:cNvPr id="9" name="group desc"/>
          <p:cNvSpPr txBox="1"/>
          <p:nvPr/>
        </p:nvSpPr>
        <p:spPr>
          <a:xfrm>
            <a:off x="777240" y="2798064"/>
            <a:ext cx="4846320" cy="365760"/>
          </a:xfrm>
          <a:prstGeom prst="rect">
            <a:avLst/>
          </a:prstGeom>
          <a:noFill/>
          <a:ln/>
        </p:spPr>
        <p:txBody>
          <a:bodyPr wrap="square" lIns="0" tIns="0" rIns="0" bIns="0" rtlCol="0" anchor="ctr"/>
          <a:lstStyle/>
          <a:p>
            <a:pPr indent="0" marL="0">
              <a:buNone/>
            </a:pPr>
            <a:r>
              <a:rPr lang="en-US" sz="1500" dirty="0">
                <a:solidFill>
                  <a:schemeClr val="tx1"/>
                </a:solidFill>
              </a:rPr>
              <a:t>search · detail · create · update · delete</a:t>
            </a:r>
            <a:endParaRPr lang="en-US" sz="1500" dirty="0"/>
          </a:p>
        </p:txBody>
      </p:sp>
      <p:sp>
        <p:nvSpPr>
          <p:cNvPr id="10" name="card"/>
          <p:cNvSpPr/>
          <p:nvPr/>
        </p:nvSpPr>
        <p:spPr>
          <a:xfrm>
            <a:off x="548640" y="3328416"/>
            <a:ext cx="5212080" cy="822960"/>
          </a:xfrm>
          <a:prstGeom prst="roundRect">
            <a:avLst>
              <a:gd name="adj" fmla="val 15556"/>
            </a:avLst>
          </a:prstGeom>
          <a:solidFill>
            <a:schemeClr val="bg2"/>
          </a:solidFill>
          <a:ln/>
        </p:spPr>
      </p:sp>
      <p:sp>
        <p:nvSpPr>
          <p:cNvPr id="11" name="group name"/>
          <p:cNvSpPr txBox="1"/>
          <p:nvPr/>
        </p:nvSpPr>
        <p:spPr>
          <a:xfrm>
            <a:off x="777240" y="3374136"/>
            <a:ext cx="4846320" cy="365760"/>
          </a:xfrm>
          <a:prstGeom prst="rect">
            <a:avLst/>
          </a:prstGeom>
          <a:noFill/>
          <a:ln/>
        </p:spPr>
        <p:txBody>
          <a:bodyPr wrap="square" lIns="0" tIns="0" rIns="0" bIns="0" rtlCol="0" anchor="ctr"/>
          <a:lstStyle/>
          <a:p>
            <a:pPr indent="0" marL="0">
              <a:buNone/>
            </a:pPr>
            <a:r>
              <a:rPr lang="en-US" sz="2000" b="1" dirty="0">
                <a:solidFill>
                  <a:schemeClr val="accent1"/>
                </a:solidFill>
              </a:rPr>
              <a:t>Appointments</a:t>
            </a:r>
            <a:endParaRPr lang="en-US" sz="2000" dirty="0"/>
          </a:p>
        </p:txBody>
      </p:sp>
      <p:sp>
        <p:nvSpPr>
          <p:cNvPr id="12" name="group desc"/>
          <p:cNvSpPr txBox="1"/>
          <p:nvPr/>
        </p:nvSpPr>
        <p:spPr>
          <a:xfrm>
            <a:off x="777240" y="3730752"/>
            <a:ext cx="4846320" cy="365760"/>
          </a:xfrm>
          <a:prstGeom prst="rect">
            <a:avLst/>
          </a:prstGeom>
          <a:noFill/>
          <a:ln/>
        </p:spPr>
        <p:txBody>
          <a:bodyPr wrap="square" lIns="0" tIns="0" rIns="0" bIns="0" rtlCol="0" anchor="ctr"/>
          <a:lstStyle/>
          <a:p>
            <a:pPr indent="0" marL="0">
              <a:buNone/>
            </a:pPr>
            <a:r>
              <a:rPr lang="en-US" sz="1500" dirty="0">
                <a:solidFill>
                  <a:schemeClr val="tx1"/>
                </a:solidFill>
              </a:rPr>
              <a:t>list · detail · book · reschedule · status · delete</a:t>
            </a:r>
            <a:endParaRPr lang="en-US" sz="1500" dirty="0"/>
          </a:p>
        </p:txBody>
      </p:sp>
      <p:sp>
        <p:nvSpPr>
          <p:cNvPr id="13" name="card"/>
          <p:cNvSpPr/>
          <p:nvPr/>
        </p:nvSpPr>
        <p:spPr>
          <a:xfrm>
            <a:off x="548640" y="4261104"/>
            <a:ext cx="5212080" cy="822960"/>
          </a:xfrm>
          <a:prstGeom prst="roundRect">
            <a:avLst>
              <a:gd name="adj" fmla="val 15556"/>
            </a:avLst>
          </a:prstGeom>
          <a:solidFill>
            <a:schemeClr val="bg2"/>
          </a:solidFill>
          <a:ln/>
        </p:spPr>
      </p:sp>
      <p:sp>
        <p:nvSpPr>
          <p:cNvPr id="14" name="group name"/>
          <p:cNvSpPr txBox="1"/>
          <p:nvPr/>
        </p:nvSpPr>
        <p:spPr>
          <a:xfrm>
            <a:off x="777240" y="4306824"/>
            <a:ext cx="4846320" cy="365760"/>
          </a:xfrm>
          <a:prstGeom prst="rect">
            <a:avLst/>
          </a:prstGeom>
          <a:noFill/>
          <a:ln/>
        </p:spPr>
        <p:txBody>
          <a:bodyPr wrap="square" lIns="0" tIns="0" rIns="0" bIns="0" rtlCol="0" anchor="ctr"/>
          <a:lstStyle/>
          <a:p>
            <a:pPr indent="0" marL="0">
              <a:buNone/>
            </a:pPr>
            <a:r>
              <a:rPr lang="en-US" sz="2000" b="1" dirty="0">
                <a:solidFill>
                  <a:schemeClr val="accent1"/>
                </a:solidFill>
              </a:rPr>
              <a:t>Dashboard</a:t>
            </a:r>
            <a:endParaRPr lang="en-US" sz="2000" dirty="0"/>
          </a:p>
        </p:txBody>
      </p:sp>
      <p:sp>
        <p:nvSpPr>
          <p:cNvPr id="15" name="group desc"/>
          <p:cNvSpPr txBox="1"/>
          <p:nvPr/>
        </p:nvSpPr>
        <p:spPr>
          <a:xfrm>
            <a:off x="777240" y="4663440"/>
            <a:ext cx="4846320" cy="365760"/>
          </a:xfrm>
          <a:prstGeom prst="rect">
            <a:avLst/>
          </a:prstGeom>
          <a:noFill/>
          <a:ln/>
        </p:spPr>
        <p:txBody>
          <a:bodyPr wrap="square" lIns="0" tIns="0" rIns="0" bIns="0" rtlCol="0" anchor="ctr"/>
          <a:lstStyle/>
          <a:p>
            <a:pPr indent="0" marL="0">
              <a:buNone/>
            </a:pPr>
            <a:r>
              <a:rPr lang="en-US" sz="1500" dirty="0">
                <a:solidFill>
                  <a:schemeClr val="tx1"/>
                </a:solidFill>
              </a:rPr>
              <a:t>today: counts, average wait, next up</a:t>
            </a:r>
            <a:endParaRPr lang="en-US" sz="1500" dirty="0"/>
          </a:p>
        </p:txBody>
      </p:sp>
      <p:sp>
        <p:nvSpPr>
          <p:cNvPr id="16" name="card"/>
          <p:cNvSpPr/>
          <p:nvPr/>
        </p:nvSpPr>
        <p:spPr>
          <a:xfrm>
            <a:off x="548640" y="5193792"/>
            <a:ext cx="5212080" cy="822960"/>
          </a:xfrm>
          <a:prstGeom prst="roundRect">
            <a:avLst>
              <a:gd name="adj" fmla="val 15556"/>
            </a:avLst>
          </a:prstGeom>
          <a:solidFill>
            <a:schemeClr val="bg2"/>
          </a:solidFill>
          <a:ln/>
        </p:spPr>
      </p:sp>
      <p:sp>
        <p:nvSpPr>
          <p:cNvPr id="17" name="group name"/>
          <p:cNvSpPr txBox="1"/>
          <p:nvPr/>
        </p:nvSpPr>
        <p:spPr>
          <a:xfrm>
            <a:off x="777240" y="5239512"/>
            <a:ext cx="4846320" cy="365760"/>
          </a:xfrm>
          <a:prstGeom prst="rect">
            <a:avLst/>
          </a:prstGeom>
          <a:noFill/>
          <a:ln/>
        </p:spPr>
        <p:txBody>
          <a:bodyPr wrap="square" lIns="0" tIns="0" rIns="0" bIns="0" rtlCol="0" anchor="ctr"/>
          <a:lstStyle/>
          <a:p>
            <a:pPr indent="0" marL="0">
              <a:buNone/>
            </a:pPr>
            <a:r>
              <a:rPr lang="en-US" sz="2000" b="1" dirty="0">
                <a:solidFill>
                  <a:schemeClr val="accent1"/>
                </a:solidFill>
              </a:rPr>
              <a:t>Ops</a:t>
            </a:r>
            <a:endParaRPr lang="en-US" sz="2000" dirty="0"/>
          </a:p>
        </p:txBody>
      </p:sp>
      <p:sp>
        <p:nvSpPr>
          <p:cNvPr id="18" name="group desc"/>
          <p:cNvSpPr txBox="1"/>
          <p:nvPr/>
        </p:nvSpPr>
        <p:spPr>
          <a:xfrm>
            <a:off x="777240" y="5596128"/>
            <a:ext cx="4846320" cy="365760"/>
          </a:xfrm>
          <a:prstGeom prst="rect">
            <a:avLst/>
          </a:prstGeom>
          <a:noFill/>
          <a:ln/>
        </p:spPr>
        <p:txBody>
          <a:bodyPr wrap="square" lIns="0" tIns="0" rIns="0" bIns="0" rtlCol="0" anchor="ctr"/>
          <a:lstStyle/>
          <a:p>
            <a:pPr indent="0" marL="0">
              <a:buNone/>
            </a:pPr>
            <a:r>
              <a:rPr lang="en-US" sz="1500" dirty="0">
                <a:solidFill>
                  <a:schemeClr val="tx1"/>
                </a:solidFill>
              </a:rPr>
              <a:t>/health · /ready · /metrics</a:t>
            </a:r>
            <a:endParaRPr lang="en-US" sz="1500" dirty="0"/>
          </a:p>
        </p:txBody>
      </p:sp>
      <p:sp>
        <p:nvSpPr>
          <p:cNvPr id="19" name="frame m1-swagger"/>
          <p:cNvSpPr/>
          <p:nvPr/>
        </p:nvSpPr>
        <p:spPr>
          <a:xfrm>
            <a:off x="6025896" y="1696949"/>
            <a:ext cx="5687568" cy="3738423"/>
          </a:xfrm>
          <a:prstGeom prst="roundRect">
            <a:avLst>
              <a:gd name="adj" fmla="val 1468"/>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20" name="m1-swagger" descr="m1-swagger">    </p:cNvPr>
          <p:cNvPicPr>
            <a:picLocks noChangeAspect="1"/>
          </p:cNvPicPr>
          <p:nvPr/>
        </p:nvPicPr>
        <p:blipFill>
          <a:blip r:embed="rId1"/>
          <a:stretch>
            <a:fillRect/>
          </a:stretch>
        </p:blipFill>
        <p:spPr>
          <a:xfrm>
            <a:off x="6080760" y="1751813"/>
            <a:ext cx="5577840" cy="3628695"/>
          </a:xfrm>
          <a:prstGeom prst="rect">
            <a:avLst/>
          </a:prstGeom>
        </p:spPr>
      </p:pic>
      <p:sp>
        <p:nvSpPr>
          <p:cNvPr id="21" name="caption"/>
          <p:cNvSpPr txBox="1"/>
          <p:nvPr/>
        </p:nvSpPr>
        <p:spPr>
          <a:xfrm>
            <a:off x="6025896" y="5508523"/>
            <a:ext cx="5687568" cy="365760"/>
          </a:xfrm>
          <a:prstGeom prst="rect">
            <a:avLst/>
          </a:prstGeom>
          <a:noFill/>
          <a:ln/>
        </p:spPr>
        <p:txBody>
          <a:bodyPr wrap="square" lIns="0" tIns="0" rIns="0" bIns="0" rtlCol="0" anchor="ctr"/>
          <a:lstStyle/>
          <a:p>
            <a:pPr algn="ctr" indent="0" marL="0">
              <a:buNone/>
            </a:pPr>
            <a:r>
              <a:rPr lang="en-US" sz="1400" dirty="0">
                <a:solidFill>
                  <a:schemeClr val="accent6"/>
                </a:solidFill>
              </a:rPr>
              <a:t>Swagger documents every route at /docs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Alembic owns the schema</a:t>
            </a:r>
            <a:endParaRPr lang="en-US" sz="3400" dirty="0"/>
          </a:p>
        </p:txBody>
      </p:sp>
      <p:sp>
        <p:nvSpPr>
          <p:cNvPr id="4" name="bullets"/>
          <p:cNvSpPr txBox="1"/>
          <p:nvPr/>
        </p:nvSpPr>
        <p:spPr>
          <a:xfrm>
            <a:off x="548640" y="1554480"/>
            <a:ext cx="4846320" cy="4389120"/>
          </a:xfrm>
          <a:prstGeom prst="rect">
            <a:avLst/>
          </a:prstGeom>
          <a:noFill/>
          <a:ln/>
        </p:spPr>
        <p:txBody>
          <a:bodyPr wrap="square" lIns="0" tIns="0" rIns="0" bIns="0" rtlCol="0" anchor="t"/>
          <a:lstStyle/>
          <a:p>
            <a:pPr marL="228600" indent="-228600">
              <a:spcAft>
                <a:spcPts val="1200"/>
              </a:spcAft>
              <a:buSzPct val="100000"/>
              <a:buChar char="•"/>
            </a:pPr>
            <a:r>
              <a:rPr lang="en-US" sz="2100" b="1" dirty="0">
                <a:solidFill>
                  <a:schemeClr val="tx1"/>
                </a:solidFill>
              </a:rPr>
              <a:t>Two migrations </a:t>
            </a:r>
            <a:pPr indent="0" marL="0">
              <a:spcAft>
                <a:spcPts val="1200"/>
              </a:spcAft>
              <a:buNone/>
            </a:pPr>
            <a:r>
              <a:rPr lang="en-US" sz="2100" dirty="0">
                <a:solidFill>
                  <a:schemeClr val="tx1"/>
                </a:solidFill>
              </a:rPr>
              <a:t>create doctors, patients and appointments</a:t>
            </a:r>
            <a:endParaRPr lang="en-US" sz="2100" dirty="0"/>
          </a:p>
          <a:p>
            <a:pPr marL="228600" indent="-228600">
              <a:spcAft>
                <a:spcPts val="1200"/>
              </a:spcAft>
              <a:buSzPct val="100000"/>
              <a:buChar char="•"/>
            </a:pPr>
            <a:r>
              <a:rPr lang="en-US" sz="2100" b="1" dirty="0">
                <a:solidFill>
                  <a:schemeClr val="tx1"/>
                </a:solidFill>
              </a:rPr>
              <a:t>Migrations only: </a:t>
            </a:r>
            <a:pPr indent="0" marL="0">
              <a:spcAft>
                <a:spcPts val="1200"/>
              </a:spcAft>
              <a:buNone/>
            </a:pPr>
            <a:r>
              <a:rPr lang="en-US" sz="2100" dirty="0">
                <a:solidFill>
                  <a:schemeClr val="tx1"/>
                </a:solidFill>
              </a:rPr>
              <a:t>the app never calls create_all</a:t>
            </a:r>
            <a:endParaRPr lang="en-US" sz="2100" dirty="0"/>
          </a:p>
          <a:p>
            <a:pPr marL="228600" indent="-228600">
              <a:spcAft>
                <a:spcPts val="1200"/>
              </a:spcAft>
              <a:buSzPct val="100000"/>
              <a:buChar char="•"/>
            </a:pPr>
            <a:r>
              <a:rPr lang="en-US" sz="2100" b="1" dirty="0">
                <a:solidFill>
                  <a:schemeClr val="tx1"/>
                </a:solidFill>
              </a:rPr>
              <a:t>Advisory lock: </a:t>
            </a:r>
            <a:pPr indent="0" marL="0">
              <a:spcAft>
                <a:spcPts val="1200"/>
              </a:spcAft>
              <a:buNone/>
            </a:pPr>
            <a:r>
              <a:rPr lang="en-US" sz="2100" dirty="0">
                <a:solidFill>
                  <a:schemeClr val="tx1"/>
                </a:solidFill>
              </a:rPr>
              <a:t>concurrent pods migrate one at a time</a:t>
            </a:r>
            <a:endParaRPr lang="en-US" sz="2100" dirty="0"/>
          </a:p>
          <a:p>
            <a:pPr marL="228600" indent="-228600">
              <a:spcAft>
                <a:spcPts val="1200"/>
              </a:spcAft>
              <a:buSzPct val="100000"/>
              <a:buChar char="•"/>
            </a:pPr>
            <a:r>
              <a:rPr lang="en-US" sz="2100" b="1" dirty="0">
                <a:solidFill>
                  <a:schemeClr val="tx1"/>
                </a:solidFill>
              </a:rPr>
              <a:t>Readiness: </a:t>
            </a:r>
            <a:pPr indent="0" marL="0">
              <a:spcAft>
                <a:spcPts val="1200"/>
              </a:spcAft>
              <a:buNone/>
            </a:pPr>
            <a:r>
              <a:rPr lang="en-US" sz="2100" dirty="0">
                <a:solidFill>
                  <a:schemeClr val="tx1"/>
                </a:solidFill>
              </a:rPr>
              <a:t>/ready returns 503 until the schema reaches head</a:t>
            </a:r>
            <a:endParaRPr lang="en-US" sz="2100" dirty="0"/>
          </a:p>
        </p:txBody>
      </p:sp>
      <p:sp>
        <p:nvSpPr>
          <p:cNvPr id="5" name="frame m1-psql-tables"/>
          <p:cNvSpPr/>
          <p:nvPr/>
        </p:nvSpPr>
        <p:spPr>
          <a:xfrm>
            <a:off x="5705856" y="1684287"/>
            <a:ext cx="6007608" cy="3946627"/>
          </a:xfrm>
          <a:prstGeom prst="roundRect">
            <a:avLst>
              <a:gd name="adj" fmla="val 1390"/>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6" name="m1-psql-tables" descr="m1-psql-tables">    </p:cNvPr>
          <p:cNvPicPr>
            <a:picLocks noChangeAspect="1"/>
          </p:cNvPicPr>
          <p:nvPr/>
        </p:nvPicPr>
        <p:blipFill>
          <a:blip r:embed="rId1"/>
          <a:stretch>
            <a:fillRect/>
          </a:stretch>
        </p:blipFill>
        <p:spPr>
          <a:xfrm>
            <a:off x="5760720" y="1739151"/>
            <a:ext cx="5897880" cy="3836899"/>
          </a:xfrm>
          <a:prstGeom prst="rect">
            <a:avLst/>
          </a:prstGeom>
        </p:spPr>
      </p:pic>
      <p:sp>
        <p:nvSpPr>
          <p:cNvPr id="7" name="caption"/>
          <p:cNvSpPr txBox="1"/>
          <p:nvPr/>
        </p:nvSpPr>
        <p:spPr>
          <a:xfrm>
            <a:off x="5705856" y="5704065"/>
            <a:ext cx="6007608" cy="365760"/>
          </a:xfrm>
          <a:prstGeom prst="rect">
            <a:avLst/>
          </a:prstGeom>
          <a:noFill/>
          <a:ln/>
        </p:spPr>
        <p:txBody>
          <a:bodyPr wrap="square" lIns="0" tIns="0" rIns="0" bIns="0" rtlCol="0" anchor="ctr"/>
          <a:lstStyle/>
          <a:p>
            <a:pPr algn="ctr" indent="0" marL="0">
              <a:buNone/>
            </a:pPr>
            <a:r>
              <a:rPr lang="en-US" sz="1400" dirty="0">
                <a:solidFill>
                  <a:schemeClr val="accent6"/>
                </a:solidFill>
              </a:rPr>
              <a:t>Tables and the exclusion constraint in psql</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number"/>
          <p:cNvSpPr txBox="1"/>
          <p:nvPr/>
        </p:nvSpPr>
        <p:spPr>
          <a:xfrm>
            <a:off x="548640" y="1097280"/>
            <a:ext cx="3657600" cy="1280160"/>
          </a:xfrm>
          <a:prstGeom prst="rect">
            <a:avLst/>
          </a:prstGeom>
          <a:noFill/>
          <a:ln/>
        </p:spPr>
        <p:txBody>
          <a:bodyPr wrap="square" lIns="0" tIns="0" rIns="0" bIns="0" rtlCol="0" anchor="ctr"/>
          <a:lstStyle/>
          <a:p>
            <a:pPr indent="0" marL="0">
              <a:buNone/>
            </a:pPr>
            <a:r>
              <a:rPr lang="en-US" sz="9600" b="1" dirty="0">
                <a:solidFill>
                  <a:schemeClr val="accent2"/>
                </a:solidFill>
                <a:latin typeface="Arial" pitchFamily="34" charset="0"/>
                <a:ea typeface="Arial" pitchFamily="34" charset="-122"/>
                <a:cs typeface="Arial" pitchFamily="34" charset="-120"/>
              </a:rPr>
              <a:t>02</a:t>
            </a:r>
            <a:endParaRPr lang="en-US" sz="9600" dirty="0"/>
          </a:p>
        </p:txBody>
      </p:sp>
      <p:sp>
        <p:nvSpPr>
          <p:cNvPr id="3" name="Text 0"/>
          <p:cNvSpPr/>
          <p:nvPr>
            <p:ph idx="100" type="title" hasCustomPrompt="1"/>
          </p:nvPr>
        </p:nvSpPr>
        <p:spPr>
          <a:xfrm>
            <a:off x="548640" y="2331720"/>
            <a:ext cx="11064240" cy="1188720"/>
          </a:xfrm>
          <a:prstGeom prst="rect">
            <a:avLst/>
          </a:prstGeom>
          <a:noFill/>
          <a:ln/>
        </p:spPr>
        <p:txBody>
          <a:bodyPr wrap="square" lIns="0" tIns="0" rIns="0" bIns="0" rtlCol="0" anchor="ctr"/>
          <a:lstStyle/>
          <a:p>
            <a:pPr algn="l" indent="0" marL="0">
              <a:buNone/>
            </a:pPr>
            <a:r>
              <a:rPr lang="en-US" sz="5000" b="1" dirty="0">
                <a:solidFill>
                  <a:schemeClr val="bg1"/>
                </a:solidFill>
              </a:rPr>
              <a:t>Quality and containers</a:t>
            </a:r>
            <a:endParaRPr lang="en-US" sz="5000" dirty="0"/>
          </a:p>
        </p:txBody>
      </p:sp>
      <p:sp>
        <p:nvSpPr>
          <p:cNvPr id="4" name="section subtitle"/>
          <p:cNvSpPr txBox="1"/>
          <p:nvPr/>
        </p:nvSpPr>
        <p:spPr>
          <a:xfrm>
            <a:off x="548640" y="3749040"/>
            <a:ext cx="10515600" cy="822960"/>
          </a:xfrm>
          <a:prstGeom prst="rect">
            <a:avLst/>
          </a:prstGeom>
          <a:noFill/>
          <a:ln/>
        </p:spPr>
        <p:txBody>
          <a:bodyPr wrap="square" lIns="0" tIns="0" rIns="0" bIns="0" rtlCol="0" anchor="t"/>
          <a:lstStyle/>
          <a:p>
            <a:pPr indent="0" marL="0">
              <a:buNone/>
            </a:pPr>
            <a:r>
              <a:rPr lang="en-US" sz="2400" dirty="0">
                <a:solidFill>
                  <a:schemeClr val="bg2"/>
                </a:solidFill>
              </a:rPr>
              <a:t>Tests prove the rules. Docker makes the app run the same everywhere</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36 tests prove the rules</a:t>
            </a:r>
            <a:endParaRPr lang="en-US" sz="3400" dirty="0"/>
          </a:p>
        </p:txBody>
      </p:sp>
      <p:sp>
        <p:nvSpPr>
          <p:cNvPr id="4" name="stat tests pass"/>
          <p:cNvSpPr txBox="1"/>
          <p:nvPr/>
        </p:nvSpPr>
        <p:spPr>
          <a:xfrm>
            <a:off x="548640" y="1417320"/>
            <a:ext cx="2011680" cy="868680"/>
          </a:xfrm>
          <a:prstGeom prst="rect">
            <a:avLst/>
          </a:prstGeom>
          <a:noFill/>
          <a:ln/>
        </p:spPr>
        <p:txBody>
          <a:bodyPr wrap="square" lIns="0" tIns="0" rIns="0" bIns="0" rtlCol="0" anchor="b"/>
          <a:lstStyle/>
          <a:p>
            <a:pPr indent="0" marL="0">
              <a:buNone/>
            </a:pPr>
            <a:r>
              <a:rPr lang="en-US" sz="6400" b="1" dirty="0">
                <a:solidFill>
                  <a:schemeClr val="accent4"/>
                </a:solidFill>
                <a:latin typeface="Arial" pitchFamily="34" charset="0"/>
                <a:ea typeface="Arial" pitchFamily="34" charset="-122"/>
                <a:cs typeface="Arial" pitchFamily="34" charset="-120"/>
              </a:rPr>
              <a:t>36</a:t>
            </a:r>
            <a:endParaRPr lang="en-US" sz="6400" dirty="0"/>
          </a:p>
        </p:txBody>
      </p:sp>
      <p:sp>
        <p:nvSpPr>
          <p:cNvPr id="5" name="stat label"/>
          <p:cNvSpPr txBox="1"/>
          <p:nvPr/>
        </p:nvSpPr>
        <p:spPr>
          <a:xfrm>
            <a:off x="548640" y="2304288"/>
            <a:ext cx="2011680" cy="640080"/>
          </a:xfrm>
          <a:prstGeom prst="rect">
            <a:avLst/>
          </a:prstGeom>
          <a:noFill/>
          <a:ln/>
        </p:spPr>
        <p:txBody>
          <a:bodyPr wrap="square" lIns="0" tIns="0" rIns="0" bIns="0" rtlCol="0" anchor="t"/>
          <a:lstStyle/>
          <a:p>
            <a:pPr indent="0" marL="0">
              <a:buNone/>
            </a:pPr>
            <a:r>
              <a:rPr lang="en-US" sz="1800" dirty="0">
                <a:solidFill>
                  <a:schemeClr val="accent6"/>
                </a:solidFill>
              </a:rPr>
              <a:t>tests pass</a:t>
            </a:r>
            <a:endParaRPr lang="en-US" sz="1800" dirty="0"/>
          </a:p>
        </p:txBody>
      </p:sp>
      <p:sp>
        <p:nvSpPr>
          <p:cNvPr id="6" name="stat code coverage"/>
          <p:cNvSpPr txBox="1"/>
          <p:nvPr/>
        </p:nvSpPr>
        <p:spPr>
          <a:xfrm>
            <a:off x="2651760" y="1417320"/>
            <a:ext cx="2194560" cy="868680"/>
          </a:xfrm>
          <a:prstGeom prst="rect">
            <a:avLst/>
          </a:prstGeom>
          <a:noFill/>
          <a:ln/>
        </p:spPr>
        <p:txBody>
          <a:bodyPr wrap="square" lIns="0" tIns="0" rIns="0" bIns="0" rtlCol="0" anchor="b"/>
          <a:lstStyle/>
          <a:p>
            <a:pPr indent="0" marL="0">
              <a:buNone/>
            </a:pPr>
            <a:r>
              <a:rPr lang="en-US" sz="6400" b="1" dirty="0">
                <a:solidFill>
                  <a:schemeClr val="accent1"/>
                </a:solidFill>
                <a:latin typeface="Arial" pitchFamily="34" charset="0"/>
                <a:ea typeface="Arial" pitchFamily="34" charset="-122"/>
                <a:cs typeface="Arial" pitchFamily="34" charset="-120"/>
              </a:rPr>
              <a:t>97%</a:t>
            </a:r>
            <a:endParaRPr lang="en-US" sz="6400" dirty="0"/>
          </a:p>
        </p:txBody>
      </p:sp>
      <p:sp>
        <p:nvSpPr>
          <p:cNvPr id="7" name="stat label"/>
          <p:cNvSpPr txBox="1"/>
          <p:nvPr/>
        </p:nvSpPr>
        <p:spPr>
          <a:xfrm>
            <a:off x="2651760" y="2304288"/>
            <a:ext cx="2194560" cy="640080"/>
          </a:xfrm>
          <a:prstGeom prst="rect">
            <a:avLst/>
          </a:prstGeom>
          <a:noFill/>
          <a:ln/>
        </p:spPr>
        <p:txBody>
          <a:bodyPr wrap="square" lIns="0" tIns="0" rIns="0" bIns="0" rtlCol="0" anchor="t"/>
          <a:lstStyle/>
          <a:p>
            <a:pPr indent="0" marL="0">
              <a:buNone/>
            </a:pPr>
            <a:r>
              <a:rPr lang="en-US" sz="1800" dirty="0">
                <a:solidFill>
                  <a:schemeClr val="accent6"/>
                </a:solidFill>
              </a:rPr>
              <a:t>code coverage</a:t>
            </a:r>
            <a:endParaRPr lang="en-US" sz="1800" dirty="0"/>
          </a:p>
        </p:txBody>
      </p:sp>
      <p:sp>
        <p:nvSpPr>
          <p:cNvPr id="8" name="bullets"/>
          <p:cNvSpPr txBox="1"/>
          <p:nvPr/>
        </p:nvSpPr>
        <p:spPr>
          <a:xfrm>
            <a:off x="548640" y="3383280"/>
            <a:ext cx="4023360" cy="2743200"/>
          </a:xfrm>
          <a:prstGeom prst="rect">
            <a:avLst/>
          </a:prstGeom>
          <a:noFill/>
          <a:ln/>
        </p:spPr>
        <p:txBody>
          <a:bodyPr wrap="square" lIns="0" tIns="0" rIns="0" bIns="0" rtlCol="0" anchor="t"/>
          <a:lstStyle/>
          <a:p>
            <a:pPr marL="228600" indent="-228600">
              <a:spcAft>
                <a:spcPts val="1200"/>
              </a:spcAft>
              <a:buSzPct val="100000"/>
              <a:buChar char="•"/>
            </a:pPr>
            <a:r>
              <a:rPr lang="en-US" sz="1900" b="1" dirty="0">
                <a:solidFill>
                  <a:schemeClr val="tx1"/>
                </a:solidFill>
              </a:rPr>
              <a:t>Real PostgreSQL: </a:t>
            </a:r>
            <a:pPr indent="0" marL="0">
              <a:spcAft>
                <a:spcPts val="1200"/>
              </a:spcAft>
              <a:buNone/>
            </a:pPr>
            <a:r>
              <a:rPr lang="en-US" sz="1900" dirty="0">
                <a:solidFill>
                  <a:schemeClr val="tx1"/>
                </a:solidFill>
              </a:rPr>
              <a:t>the test database enforces the constraint</a:t>
            </a:r>
            <a:endParaRPr lang="en-US" sz="1900" dirty="0"/>
          </a:p>
          <a:p>
            <a:pPr marL="228600" indent="-228600">
              <a:spcAft>
                <a:spcPts val="1200"/>
              </a:spcAft>
              <a:buSzPct val="100000"/>
              <a:buChar char="•"/>
            </a:pPr>
            <a:r>
              <a:rPr lang="en-US" sz="1900" b="1" dirty="0">
                <a:solidFill>
                  <a:schemeClr val="tx1"/>
                </a:solidFill>
              </a:rPr>
              <a:t>Frozen clock: </a:t>
            </a:r>
            <a:pPr indent="0" marL="0">
              <a:spcAft>
                <a:spcPts val="1200"/>
              </a:spcAft>
              <a:buNone/>
            </a:pPr>
            <a:r>
              <a:rPr lang="en-US" sz="1900" dirty="0">
                <a:solidFill>
                  <a:schemeClr val="tx1"/>
                </a:solidFill>
              </a:rPr>
              <a:t>time rules never flake</a:t>
            </a:r>
            <a:endParaRPr lang="en-US" sz="1900" dirty="0"/>
          </a:p>
          <a:p>
            <a:pPr marL="228600" indent="-228600">
              <a:spcAft>
                <a:spcPts val="1200"/>
              </a:spcAft>
              <a:buSzPct val="100000"/>
              <a:buChar char="•"/>
            </a:pPr>
            <a:r>
              <a:rPr lang="en-US" sz="1900" b="1" dirty="0">
                <a:solidFill>
                  <a:schemeClr val="tx1"/>
                </a:solidFill>
              </a:rPr>
              <a:t>Race test: </a:t>
            </a:r>
            <a:pPr indent="0" marL="0">
              <a:spcAft>
                <a:spcPts val="1200"/>
              </a:spcAft>
              <a:buNone/>
            </a:pPr>
            <a:r>
              <a:rPr lang="en-US" sz="1900" dirty="0">
                <a:solidFill>
                  <a:schemeClr val="tx1"/>
                </a:solidFill>
              </a:rPr>
              <a:t>two threads, one winner</a:t>
            </a:r>
            <a:endParaRPr lang="en-US" sz="1900" dirty="0"/>
          </a:p>
        </p:txBody>
      </p:sp>
      <p:sp>
        <p:nvSpPr>
          <p:cNvPr id="9" name="frame m2-pytest"/>
          <p:cNvSpPr/>
          <p:nvPr/>
        </p:nvSpPr>
        <p:spPr>
          <a:xfrm>
            <a:off x="4791456" y="2312187"/>
            <a:ext cx="6922008" cy="2690825"/>
          </a:xfrm>
          <a:prstGeom prst="roundRect">
            <a:avLst>
              <a:gd name="adj" fmla="val 2039"/>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10" name="m2-pytest" descr="m2-pytest">    </p:cNvPr>
          <p:cNvPicPr>
            <a:picLocks noChangeAspect="1"/>
          </p:cNvPicPr>
          <p:nvPr/>
        </p:nvPicPr>
        <p:blipFill>
          <a:blip r:embed="rId1"/>
          <a:stretch>
            <a:fillRect/>
          </a:stretch>
        </p:blipFill>
        <p:spPr>
          <a:xfrm>
            <a:off x="4846320" y="2367051"/>
            <a:ext cx="6812280" cy="2581097"/>
          </a:xfrm>
          <a:prstGeom prst="rect">
            <a:avLst/>
          </a:prstGeom>
        </p:spPr>
      </p:pic>
      <p:sp>
        <p:nvSpPr>
          <p:cNvPr id="11" name="caption"/>
          <p:cNvSpPr txBox="1"/>
          <p:nvPr/>
        </p:nvSpPr>
        <p:spPr>
          <a:xfrm>
            <a:off x="4791456" y="5076165"/>
            <a:ext cx="6922008" cy="365760"/>
          </a:xfrm>
          <a:prstGeom prst="rect">
            <a:avLst/>
          </a:prstGeom>
          <a:noFill/>
          <a:ln/>
        </p:spPr>
        <p:txBody>
          <a:bodyPr wrap="square" lIns="0" tIns="0" rIns="0" bIns="0" rtlCol="0" anchor="ctr"/>
          <a:lstStyle/>
          <a:p>
            <a:pPr algn="ctr" indent="0" marL="0">
              <a:buNone/>
            </a:pPr>
            <a:r>
              <a:rPr lang="en-US" sz="1400" dirty="0">
                <a:solidFill>
                  <a:schemeClr val="accent6"/>
                </a:solidFill>
              </a:rPr>
              <a:t>pytest -v with the coverage report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Docker images run as non-root</a:t>
            </a:r>
            <a:endParaRPr lang="en-US" sz="3400" dirty="0"/>
          </a:p>
        </p:txBody>
      </p:sp>
      <p:sp>
        <p:nvSpPr>
          <p:cNvPr id="4" name="frame m4-nonroot"/>
          <p:cNvSpPr/>
          <p:nvPr/>
        </p:nvSpPr>
        <p:spPr>
          <a:xfrm>
            <a:off x="859536" y="1395853"/>
            <a:ext cx="10472623" cy="2694695"/>
          </a:xfrm>
          <a:prstGeom prst="roundRect">
            <a:avLst>
              <a:gd name="adj" fmla="val 2036"/>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m4-nonroot" descr="m4-nonroot">    </p:cNvPr>
          <p:cNvPicPr>
            <a:picLocks noChangeAspect="1"/>
          </p:cNvPicPr>
          <p:nvPr/>
        </p:nvPicPr>
        <p:blipFill>
          <a:blip r:embed="rId1"/>
          <a:stretch>
            <a:fillRect/>
          </a:stretch>
        </p:blipFill>
        <p:spPr>
          <a:xfrm>
            <a:off x="914400" y="1450717"/>
            <a:ext cx="10362895" cy="2584967"/>
          </a:xfrm>
          <a:prstGeom prst="rect">
            <a:avLst/>
          </a:prstGeom>
        </p:spPr>
      </p:pic>
      <p:sp>
        <p:nvSpPr>
          <p:cNvPr id="6" name="card"/>
          <p:cNvSpPr/>
          <p:nvPr/>
        </p:nvSpPr>
        <p:spPr>
          <a:xfrm>
            <a:off x="548640" y="4343400"/>
            <a:ext cx="3520440" cy="1874520"/>
          </a:xfrm>
          <a:prstGeom prst="roundRect">
            <a:avLst>
              <a:gd name="adj" fmla="val 6829"/>
            </a:avLst>
          </a:prstGeom>
          <a:solidFill>
            <a:schemeClr val="bg2"/>
          </a:solidFill>
          <a:ln/>
        </p:spPr>
      </p:sp>
      <p:sp>
        <p:nvSpPr>
          <p:cNvPr id="7" name="icon bg FaLayerGroup"/>
          <p:cNvSpPr/>
          <p:nvPr/>
        </p:nvSpPr>
        <p:spPr>
          <a:xfrm>
            <a:off x="777240" y="4526280"/>
            <a:ext cx="640080" cy="640080"/>
          </a:xfrm>
          <a:prstGeom prst="ellipse">
            <a:avLst/>
          </a:prstGeom>
          <a:solidFill>
            <a:schemeClr val="accent1"/>
          </a:solidFill>
          <a:ln/>
        </p:spPr>
      </p:sp>
      <p:pic>
        <p:nvPicPr>
          <p:cNvPr id="8" name="icon FaLayerGroup" descr="FaLayerGroup">    </p:cNvPr>
          <p:cNvPicPr>
            <a:picLocks noChangeAspect="1"/>
          </p:cNvPicPr>
          <p:nvPr/>
        </p:nvPicPr>
        <p:blipFill>
          <a:blip r:embed="rId2"/>
          <a:stretch>
            <a:fillRect/>
          </a:stretch>
        </p:blipFill>
        <p:spPr>
          <a:xfrm>
            <a:off x="950062" y="4699102"/>
            <a:ext cx="294437" cy="294437"/>
          </a:xfrm>
          <a:prstGeom prst="rect">
            <a:avLst/>
          </a:prstGeom>
        </p:spPr>
      </p:pic>
      <p:sp>
        <p:nvSpPr>
          <p:cNvPr id="9" name="dk head"/>
          <p:cNvSpPr txBox="1"/>
          <p:nvPr/>
        </p:nvSpPr>
        <p:spPr>
          <a:xfrm>
            <a:off x="1600200" y="4526280"/>
            <a:ext cx="2331720" cy="640080"/>
          </a:xfrm>
          <a:prstGeom prst="rect">
            <a:avLst/>
          </a:prstGeom>
          <a:noFill/>
          <a:ln/>
        </p:spPr>
        <p:txBody>
          <a:bodyPr wrap="square" lIns="0" tIns="0" rIns="0" bIns="0" rtlCol="0" anchor="ctr"/>
          <a:lstStyle/>
          <a:p>
            <a:pPr indent="0" marL="0">
              <a:buNone/>
            </a:pPr>
            <a:r>
              <a:rPr lang="en-US" sz="1900" b="1" dirty="0">
                <a:solidFill>
                  <a:schemeClr val="tx1"/>
                </a:solidFill>
              </a:rPr>
              <a:t>Multi-stage builds</a:t>
            </a:r>
            <a:endParaRPr lang="en-US" sz="1900" dirty="0"/>
          </a:p>
        </p:txBody>
      </p:sp>
      <p:sp>
        <p:nvSpPr>
          <p:cNvPr id="10" name="dk text"/>
          <p:cNvSpPr txBox="1"/>
          <p:nvPr/>
        </p:nvSpPr>
        <p:spPr>
          <a:xfrm>
            <a:off x="777240" y="5303520"/>
            <a:ext cx="3108960" cy="822960"/>
          </a:xfrm>
          <a:prstGeom prst="rect">
            <a:avLst/>
          </a:prstGeom>
          <a:noFill/>
          <a:ln/>
        </p:spPr>
        <p:txBody>
          <a:bodyPr wrap="square" lIns="0" tIns="0" rIns="0" bIns="0" rtlCol="0" anchor="t"/>
          <a:lstStyle/>
          <a:p>
            <a:pPr indent="0" marL="0">
              <a:buNone/>
            </a:pPr>
            <a:r>
              <a:rPr lang="en-US" sz="1600" dirty="0">
                <a:solidFill>
                  <a:schemeClr val="tx1"/>
                </a:solidFill>
              </a:rPr>
              <a:t>Node builds. nginx serves. No build tools ship</a:t>
            </a:r>
            <a:endParaRPr lang="en-US" sz="1600" dirty="0"/>
          </a:p>
        </p:txBody>
      </p:sp>
      <p:sp>
        <p:nvSpPr>
          <p:cNvPr id="11" name="card"/>
          <p:cNvSpPr/>
          <p:nvPr/>
        </p:nvSpPr>
        <p:spPr>
          <a:xfrm>
            <a:off x="4297680" y="4343400"/>
            <a:ext cx="3520440" cy="1874520"/>
          </a:xfrm>
          <a:prstGeom prst="roundRect">
            <a:avLst>
              <a:gd name="adj" fmla="val 6829"/>
            </a:avLst>
          </a:prstGeom>
          <a:solidFill>
            <a:schemeClr val="bg2"/>
          </a:solidFill>
          <a:ln/>
        </p:spPr>
      </p:sp>
      <p:sp>
        <p:nvSpPr>
          <p:cNvPr id="12" name="icon bg FaFingerprint"/>
          <p:cNvSpPr/>
          <p:nvPr/>
        </p:nvSpPr>
        <p:spPr>
          <a:xfrm>
            <a:off x="4526280" y="4526280"/>
            <a:ext cx="640080" cy="640080"/>
          </a:xfrm>
          <a:prstGeom prst="ellipse">
            <a:avLst/>
          </a:prstGeom>
          <a:solidFill>
            <a:schemeClr val="accent1"/>
          </a:solidFill>
          <a:ln/>
        </p:spPr>
      </p:sp>
      <p:pic>
        <p:nvPicPr>
          <p:cNvPr id="13" name="icon FaFingerprint" descr="FaFingerprint">    </p:cNvPr>
          <p:cNvPicPr>
            <a:picLocks noChangeAspect="1"/>
          </p:cNvPicPr>
          <p:nvPr/>
        </p:nvPicPr>
        <p:blipFill>
          <a:blip r:embed="rId3"/>
          <a:stretch>
            <a:fillRect/>
          </a:stretch>
        </p:blipFill>
        <p:spPr>
          <a:xfrm>
            <a:off x="4699102" y="4699102"/>
            <a:ext cx="294437" cy="294437"/>
          </a:xfrm>
          <a:prstGeom prst="rect">
            <a:avLst/>
          </a:prstGeom>
        </p:spPr>
      </p:pic>
      <p:sp>
        <p:nvSpPr>
          <p:cNvPr id="14" name="dk head"/>
          <p:cNvSpPr txBox="1"/>
          <p:nvPr/>
        </p:nvSpPr>
        <p:spPr>
          <a:xfrm>
            <a:off x="5349240" y="4526280"/>
            <a:ext cx="2331720" cy="640080"/>
          </a:xfrm>
          <a:prstGeom prst="rect">
            <a:avLst/>
          </a:prstGeom>
          <a:noFill/>
          <a:ln/>
        </p:spPr>
        <p:txBody>
          <a:bodyPr wrap="square" lIns="0" tIns="0" rIns="0" bIns="0" rtlCol="0" anchor="ctr"/>
          <a:lstStyle/>
          <a:p>
            <a:pPr indent="0" marL="0">
              <a:buNone/>
            </a:pPr>
            <a:r>
              <a:rPr lang="en-US" sz="1900" b="1" dirty="0">
                <a:solidFill>
                  <a:schemeClr val="tx1"/>
                </a:solidFill>
              </a:rPr>
              <a:t>Digest-pinned bases</a:t>
            </a:r>
            <a:endParaRPr lang="en-US" sz="1900" dirty="0"/>
          </a:p>
        </p:txBody>
      </p:sp>
      <p:sp>
        <p:nvSpPr>
          <p:cNvPr id="15" name="dk text"/>
          <p:cNvSpPr txBox="1"/>
          <p:nvPr/>
        </p:nvSpPr>
        <p:spPr>
          <a:xfrm>
            <a:off x="4526280" y="5303520"/>
            <a:ext cx="3108960" cy="822960"/>
          </a:xfrm>
          <a:prstGeom prst="rect">
            <a:avLst/>
          </a:prstGeom>
          <a:noFill/>
          <a:ln/>
        </p:spPr>
        <p:txBody>
          <a:bodyPr wrap="square" lIns="0" tIns="0" rIns="0" bIns="0" rtlCol="0" anchor="t"/>
          <a:lstStyle/>
          <a:p>
            <a:pPr indent="0" marL="0">
              <a:buNone/>
            </a:pPr>
            <a:r>
              <a:rPr lang="en-US" sz="1600" dirty="0">
                <a:solidFill>
                  <a:schemeClr val="tx1"/>
                </a:solidFill>
              </a:rPr>
              <a:t>Every build uses the same image bytes</a:t>
            </a:r>
            <a:endParaRPr lang="en-US" sz="1600" dirty="0"/>
          </a:p>
        </p:txBody>
      </p:sp>
      <p:sp>
        <p:nvSpPr>
          <p:cNvPr id="16" name="card"/>
          <p:cNvSpPr/>
          <p:nvPr/>
        </p:nvSpPr>
        <p:spPr>
          <a:xfrm>
            <a:off x="8046720" y="4343400"/>
            <a:ext cx="3520440" cy="1874520"/>
          </a:xfrm>
          <a:prstGeom prst="roundRect">
            <a:avLst>
              <a:gd name="adj" fmla="val 6829"/>
            </a:avLst>
          </a:prstGeom>
          <a:solidFill>
            <a:schemeClr val="bg2"/>
          </a:solidFill>
          <a:ln/>
        </p:spPr>
      </p:sp>
      <p:sp>
        <p:nvSpPr>
          <p:cNvPr id="17" name="icon bg FaUserShield"/>
          <p:cNvSpPr/>
          <p:nvPr/>
        </p:nvSpPr>
        <p:spPr>
          <a:xfrm>
            <a:off x="8275320" y="4526280"/>
            <a:ext cx="640080" cy="640080"/>
          </a:xfrm>
          <a:prstGeom prst="ellipse">
            <a:avLst/>
          </a:prstGeom>
          <a:solidFill>
            <a:schemeClr val="accent1"/>
          </a:solidFill>
          <a:ln/>
        </p:spPr>
      </p:sp>
      <p:pic>
        <p:nvPicPr>
          <p:cNvPr id="18" name="icon FaUserShield" descr="FaUserShield">    </p:cNvPr>
          <p:cNvPicPr>
            <a:picLocks noChangeAspect="1"/>
          </p:cNvPicPr>
          <p:nvPr/>
        </p:nvPicPr>
        <p:blipFill>
          <a:blip r:embed="rId4"/>
          <a:stretch>
            <a:fillRect/>
          </a:stretch>
        </p:blipFill>
        <p:spPr>
          <a:xfrm>
            <a:off x="8448142" y="4699102"/>
            <a:ext cx="294437" cy="294437"/>
          </a:xfrm>
          <a:prstGeom prst="rect">
            <a:avLst/>
          </a:prstGeom>
        </p:spPr>
      </p:pic>
      <p:sp>
        <p:nvSpPr>
          <p:cNvPr id="19" name="dk head"/>
          <p:cNvSpPr txBox="1"/>
          <p:nvPr/>
        </p:nvSpPr>
        <p:spPr>
          <a:xfrm>
            <a:off x="9098280" y="4526280"/>
            <a:ext cx="2331720" cy="640080"/>
          </a:xfrm>
          <a:prstGeom prst="rect">
            <a:avLst/>
          </a:prstGeom>
          <a:noFill/>
          <a:ln/>
        </p:spPr>
        <p:txBody>
          <a:bodyPr wrap="square" lIns="0" tIns="0" rIns="0" bIns="0" rtlCol="0" anchor="ctr"/>
          <a:lstStyle/>
          <a:p>
            <a:pPr indent="0" marL="0">
              <a:buNone/>
            </a:pPr>
            <a:r>
              <a:rPr lang="en-US" sz="1900" b="1" dirty="0">
                <a:solidFill>
                  <a:schemeClr val="tx1"/>
                </a:solidFill>
              </a:rPr>
              <a:t>Non-root users</a:t>
            </a:r>
            <a:endParaRPr lang="en-US" sz="1900" dirty="0"/>
          </a:p>
        </p:txBody>
      </p:sp>
      <p:sp>
        <p:nvSpPr>
          <p:cNvPr id="20" name="dk text"/>
          <p:cNvSpPr txBox="1"/>
          <p:nvPr/>
        </p:nvSpPr>
        <p:spPr>
          <a:xfrm>
            <a:off x="8275320" y="5303520"/>
            <a:ext cx="3108960" cy="822960"/>
          </a:xfrm>
          <a:prstGeom prst="rect">
            <a:avLst/>
          </a:prstGeom>
          <a:noFill/>
          <a:ln/>
        </p:spPr>
        <p:txBody>
          <a:bodyPr wrap="square" lIns="0" tIns="0" rIns="0" bIns="0" rtlCol="0" anchor="t"/>
          <a:lstStyle/>
          <a:p>
            <a:pPr indent="0" marL="0">
              <a:buNone/>
            </a:pPr>
            <a:r>
              <a:rPr lang="en-US" sz="1600" dirty="0">
                <a:solidFill>
                  <a:schemeClr val="tx1"/>
                </a:solidFill>
              </a:rPr>
              <a:t>uid 10001 for the API, uid 101 for nginx</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One command starts the whole stack</a:t>
            </a:r>
            <a:endParaRPr lang="en-US" sz="3400" dirty="0"/>
          </a:p>
        </p:txBody>
      </p:sp>
      <p:sp>
        <p:nvSpPr>
          <p:cNvPr id="4" name="frame m4-compose-up"/>
          <p:cNvSpPr/>
          <p:nvPr/>
        </p:nvSpPr>
        <p:spPr>
          <a:xfrm>
            <a:off x="505847" y="1362456"/>
            <a:ext cx="11180002" cy="2532888"/>
          </a:xfrm>
          <a:prstGeom prst="roundRect">
            <a:avLst>
              <a:gd name="adj" fmla="val 2166"/>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m4-compose-up" descr="m4-compose-up">    </p:cNvPr>
          <p:cNvPicPr>
            <a:picLocks noChangeAspect="1"/>
          </p:cNvPicPr>
          <p:nvPr/>
        </p:nvPicPr>
        <p:blipFill>
          <a:blip r:embed="rId1"/>
          <a:stretch>
            <a:fillRect/>
          </a:stretch>
        </p:blipFill>
        <p:spPr>
          <a:xfrm>
            <a:off x="560711" y="1417320"/>
            <a:ext cx="11070274" cy="2423160"/>
          </a:xfrm>
          <a:prstGeom prst="rect">
            <a:avLst/>
          </a:prstGeom>
        </p:spPr>
      </p:pic>
      <p:sp>
        <p:nvSpPr>
          <p:cNvPr id="6" name="bullets"/>
          <p:cNvSpPr txBox="1"/>
          <p:nvPr/>
        </p:nvSpPr>
        <p:spPr>
          <a:xfrm>
            <a:off x="548640" y="4114800"/>
            <a:ext cx="5394960" cy="2103120"/>
          </a:xfrm>
          <a:prstGeom prst="rect">
            <a:avLst/>
          </a:prstGeom>
          <a:noFill/>
          <a:ln/>
        </p:spPr>
        <p:txBody>
          <a:bodyPr wrap="square" lIns="0" tIns="0" rIns="0" bIns="0" rtlCol="0" anchor="t"/>
          <a:lstStyle/>
          <a:p>
            <a:pPr marL="228600" indent="-228600">
              <a:spcAft>
                <a:spcPts val="1200"/>
              </a:spcAft>
              <a:buSzPct val="100000"/>
              <a:buChar char="•"/>
            </a:pPr>
            <a:r>
              <a:rPr lang="en-US" sz="1800" b="1" dirty="0">
                <a:solidFill>
                  <a:schemeClr val="tx1"/>
                </a:solidFill>
              </a:rPr>
              <a:t>db → migrate → backend → frontend: </a:t>
            </a:r>
            <a:pPr indent="0" marL="0">
              <a:spcAft>
                <a:spcPts val="1200"/>
              </a:spcAft>
              <a:buNone/>
            </a:pPr>
            <a:r>
              <a:rPr lang="en-US" sz="1800" dirty="0">
                <a:solidFill>
                  <a:schemeClr val="tx1"/>
                </a:solidFill>
              </a:rPr>
              <a:t>each step waits for the previous one to be healthy</a:t>
            </a:r>
            <a:endParaRPr lang="en-US" sz="1800" dirty="0"/>
          </a:p>
          <a:p>
            <a:pPr marL="228600" indent="-228600">
              <a:spcAft>
                <a:spcPts val="1200"/>
              </a:spcAft>
              <a:buSzPct val="100000"/>
              <a:buChar char="•"/>
            </a:pPr>
            <a:r>
              <a:rPr lang="en-US" sz="1800" b="1" dirty="0">
                <a:solidFill>
                  <a:schemeClr val="tx1"/>
                </a:solidFill>
              </a:rPr>
              <a:t>Secrets </a:t>
            </a:r>
            <a:pPr indent="0" marL="0">
              <a:spcAft>
                <a:spcPts val="1200"/>
              </a:spcAft>
              <a:buNone/>
            </a:pPr>
            <a:r>
              <a:rPr lang="en-US" sz="1800" dirty="0">
                <a:solidFill>
                  <a:schemeClr val="tx1"/>
                </a:solidFill>
              </a:rPr>
              <a:t>come from an ignored .env file, never from Git</a:t>
            </a:r>
            <a:endParaRPr lang="en-US" sz="1800" dirty="0"/>
          </a:p>
          <a:p>
            <a:pPr marL="228600" indent="-228600">
              <a:spcAft>
                <a:spcPts val="1200"/>
              </a:spcAft>
              <a:buSzPct val="100000"/>
              <a:buChar char="•"/>
            </a:pPr>
            <a:r>
              <a:rPr lang="en-US" sz="1800" b="1" dirty="0">
                <a:solidFill>
                  <a:schemeClr val="tx1"/>
                </a:solidFill>
              </a:rPr>
              <a:t>Postgres </a:t>
            </a:r>
            <a:pPr indent="0" marL="0">
              <a:spcAft>
                <a:spcPts val="1200"/>
              </a:spcAft>
              <a:buNone/>
            </a:pPr>
            <a:r>
              <a:rPr lang="en-US" sz="1800" dirty="0">
                <a:solidFill>
                  <a:schemeClr val="tx1"/>
                </a:solidFill>
              </a:rPr>
              <a:t>listens on localhost only</a:t>
            </a:r>
            <a:endParaRPr lang="en-US" sz="1800" dirty="0"/>
          </a:p>
        </p:txBody>
      </p:sp>
      <p:sp>
        <p:nvSpPr>
          <p:cNvPr id="7" name="frame m4-localhost-3000"/>
          <p:cNvSpPr/>
          <p:nvPr/>
        </p:nvSpPr>
        <p:spPr>
          <a:xfrm>
            <a:off x="7217876" y="3922776"/>
            <a:ext cx="3623648" cy="2395728"/>
          </a:xfrm>
          <a:prstGeom prst="roundRect">
            <a:avLst>
              <a:gd name="adj" fmla="val 2290"/>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8" name="m4-localhost-3000" descr="m4-localhost-3000">    </p:cNvPr>
          <p:cNvPicPr>
            <a:picLocks noChangeAspect="1"/>
          </p:cNvPicPr>
          <p:nvPr/>
        </p:nvPicPr>
        <p:blipFill>
          <a:blip r:embed="rId2"/>
          <a:stretch>
            <a:fillRect/>
          </a:stretch>
        </p:blipFill>
        <p:spPr>
          <a:xfrm>
            <a:off x="7272740" y="3977640"/>
            <a:ext cx="3513920" cy="2286000"/>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number"/>
          <p:cNvSpPr txBox="1"/>
          <p:nvPr/>
        </p:nvSpPr>
        <p:spPr>
          <a:xfrm>
            <a:off x="548640" y="1097280"/>
            <a:ext cx="3657600" cy="1280160"/>
          </a:xfrm>
          <a:prstGeom prst="rect">
            <a:avLst/>
          </a:prstGeom>
          <a:noFill/>
          <a:ln/>
        </p:spPr>
        <p:txBody>
          <a:bodyPr wrap="square" lIns="0" tIns="0" rIns="0" bIns="0" rtlCol="0" anchor="ctr"/>
          <a:lstStyle/>
          <a:p>
            <a:pPr indent="0" marL="0">
              <a:buNone/>
            </a:pPr>
            <a:r>
              <a:rPr lang="en-US" sz="9600" b="1" dirty="0">
                <a:solidFill>
                  <a:schemeClr val="accent2"/>
                </a:solidFill>
                <a:latin typeface="Arial" pitchFamily="34" charset="0"/>
                <a:ea typeface="Arial" pitchFamily="34" charset="-122"/>
                <a:cs typeface="Arial" pitchFamily="34" charset="-120"/>
              </a:rPr>
              <a:t>03</a:t>
            </a:r>
            <a:endParaRPr lang="en-US" sz="9600" dirty="0"/>
          </a:p>
        </p:txBody>
      </p:sp>
      <p:sp>
        <p:nvSpPr>
          <p:cNvPr id="3" name="Text 0"/>
          <p:cNvSpPr/>
          <p:nvPr>
            <p:ph idx="100" type="title" hasCustomPrompt="1"/>
          </p:nvPr>
        </p:nvSpPr>
        <p:spPr>
          <a:xfrm>
            <a:off x="548640" y="2331720"/>
            <a:ext cx="11064240" cy="1188720"/>
          </a:xfrm>
          <a:prstGeom prst="rect">
            <a:avLst/>
          </a:prstGeom>
          <a:noFill/>
          <a:ln/>
        </p:spPr>
        <p:txBody>
          <a:bodyPr wrap="square" lIns="0" tIns="0" rIns="0" bIns="0" rtlCol="0" anchor="ctr"/>
          <a:lstStyle/>
          <a:p>
            <a:pPr algn="l" indent="0" marL="0">
              <a:buNone/>
            </a:pPr>
            <a:r>
              <a:rPr lang="en-US" sz="5000" b="1" dirty="0">
                <a:solidFill>
                  <a:schemeClr val="bg1"/>
                </a:solidFill>
              </a:rPr>
              <a:t>The pipeline</a:t>
            </a:r>
            <a:endParaRPr lang="en-US" sz="5000" dirty="0"/>
          </a:p>
        </p:txBody>
      </p:sp>
      <p:sp>
        <p:nvSpPr>
          <p:cNvPr id="4" name="section subtitle"/>
          <p:cNvSpPr txBox="1"/>
          <p:nvPr/>
        </p:nvSpPr>
        <p:spPr>
          <a:xfrm>
            <a:off x="548640" y="3749040"/>
            <a:ext cx="10515600" cy="822960"/>
          </a:xfrm>
          <a:prstGeom prst="rect">
            <a:avLst/>
          </a:prstGeom>
          <a:noFill/>
          <a:ln/>
        </p:spPr>
        <p:txBody>
          <a:bodyPr wrap="square" lIns="0" tIns="0" rIns="0" bIns="0" rtlCol="0" anchor="t"/>
          <a:lstStyle/>
          <a:p>
            <a:pPr indent="0" marL="0">
              <a:buNone/>
            </a:pPr>
            <a:r>
              <a:rPr lang="en-US" sz="2400" dirty="0">
                <a:solidFill>
                  <a:schemeClr val="bg2"/>
                </a:solidFill>
              </a:rPr>
              <a:t>Every push to main is tested, scanned, built, published and deployed</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Every push runs six jobs</a:t>
            </a:r>
            <a:endParaRPr lang="en-US" sz="3400" dirty="0"/>
          </a:p>
        </p:txBody>
      </p:sp>
      <p:sp>
        <p:nvSpPr>
          <p:cNvPr id="4" name="box Backend lint + pytes"/>
          <p:cNvSpPr/>
          <p:nvPr/>
        </p:nvSpPr>
        <p:spPr>
          <a:xfrm>
            <a:off x="548640" y="1600200"/>
            <a:ext cx="3017520" cy="914400"/>
          </a:xfrm>
          <a:prstGeom prst="roundRect">
            <a:avLst>
              <a:gd name="adj" fmla="val 12000"/>
            </a:avLst>
          </a:prstGeom>
          <a:solidFill>
            <a:schemeClr val="accent1"/>
          </a:solidFill>
          <a:ln/>
          <a:effectLst>
            <a:outerShdw sx="100000" sy="100000" kx="0" ky="0" algn="bl" rotWithShape="0" blurRad="127000" dist="38100" dir="5400000">
              <a:srgbClr val="000000">
                <a:alpha val="22000"/>
              </a:srgbClr>
            </a:outerShdw>
          </a:effectLst>
        </p:spPr>
      </p:sp>
      <p:sp>
        <p:nvSpPr>
          <p:cNvPr id="5" name="label Backend lint + pytes"/>
          <p:cNvSpPr txBox="1"/>
          <p:nvPr/>
        </p:nvSpPr>
        <p:spPr>
          <a:xfrm>
            <a:off x="548640" y="1600200"/>
            <a:ext cx="3017520" cy="914400"/>
          </a:xfrm>
          <a:prstGeom prst="rect">
            <a:avLst/>
          </a:prstGeom>
          <a:noFill/>
          <a:ln/>
        </p:spPr>
        <p:txBody>
          <a:bodyPr wrap="square" lIns="762" tIns="762" rIns="762" bIns="762" rtlCol="0" anchor="ctr"/>
          <a:lstStyle/>
          <a:p>
            <a:pPr algn="ctr" indent="0" marL="0">
              <a:buNone/>
            </a:pPr>
            <a:r>
              <a:rPr lang="en-US" sz="1700" b="1" dirty="0">
                <a:solidFill>
                  <a:schemeClr val="bg1"/>
                </a:solidFill>
              </a:rPr>
              <a:t>Backend lint + pytest</a:t>
            </a:r>
            <a:endParaRPr lang="en-US" sz="1700" dirty="0"/>
          </a:p>
        </p:txBody>
      </p:sp>
      <p:sp>
        <p:nvSpPr>
          <p:cNvPr id="6" name="box Frontend lint + buil"/>
          <p:cNvSpPr/>
          <p:nvPr/>
        </p:nvSpPr>
        <p:spPr>
          <a:xfrm>
            <a:off x="548640" y="2834640"/>
            <a:ext cx="3017520" cy="914400"/>
          </a:xfrm>
          <a:prstGeom prst="roundRect">
            <a:avLst>
              <a:gd name="adj" fmla="val 12000"/>
            </a:avLst>
          </a:prstGeom>
          <a:solidFill>
            <a:schemeClr val="accent1"/>
          </a:solidFill>
          <a:ln/>
          <a:effectLst>
            <a:outerShdw sx="100000" sy="100000" kx="0" ky="0" algn="bl" rotWithShape="0" blurRad="127000" dist="38100" dir="5400000">
              <a:srgbClr val="000000">
                <a:alpha val="22000"/>
              </a:srgbClr>
            </a:outerShdw>
          </a:effectLst>
        </p:spPr>
      </p:sp>
      <p:sp>
        <p:nvSpPr>
          <p:cNvPr id="7" name="label Frontend lint + buil"/>
          <p:cNvSpPr txBox="1"/>
          <p:nvPr/>
        </p:nvSpPr>
        <p:spPr>
          <a:xfrm>
            <a:off x="548640" y="2834640"/>
            <a:ext cx="3017520" cy="914400"/>
          </a:xfrm>
          <a:prstGeom prst="rect">
            <a:avLst/>
          </a:prstGeom>
          <a:noFill/>
          <a:ln/>
        </p:spPr>
        <p:txBody>
          <a:bodyPr wrap="square" lIns="762" tIns="762" rIns="762" bIns="762" rtlCol="0" anchor="ctr"/>
          <a:lstStyle/>
          <a:p>
            <a:pPr algn="ctr" indent="0" marL="0">
              <a:buNone/>
            </a:pPr>
            <a:r>
              <a:rPr lang="en-US" sz="1700" b="1" dirty="0">
                <a:solidFill>
                  <a:schemeClr val="bg1"/>
                </a:solidFill>
              </a:rPr>
              <a:t>Frontend lint + build</a:t>
            </a:r>
            <a:endParaRPr lang="en-US" sz="1700" dirty="0"/>
          </a:p>
        </p:txBody>
      </p:sp>
      <p:sp>
        <p:nvSpPr>
          <p:cNvPr id="8" name="box Terraform + Helm val"/>
          <p:cNvSpPr/>
          <p:nvPr/>
        </p:nvSpPr>
        <p:spPr>
          <a:xfrm>
            <a:off x="548640" y="4069080"/>
            <a:ext cx="3017520" cy="914400"/>
          </a:xfrm>
          <a:prstGeom prst="roundRect">
            <a:avLst>
              <a:gd name="adj" fmla="val 12000"/>
            </a:avLst>
          </a:prstGeom>
          <a:solidFill>
            <a:schemeClr val="accent1"/>
          </a:solidFill>
          <a:ln/>
          <a:effectLst>
            <a:outerShdw sx="100000" sy="100000" kx="0" ky="0" algn="bl" rotWithShape="0" blurRad="127000" dist="38100" dir="5400000">
              <a:srgbClr val="000000">
                <a:alpha val="22000"/>
              </a:srgbClr>
            </a:outerShdw>
          </a:effectLst>
        </p:spPr>
      </p:sp>
      <p:sp>
        <p:nvSpPr>
          <p:cNvPr id="9" name="label Terraform + Helm val"/>
          <p:cNvSpPr txBox="1"/>
          <p:nvPr/>
        </p:nvSpPr>
        <p:spPr>
          <a:xfrm>
            <a:off x="548640" y="4069080"/>
            <a:ext cx="3017520" cy="914400"/>
          </a:xfrm>
          <a:prstGeom prst="rect">
            <a:avLst/>
          </a:prstGeom>
          <a:noFill/>
          <a:ln/>
        </p:spPr>
        <p:txBody>
          <a:bodyPr wrap="square" lIns="762" tIns="762" rIns="762" bIns="762" rtlCol="0" anchor="ctr"/>
          <a:lstStyle/>
          <a:p>
            <a:pPr algn="ctr" indent="0" marL="0">
              <a:buNone/>
            </a:pPr>
            <a:r>
              <a:rPr lang="en-US" sz="1700" b="1" dirty="0">
                <a:solidFill>
                  <a:schemeClr val="bg1"/>
                </a:solidFill>
              </a:rPr>
              <a:t>Terraform + Helm validate</a:t>
            </a:r>
            <a:endParaRPr lang="en-US" sz="1700" dirty="0"/>
          </a:p>
        </p:txBody>
      </p:sp>
      <p:sp>
        <p:nvSpPr>
          <p:cNvPr id="10" name="arrow"/>
          <p:cNvSpPr/>
          <p:nvPr/>
        </p:nvSpPr>
        <p:spPr>
          <a:xfrm>
            <a:off x="3611880" y="2057400"/>
            <a:ext cx="960120" cy="1234440"/>
          </a:xfrm>
          <a:prstGeom prst="line">
            <a:avLst/>
          </a:prstGeom>
          <a:noFill/>
          <a:ln w="31750">
            <a:solidFill>
              <a:schemeClr val="accent6"/>
            </a:solidFill>
            <a:prstDash val="solid"/>
            <a:tailEnd type="triangle"/>
          </a:ln>
        </p:spPr>
      </p:sp>
      <p:sp>
        <p:nvSpPr>
          <p:cNvPr id="11" name="arrow"/>
          <p:cNvSpPr/>
          <p:nvPr/>
        </p:nvSpPr>
        <p:spPr>
          <a:xfrm>
            <a:off x="3611880" y="3291840"/>
            <a:ext cx="960120" cy="0"/>
          </a:xfrm>
          <a:prstGeom prst="line">
            <a:avLst/>
          </a:prstGeom>
          <a:noFill/>
          <a:ln w="31750">
            <a:solidFill>
              <a:schemeClr val="accent6"/>
            </a:solidFill>
            <a:prstDash val="solid"/>
            <a:tailEnd type="triangle"/>
          </a:ln>
        </p:spPr>
      </p:sp>
      <p:sp>
        <p:nvSpPr>
          <p:cNvPr id="12" name="arrow"/>
          <p:cNvSpPr/>
          <p:nvPr/>
        </p:nvSpPr>
        <p:spPr>
          <a:xfrm flipV="1">
            <a:off x="3611880" y="3291840"/>
            <a:ext cx="960120" cy="1234440"/>
          </a:xfrm>
          <a:prstGeom prst="line">
            <a:avLst/>
          </a:prstGeom>
          <a:noFill/>
          <a:ln w="31750">
            <a:solidFill>
              <a:schemeClr val="accent6"/>
            </a:solidFill>
            <a:prstDash val="solid"/>
            <a:tailEnd type="triangle"/>
          </a:ln>
        </p:spPr>
      </p:sp>
      <p:sp>
        <p:nvSpPr>
          <p:cNvPr id="13" name="box Build · Trivy scan ·"/>
          <p:cNvSpPr/>
          <p:nvPr/>
        </p:nvSpPr>
        <p:spPr>
          <a:xfrm>
            <a:off x="4617720" y="2743200"/>
            <a:ext cx="3200400" cy="1188720"/>
          </a:xfrm>
          <a:prstGeom prst="roundRect">
            <a:avLst>
              <a:gd name="adj" fmla="val 9231"/>
            </a:avLst>
          </a:prstGeom>
          <a:solidFill>
            <a:schemeClr val="accent3"/>
          </a:solidFill>
          <a:ln/>
          <a:effectLst>
            <a:outerShdw sx="100000" sy="100000" kx="0" ky="0" algn="bl" rotWithShape="0" blurRad="127000" dist="38100" dir="5400000">
              <a:srgbClr val="000000">
                <a:alpha val="22000"/>
              </a:srgbClr>
            </a:outerShdw>
          </a:effectLst>
        </p:spPr>
      </p:sp>
      <p:sp>
        <p:nvSpPr>
          <p:cNvPr id="14" name="label Build · Trivy scan ·"/>
          <p:cNvSpPr txBox="1"/>
          <p:nvPr/>
        </p:nvSpPr>
        <p:spPr>
          <a:xfrm>
            <a:off x="4617720" y="2743200"/>
            <a:ext cx="3200400" cy="1188720"/>
          </a:xfrm>
          <a:prstGeom prst="rect">
            <a:avLst/>
          </a:prstGeom>
          <a:noFill/>
          <a:ln/>
        </p:spPr>
        <p:txBody>
          <a:bodyPr wrap="square" lIns="762" tIns="762" rIns="762" bIns="762" rtlCol="0" anchor="ctr"/>
          <a:lstStyle/>
          <a:p>
            <a:pPr algn="ctr" indent="0" marL="0">
              <a:buNone/>
            </a:pPr>
            <a:r>
              <a:rPr lang="en-US" sz="1800" b="1" dirty="0">
                <a:solidFill>
                  <a:schemeClr val="bg1"/>
                </a:solidFill>
              </a:rPr>
              <a:t>Build · Trivy scan · push to GHCR</a:t>
            </a:r>
            <a:endParaRPr lang="en-US" sz="1800" dirty="0"/>
          </a:p>
        </p:txBody>
      </p:sp>
      <p:sp>
        <p:nvSpPr>
          <p:cNvPr id="15" name="arrow"/>
          <p:cNvSpPr/>
          <p:nvPr/>
        </p:nvSpPr>
        <p:spPr>
          <a:xfrm>
            <a:off x="7863840" y="3337560"/>
            <a:ext cx="502920" cy="0"/>
          </a:xfrm>
          <a:prstGeom prst="line">
            <a:avLst/>
          </a:prstGeom>
          <a:noFill/>
          <a:ln w="38100">
            <a:solidFill>
              <a:schemeClr val="accent6"/>
            </a:solidFill>
            <a:prstDash val="solid"/>
            <a:tailEnd type="triangle"/>
          </a:ln>
        </p:spPr>
      </p:sp>
      <p:sp>
        <p:nvSpPr>
          <p:cNvPr id="16" name="box Deploy with Helm (at"/>
          <p:cNvSpPr/>
          <p:nvPr/>
        </p:nvSpPr>
        <p:spPr>
          <a:xfrm>
            <a:off x="8412480" y="2743200"/>
            <a:ext cx="3246120" cy="1188720"/>
          </a:xfrm>
          <a:prstGeom prst="roundRect">
            <a:avLst>
              <a:gd name="adj" fmla="val 9231"/>
            </a:avLst>
          </a:prstGeom>
          <a:solidFill>
            <a:schemeClr val="accent2"/>
          </a:solidFill>
          <a:ln/>
          <a:effectLst>
            <a:outerShdw sx="100000" sy="100000" kx="0" ky="0" algn="bl" rotWithShape="0" blurRad="127000" dist="38100" dir="5400000">
              <a:srgbClr val="000000">
                <a:alpha val="22000"/>
              </a:srgbClr>
            </a:outerShdw>
          </a:effectLst>
        </p:spPr>
      </p:sp>
      <p:sp>
        <p:nvSpPr>
          <p:cNvPr id="17" name="label Deploy with Helm (at"/>
          <p:cNvSpPr txBox="1"/>
          <p:nvPr/>
        </p:nvSpPr>
        <p:spPr>
          <a:xfrm>
            <a:off x="8412480" y="2743200"/>
            <a:ext cx="3246120" cy="1188720"/>
          </a:xfrm>
          <a:prstGeom prst="rect">
            <a:avLst/>
          </a:prstGeom>
          <a:noFill/>
          <a:ln/>
        </p:spPr>
        <p:txBody>
          <a:bodyPr wrap="square" lIns="762" tIns="762" rIns="762" bIns="762" rtlCol="0" anchor="ctr"/>
          <a:lstStyle/>
          <a:p>
            <a:pPr algn="ctr" indent="0" marL="0">
              <a:buNone/>
            </a:pPr>
            <a:r>
              <a:rPr lang="en-US" sz="1800" b="1" dirty="0">
                <a:solidFill>
                  <a:schemeClr val="tx1"/>
                </a:solidFill>
              </a:rPr>
              <a:t>Deploy with Helm (atomic)</a:t>
            </a:r>
            <a:endParaRPr lang="en-US" sz="1800" dirty="0"/>
          </a:p>
        </p:txBody>
      </p:sp>
      <p:sp>
        <p:nvSpPr>
          <p:cNvPr id="18" name="card"/>
          <p:cNvSpPr/>
          <p:nvPr/>
        </p:nvSpPr>
        <p:spPr>
          <a:xfrm>
            <a:off x="548640" y="5074920"/>
            <a:ext cx="3520440" cy="1005840"/>
          </a:xfrm>
          <a:prstGeom prst="roundRect">
            <a:avLst>
              <a:gd name="adj" fmla="val 12727"/>
            </a:avLst>
          </a:prstGeom>
          <a:solidFill>
            <a:schemeClr val="bg2"/>
          </a:solidFill>
          <a:ln/>
        </p:spPr>
      </p:sp>
      <p:sp>
        <p:nvSpPr>
          <p:cNvPr id="19" name="icon bg FaCodeBranch"/>
          <p:cNvSpPr/>
          <p:nvPr/>
        </p:nvSpPr>
        <p:spPr>
          <a:xfrm>
            <a:off x="749808" y="5276088"/>
            <a:ext cx="603504" cy="603504"/>
          </a:xfrm>
          <a:prstGeom prst="ellipse">
            <a:avLst/>
          </a:prstGeom>
          <a:solidFill>
            <a:schemeClr val="accent1"/>
          </a:solidFill>
          <a:ln/>
        </p:spPr>
      </p:sp>
      <p:pic>
        <p:nvPicPr>
          <p:cNvPr id="20" name="icon FaCodeBranch" descr="FaCodeBranch">    </p:cNvPr>
          <p:cNvPicPr>
            <a:picLocks noChangeAspect="1"/>
          </p:cNvPicPr>
          <p:nvPr/>
        </p:nvPicPr>
        <p:blipFill>
          <a:blip r:embed="rId1"/>
          <a:stretch>
            <a:fillRect/>
          </a:stretch>
        </p:blipFill>
        <p:spPr>
          <a:xfrm>
            <a:off x="912754" y="5439034"/>
            <a:ext cx="277612" cy="277612"/>
          </a:xfrm>
          <a:prstGeom prst="rect">
            <a:avLst/>
          </a:prstGeom>
        </p:spPr>
      </p:pic>
      <p:sp>
        <p:nvSpPr>
          <p:cNvPr id="21" name="meta text"/>
          <p:cNvSpPr txBox="1"/>
          <p:nvPr/>
        </p:nvSpPr>
        <p:spPr>
          <a:xfrm>
            <a:off x="1463040" y="5074920"/>
            <a:ext cx="2514600" cy="1005840"/>
          </a:xfrm>
          <a:prstGeom prst="rect">
            <a:avLst/>
          </a:prstGeom>
          <a:noFill/>
          <a:ln/>
        </p:spPr>
        <p:txBody>
          <a:bodyPr wrap="square" lIns="0" tIns="0" rIns="0" bIns="0" rtlCol="0" anchor="ctr"/>
          <a:lstStyle/>
          <a:p>
            <a:pPr indent="0" marL="0">
              <a:buNone/>
            </a:pPr>
            <a:r>
              <a:rPr lang="en-US" sz="1700" b="1" dirty="0">
                <a:solidFill>
                  <a:schemeClr val="tx1"/>
                </a:solidFill>
              </a:rPr>
              <a:t>On push and PR to main</a:t>
            </a:r>
            <a:endParaRPr lang="en-US" sz="1700" dirty="0"/>
          </a:p>
        </p:txBody>
      </p:sp>
      <p:sp>
        <p:nvSpPr>
          <p:cNvPr id="22" name="card"/>
          <p:cNvSpPr/>
          <p:nvPr/>
        </p:nvSpPr>
        <p:spPr>
          <a:xfrm>
            <a:off x="4297680" y="5074920"/>
            <a:ext cx="3520440" cy="1005840"/>
          </a:xfrm>
          <a:prstGeom prst="roundRect">
            <a:avLst>
              <a:gd name="adj" fmla="val 12727"/>
            </a:avLst>
          </a:prstGeom>
          <a:solidFill>
            <a:schemeClr val="bg2"/>
          </a:solidFill>
          <a:ln/>
        </p:spPr>
      </p:sp>
      <p:sp>
        <p:nvSpPr>
          <p:cNvPr id="23" name="icon bg FaTag"/>
          <p:cNvSpPr/>
          <p:nvPr/>
        </p:nvSpPr>
        <p:spPr>
          <a:xfrm>
            <a:off x="4498848" y="5276088"/>
            <a:ext cx="603504" cy="603504"/>
          </a:xfrm>
          <a:prstGeom prst="ellipse">
            <a:avLst/>
          </a:prstGeom>
          <a:solidFill>
            <a:schemeClr val="accent1"/>
          </a:solidFill>
          <a:ln/>
        </p:spPr>
      </p:sp>
      <p:pic>
        <p:nvPicPr>
          <p:cNvPr id="24" name="icon FaTag" descr="FaTag">    </p:cNvPr>
          <p:cNvPicPr>
            <a:picLocks noChangeAspect="1"/>
          </p:cNvPicPr>
          <p:nvPr/>
        </p:nvPicPr>
        <p:blipFill>
          <a:blip r:embed="rId2"/>
          <a:stretch>
            <a:fillRect/>
          </a:stretch>
        </p:blipFill>
        <p:spPr>
          <a:xfrm>
            <a:off x="4661794" y="5439034"/>
            <a:ext cx="277612" cy="277612"/>
          </a:xfrm>
          <a:prstGeom prst="rect">
            <a:avLst/>
          </a:prstGeom>
        </p:spPr>
      </p:pic>
      <p:sp>
        <p:nvSpPr>
          <p:cNvPr id="25" name="meta text"/>
          <p:cNvSpPr txBox="1"/>
          <p:nvPr/>
        </p:nvSpPr>
        <p:spPr>
          <a:xfrm>
            <a:off x="5212080" y="5074920"/>
            <a:ext cx="2514600" cy="1005840"/>
          </a:xfrm>
          <a:prstGeom prst="rect">
            <a:avLst/>
          </a:prstGeom>
          <a:noFill/>
          <a:ln/>
        </p:spPr>
        <p:txBody>
          <a:bodyPr wrap="square" lIns="0" tIns="0" rIns="0" bIns="0" rtlCol="0" anchor="ctr"/>
          <a:lstStyle/>
          <a:p>
            <a:pPr indent="0" marL="0">
              <a:buNone/>
            </a:pPr>
            <a:r>
              <a:rPr lang="en-US" sz="1700" b="1" dirty="0">
                <a:solidFill>
                  <a:schemeClr val="tx1"/>
                </a:solidFill>
              </a:rPr>
              <a:t>Tag = full Git SHA, never latest</a:t>
            </a:r>
            <a:endParaRPr lang="en-US" sz="1700" dirty="0"/>
          </a:p>
        </p:txBody>
      </p:sp>
      <p:sp>
        <p:nvSpPr>
          <p:cNvPr id="26" name="card"/>
          <p:cNvSpPr/>
          <p:nvPr/>
        </p:nvSpPr>
        <p:spPr>
          <a:xfrm>
            <a:off x="8046720" y="5074920"/>
            <a:ext cx="3520440" cy="1005840"/>
          </a:xfrm>
          <a:prstGeom prst="roundRect">
            <a:avLst>
              <a:gd name="adj" fmla="val 12727"/>
            </a:avLst>
          </a:prstGeom>
          <a:solidFill>
            <a:schemeClr val="bg2"/>
          </a:solidFill>
          <a:ln/>
        </p:spPr>
      </p:sp>
      <p:sp>
        <p:nvSpPr>
          <p:cNvPr id="27" name="icon bg FaToggleOn"/>
          <p:cNvSpPr/>
          <p:nvPr/>
        </p:nvSpPr>
        <p:spPr>
          <a:xfrm>
            <a:off x="8247888" y="5276088"/>
            <a:ext cx="603504" cy="603504"/>
          </a:xfrm>
          <a:prstGeom prst="ellipse">
            <a:avLst/>
          </a:prstGeom>
          <a:solidFill>
            <a:schemeClr val="accent1"/>
          </a:solidFill>
          <a:ln/>
        </p:spPr>
      </p:sp>
      <p:pic>
        <p:nvPicPr>
          <p:cNvPr id="28" name="icon FaToggleOn" descr="FaToggleOn">    </p:cNvPr>
          <p:cNvPicPr>
            <a:picLocks noChangeAspect="1"/>
          </p:cNvPicPr>
          <p:nvPr/>
        </p:nvPicPr>
        <p:blipFill>
          <a:blip r:embed="rId3"/>
          <a:stretch>
            <a:fillRect/>
          </a:stretch>
        </p:blipFill>
        <p:spPr>
          <a:xfrm>
            <a:off x="8410834" y="5439034"/>
            <a:ext cx="277612" cy="277612"/>
          </a:xfrm>
          <a:prstGeom prst="rect">
            <a:avLst/>
          </a:prstGeom>
        </p:spPr>
      </p:pic>
      <p:sp>
        <p:nvSpPr>
          <p:cNvPr id="29" name="meta text"/>
          <p:cNvSpPr txBox="1"/>
          <p:nvPr/>
        </p:nvSpPr>
        <p:spPr>
          <a:xfrm>
            <a:off x="8961120" y="5074920"/>
            <a:ext cx="2514600" cy="1005840"/>
          </a:xfrm>
          <a:prstGeom prst="rect">
            <a:avLst/>
          </a:prstGeom>
          <a:noFill/>
          <a:ln/>
        </p:spPr>
        <p:txBody>
          <a:bodyPr wrap="square" lIns="0" tIns="0" rIns="0" bIns="0" rtlCol="0" anchor="ctr"/>
          <a:lstStyle/>
          <a:p>
            <a:pPr indent="0" marL="0">
              <a:buNone/>
            </a:pPr>
            <a:r>
              <a:rPr lang="en-US" sz="1700" b="1" dirty="0">
                <a:solidFill>
                  <a:schemeClr val="tx1"/>
                </a:solidFill>
              </a:rPr>
              <a:t>Deploy only when enabled</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A failing test stops everything</a:t>
            </a:r>
            <a:endParaRPr lang="en-US" sz="3400" dirty="0"/>
          </a:p>
        </p:txBody>
      </p:sp>
      <p:sp>
        <p:nvSpPr>
          <p:cNvPr id="4" name="frame m5-green-run"/>
          <p:cNvSpPr/>
          <p:nvPr/>
        </p:nvSpPr>
        <p:spPr>
          <a:xfrm>
            <a:off x="493776" y="1635252"/>
            <a:ext cx="5596128" cy="3678936"/>
          </a:xfrm>
          <a:prstGeom prst="roundRect">
            <a:avLst>
              <a:gd name="adj" fmla="val 1491"/>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m5-green-run" descr="m5-green-run">    </p:cNvPr>
          <p:cNvPicPr>
            <a:picLocks noChangeAspect="1"/>
          </p:cNvPicPr>
          <p:nvPr/>
        </p:nvPicPr>
        <p:blipFill>
          <a:blip r:embed="rId1"/>
          <a:stretch>
            <a:fillRect/>
          </a:stretch>
        </p:blipFill>
        <p:spPr>
          <a:xfrm>
            <a:off x="548640" y="1690116"/>
            <a:ext cx="5486400" cy="3569208"/>
          </a:xfrm>
          <a:prstGeom prst="rect">
            <a:avLst/>
          </a:prstGeom>
        </p:spPr>
      </p:pic>
      <p:sp>
        <p:nvSpPr>
          <p:cNvPr id="6" name="caption"/>
          <p:cNvSpPr txBox="1"/>
          <p:nvPr/>
        </p:nvSpPr>
        <p:spPr>
          <a:xfrm>
            <a:off x="493776" y="5387340"/>
            <a:ext cx="5596128" cy="365760"/>
          </a:xfrm>
          <a:prstGeom prst="rect">
            <a:avLst/>
          </a:prstGeom>
          <a:noFill/>
          <a:ln/>
        </p:spPr>
        <p:txBody>
          <a:bodyPr wrap="square" lIns="0" tIns="0" rIns="0" bIns="0" rtlCol="0" anchor="ctr"/>
          <a:lstStyle/>
          <a:p>
            <a:pPr algn="ctr" indent="0" marL="0">
              <a:buNone/>
            </a:pPr>
            <a:r>
              <a:rPr lang="en-US" sz="1400" dirty="0">
                <a:solidFill>
                  <a:schemeClr val="accent6"/>
                </a:solidFill>
              </a:rPr>
              <a:t>Green: every job passes</a:t>
            </a:r>
            <a:endParaRPr lang="en-US" sz="1400" dirty="0"/>
          </a:p>
        </p:txBody>
      </p:sp>
      <p:sp>
        <p:nvSpPr>
          <p:cNvPr id="7" name="frame m5-red-run"/>
          <p:cNvSpPr/>
          <p:nvPr/>
        </p:nvSpPr>
        <p:spPr>
          <a:xfrm>
            <a:off x="6117336" y="1635252"/>
            <a:ext cx="5596128" cy="3678936"/>
          </a:xfrm>
          <a:prstGeom prst="roundRect">
            <a:avLst>
              <a:gd name="adj" fmla="val 1491"/>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8" name="m5-red-run" descr="m5-red-run">    </p:cNvPr>
          <p:cNvPicPr>
            <a:picLocks noChangeAspect="1"/>
          </p:cNvPicPr>
          <p:nvPr/>
        </p:nvPicPr>
        <p:blipFill>
          <a:blip r:embed="rId2"/>
          <a:stretch>
            <a:fillRect/>
          </a:stretch>
        </p:blipFill>
        <p:spPr>
          <a:xfrm>
            <a:off x="6172200" y="1690116"/>
            <a:ext cx="5486400" cy="3569208"/>
          </a:xfrm>
          <a:prstGeom prst="rect">
            <a:avLst/>
          </a:prstGeom>
        </p:spPr>
      </p:pic>
      <p:sp>
        <p:nvSpPr>
          <p:cNvPr id="9" name="caption"/>
          <p:cNvSpPr txBox="1"/>
          <p:nvPr/>
        </p:nvSpPr>
        <p:spPr>
          <a:xfrm>
            <a:off x="6117336" y="5387340"/>
            <a:ext cx="5596128" cy="365760"/>
          </a:xfrm>
          <a:prstGeom prst="rect">
            <a:avLst/>
          </a:prstGeom>
          <a:noFill/>
          <a:ln/>
        </p:spPr>
        <p:txBody>
          <a:bodyPr wrap="square" lIns="0" tIns="0" rIns="0" bIns="0" rtlCol="0" anchor="ctr"/>
          <a:lstStyle/>
          <a:p>
            <a:pPr algn="ctr" indent="0" marL="0">
              <a:buNone/>
            </a:pPr>
            <a:r>
              <a:rPr lang="en-US" sz="1400" dirty="0">
                <a:solidFill>
                  <a:schemeClr val="accent6"/>
                </a:solidFill>
              </a:rPr>
              <a:t>Red: one failing test blocks build, scan and deploy</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Images ship to GHCR tagged by commit SHA</a:t>
            </a:r>
            <a:endParaRPr lang="en-US" sz="3400" dirty="0"/>
          </a:p>
        </p:txBody>
      </p:sp>
      <p:sp>
        <p:nvSpPr>
          <p:cNvPr id="4" name="frame m5-ghcr-backend"/>
          <p:cNvSpPr/>
          <p:nvPr/>
        </p:nvSpPr>
        <p:spPr>
          <a:xfrm>
            <a:off x="493776" y="1648968"/>
            <a:ext cx="5596128" cy="3651504"/>
          </a:xfrm>
          <a:prstGeom prst="roundRect">
            <a:avLst>
              <a:gd name="adj" fmla="val 1503"/>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m5-ghcr-backend" descr="m5-ghcr-backend">    </p:cNvPr>
          <p:cNvPicPr>
            <a:picLocks noChangeAspect="1"/>
          </p:cNvPicPr>
          <p:nvPr/>
        </p:nvPicPr>
        <p:blipFill>
          <a:blip r:embed="rId1"/>
          <a:stretch>
            <a:fillRect/>
          </a:stretch>
        </p:blipFill>
        <p:spPr>
          <a:xfrm>
            <a:off x="548640" y="1703832"/>
            <a:ext cx="5486400" cy="3541776"/>
          </a:xfrm>
          <a:prstGeom prst="rect">
            <a:avLst/>
          </a:prstGeom>
        </p:spPr>
      </p:pic>
      <p:sp>
        <p:nvSpPr>
          <p:cNvPr id="6" name="caption"/>
          <p:cNvSpPr txBox="1"/>
          <p:nvPr/>
        </p:nvSpPr>
        <p:spPr>
          <a:xfrm>
            <a:off x="493776" y="5373624"/>
            <a:ext cx="5596128" cy="365760"/>
          </a:xfrm>
          <a:prstGeom prst="rect">
            <a:avLst/>
          </a:prstGeom>
          <a:noFill/>
          <a:ln/>
        </p:spPr>
        <p:txBody>
          <a:bodyPr wrap="square" lIns="0" tIns="0" rIns="0" bIns="0" rtlCol="0" anchor="ctr"/>
          <a:lstStyle/>
          <a:p>
            <a:pPr algn="ctr" indent="0" marL="0">
              <a:buNone/>
            </a:pPr>
            <a:r>
              <a:rPr lang="en-US" sz="1400" dirty="0">
                <a:solidFill>
                  <a:schemeClr val="accent6"/>
                </a:solidFill>
              </a:rPr>
              <a:t>waiting-room-backend</a:t>
            </a:r>
            <a:endParaRPr lang="en-US" sz="1400" dirty="0"/>
          </a:p>
        </p:txBody>
      </p:sp>
      <p:sp>
        <p:nvSpPr>
          <p:cNvPr id="7" name="frame m5-ghcr-frontend"/>
          <p:cNvSpPr/>
          <p:nvPr/>
        </p:nvSpPr>
        <p:spPr>
          <a:xfrm>
            <a:off x="6117336" y="1642872"/>
            <a:ext cx="5596128" cy="3663696"/>
          </a:xfrm>
          <a:prstGeom prst="roundRect">
            <a:avLst>
              <a:gd name="adj" fmla="val 1498"/>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8" name="m5-ghcr-frontend" descr="m5-ghcr-frontend">    </p:cNvPr>
          <p:cNvPicPr>
            <a:picLocks noChangeAspect="1"/>
          </p:cNvPicPr>
          <p:nvPr/>
        </p:nvPicPr>
        <p:blipFill>
          <a:blip r:embed="rId2"/>
          <a:stretch>
            <a:fillRect/>
          </a:stretch>
        </p:blipFill>
        <p:spPr>
          <a:xfrm>
            <a:off x="6172200" y="1697736"/>
            <a:ext cx="5486400" cy="3553968"/>
          </a:xfrm>
          <a:prstGeom prst="rect">
            <a:avLst/>
          </a:prstGeom>
        </p:spPr>
      </p:pic>
      <p:sp>
        <p:nvSpPr>
          <p:cNvPr id="9" name="caption"/>
          <p:cNvSpPr txBox="1"/>
          <p:nvPr/>
        </p:nvSpPr>
        <p:spPr>
          <a:xfrm>
            <a:off x="6117336" y="5379720"/>
            <a:ext cx="5596128" cy="365760"/>
          </a:xfrm>
          <a:prstGeom prst="rect">
            <a:avLst/>
          </a:prstGeom>
          <a:noFill/>
          <a:ln/>
        </p:spPr>
        <p:txBody>
          <a:bodyPr wrap="square" lIns="0" tIns="0" rIns="0" bIns="0" rtlCol="0" anchor="ctr"/>
          <a:lstStyle/>
          <a:p>
            <a:pPr algn="ctr" indent="0" marL="0">
              <a:buNone/>
            </a:pPr>
            <a:r>
              <a:rPr lang="en-US" sz="1400" dirty="0">
                <a:solidFill>
                  <a:schemeClr val="accent6"/>
                </a:solidFill>
              </a:rPr>
              <a:t>waiting-room-frontend</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Trivy gates every image</a:t>
            </a:r>
            <a:endParaRPr lang="en-US" sz="3400" dirty="0"/>
          </a:p>
        </p:txBody>
      </p:sp>
      <p:sp>
        <p:nvSpPr>
          <p:cNvPr id="4" name="bullets"/>
          <p:cNvSpPr txBox="1"/>
          <p:nvPr/>
        </p:nvSpPr>
        <p:spPr>
          <a:xfrm>
            <a:off x="548640" y="1554480"/>
            <a:ext cx="4846320" cy="4389120"/>
          </a:xfrm>
          <a:prstGeom prst="rect">
            <a:avLst/>
          </a:prstGeom>
          <a:noFill/>
          <a:ln/>
        </p:spPr>
        <p:txBody>
          <a:bodyPr wrap="square" lIns="0" tIns="0" rIns="0" bIns="0" rtlCol="0" anchor="t"/>
          <a:lstStyle/>
          <a:p>
            <a:pPr marL="228600" indent="-228600">
              <a:spcAft>
                <a:spcPts val="1200"/>
              </a:spcAft>
              <a:buSzPct val="100000"/>
              <a:buChar char="•"/>
            </a:pPr>
            <a:r>
              <a:rPr lang="en-US" sz="2100" b="1" dirty="0">
                <a:solidFill>
                  <a:schemeClr val="tx1"/>
                </a:solidFill>
              </a:rPr>
              <a:t>Scans </a:t>
            </a:r>
            <a:pPr indent="0" marL="0">
              <a:spcAft>
                <a:spcPts val="1200"/>
              </a:spcAft>
              <a:buNone/>
            </a:pPr>
            <a:r>
              <a:rPr lang="en-US" sz="2100" dirty="0">
                <a:solidFill>
                  <a:schemeClr val="tx1"/>
                </a:solidFill>
              </a:rPr>
              <a:t>OS packages and dependencies in both images</a:t>
            </a:r>
            <a:endParaRPr lang="en-US" sz="2100" dirty="0"/>
          </a:p>
          <a:p>
            <a:pPr marL="228600" indent="-228600">
              <a:spcAft>
                <a:spcPts val="1200"/>
              </a:spcAft>
              <a:buSzPct val="100000"/>
              <a:buChar char="•"/>
            </a:pPr>
            <a:r>
              <a:rPr lang="en-US" sz="2100" b="1" dirty="0">
                <a:solidFill>
                  <a:schemeClr val="tx1"/>
                </a:solidFill>
              </a:rPr>
              <a:t>Fails the build </a:t>
            </a:r>
            <a:pPr indent="0" marL="0">
              <a:spcAft>
                <a:spcPts val="1200"/>
              </a:spcAft>
              <a:buNone/>
            </a:pPr>
            <a:r>
              <a:rPr lang="en-US" sz="2100" dirty="0">
                <a:solidFill>
                  <a:schemeClr val="tx1"/>
                </a:solidFill>
              </a:rPr>
              <a:t>on fixable HIGH or CRITICAL CVEs</a:t>
            </a:r>
            <a:endParaRPr lang="en-US" sz="2100" dirty="0"/>
          </a:p>
          <a:p>
            <a:pPr marL="228600" indent="-228600">
              <a:spcAft>
                <a:spcPts val="1200"/>
              </a:spcAft>
              <a:buSzPct val="100000"/>
              <a:buChar char="•"/>
            </a:pPr>
            <a:r>
              <a:rPr lang="en-US" sz="2100" b="1" dirty="0">
                <a:solidFill>
                  <a:schemeClr val="tx1"/>
                </a:solidFill>
              </a:rPr>
              <a:t>Latest result: </a:t>
            </a:r>
            <a:pPr indent="0" marL="0">
              <a:spcAft>
                <a:spcPts val="1200"/>
              </a:spcAft>
              <a:buNone/>
            </a:pPr>
            <a:r>
              <a:rPr lang="en-US" sz="2100" dirty="0">
                <a:solidFill>
                  <a:schemeClr val="tx1"/>
                </a:solidFill>
              </a:rPr>
              <a:t>0 findings</a:t>
            </a:r>
            <a:endParaRPr lang="en-US" sz="2100" dirty="0"/>
          </a:p>
          <a:p>
            <a:pPr marL="228600" indent="-228600">
              <a:spcAft>
                <a:spcPts val="1200"/>
              </a:spcAft>
              <a:buSzPct val="100000"/>
              <a:buChar char="•"/>
            </a:pPr>
            <a:r>
              <a:rPr lang="en-US" sz="2100" b="1" dirty="0">
                <a:solidFill>
                  <a:schemeClr val="tx1"/>
                </a:solidFill>
              </a:rPr>
              <a:t>Publishes </a:t>
            </a:r>
            <a:pPr indent="0" marL="0">
              <a:spcAft>
                <a:spcPts val="1200"/>
              </a:spcAft>
              <a:buNone/>
            </a:pPr>
            <a:r>
              <a:rPr lang="en-US" sz="2100" dirty="0">
                <a:solidFill>
                  <a:schemeClr val="tx1"/>
                </a:solidFill>
              </a:rPr>
              <a:t>a SARIF report to the Security tab</a:t>
            </a:r>
            <a:endParaRPr lang="en-US" sz="2100" dirty="0"/>
          </a:p>
        </p:txBody>
      </p:sp>
      <p:sp>
        <p:nvSpPr>
          <p:cNvPr id="5" name="frame m6-trivy"/>
          <p:cNvSpPr/>
          <p:nvPr/>
        </p:nvSpPr>
        <p:spPr>
          <a:xfrm>
            <a:off x="5705856" y="1723606"/>
            <a:ext cx="6007608" cy="3867988"/>
          </a:xfrm>
          <a:prstGeom prst="roundRect">
            <a:avLst>
              <a:gd name="adj" fmla="val 1418"/>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6" name="m6-trivy" descr="m6-trivy">    </p:cNvPr>
          <p:cNvPicPr>
            <a:picLocks noChangeAspect="1"/>
          </p:cNvPicPr>
          <p:nvPr/>
        </p:nvPicPr>
        <p:blipFill>
          <a:blip r:embed="rId1"/>
          <a:stretch>
            <a:fillRect/>
          </a:stretch>
        </p:blipFill>
        <p:spPr>
          <a:xfrm>
            <a:off x="5760720" y="1778470"/>
            <a:ext cx="5897880" cy="3758260"/>
          </a:xfrm>
          <a:prstGeom prst="rect">
            <a:avLst/>
          </a:prstGeom>
        </p:spPr>
      </p:pic>
      <p:sp>
        <p:nvSpPr>
          <p:cNvPr id="7" name="caption"/>
          <p:cNvSpPr txBox="1"/>
          <p:nvPr/>
        </p:nvSpPr>
        <p:spPr>
          <a:xfrm>
            <a:off x="5705856" y="5664746"/>
            <a:ext cx="6007608" cy="365760"/>
          </a:xfrm>
          <a:prstGeom prst="rect">
            <a:avLst/>
          </a:prstGeom>
          <a:noFill/>
          <a:ln/>
        </p:spPr>
        <p:txBody>
          <a:bodyPr wrap="square" lIns="0" tIns="0" rIns="0" bIns="0" rtlCol="0" anchor="ctr"/>
          <a:lstStyle/>
          <a:p>
            <a:pPr algn="ctr" indent="0" marL="0">
              <a:buNone/>
            </a:pPr>
            <a:r>
              <a:rPr lang="en-US" sz="1400" dirty="0">
                <a:solidFill>
                  <a:schemeClr val="accent6"/>
                </a:solidFill>
              </a:rPr>
              <a:t>Trivy report from the pipeline run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Security runs through the whole pipeline</a:t>
            </a:r>
            <a:endParaRPr lang="en-US" sz="3400" dirty="0"/>
          </a:p>
        </p:txBody>
      </p:sp>
      <p:sp>
        <p:nvSpPr>
          <p:cNvPr id="4" name="card"/>
          <p:cNvSpPr/>
          <p:nvPr/>
        </p:nvSpPr>
        <p:spPr>
          <a:xfrm>
            <a:off x="548640" y="1463040"/>
            <a:ext cx="3520440" cy="2240280"/>
          </a:xfrm>
          <a:prstGeom prst="roundRect">
            <a:avLst>
              <a:gd name="adj" fmla="val 5714"/>
            </a:avLst>
          </a:prstGeom>
          <a:solidFill>
            <a:schemeClr val="bg2"/>
          </a:solidFill>
          <a:ln/>
        </p:spPr>
      </p:sp>
      <p:sp>
        <p:nvSpPr>
          <p:cNvPr id="5" name="icon bg FaUserShield"/>
          <p:cNvSpPr/>
          <p:nvPr/>
        </p:nvSpPr>
        <p:spPr>
          <a:xfrm>
            <a:off x="777240" y="1691640"/>
            <a:ext cx="685800" cy="685800"/>
          </a:xfrm>
          <a:prstGeom prst="ellipse">
            <a:avLst/>
          </a:prstGeom>
          <a:solidFill>
            <a:schemeClr val="accent1"/>
          </a:solidFill>
          <a:ln/>
        </p:spPr>
      </p:sp>
      <p:pic>
        <p:nvPicPr>
          <p:cNvPr id="6" name="icon FaUserShield" descr="FaUserShield">    </p:cNvPr>
          <p:cNvPicPr>
            <a:picLocks noChangeAspect="1"/>
          </p:cNvPicPr>
          <p:nvPr/>
        </p:nvPicPr>
        <p:blipFill>
          <a:blip r:embed="rId1"/>
          <a:stretch>
            <a:fillRect/>
          </a:stretch>
        </p:blipFill>
        <p:spPr>
          <a:xfrm>
            <a:off x="962406" y="1876806"/>
            <a:ext cx="315468" cy="315468"/>
          </a:xfrm>
          <a:prstGeom prst="rect">
            <a:avLst/>
          </a:prstGeom>
        </p:spPr>
      </p:pic>
      <p:sp>
        <p:nvSpPr>
          <p:cNvPr id="7" name="sec head"/>
          <p:cNvSpPr txBox="1"/>
          <p:nvPr/>
        </p:nvSpPr>
        <p:spPr>
          <a:xfrm>
            <a:off x="777240" y="2468880"/>
            <a:ext cx="3108960" cy="411480"/>
          </a:xfrm>
          <a:prstGeom prst="rect">
            <a:avLst/>
          </a:prstGeom>
          <a:noFill/>
          <a:ln/>
        </p:spPr>
        <p:txBody>
          <a:bodyPr wrap="square" lIns="0" tIns="0" rIns="0" bIns="0" rtlCol="0" anchor="ctr"/>
          <a:lstStyle/>
          <a:p>
            <a:pPr indent="0" marL="0">
              <a:buNone/>
            </a:pPr>
            <a:r>
              <a:rPr lang="en-US" sz="1900" b="1" dirty="0">
                <a:solidFill>
                  <a:schemeClr val="tx1"/>
                </a:solidFill>
              </a:rPr>
              <a:t>Non-root everywhere</a:t>
            </a:r>
            <a:endParaRPr lang="en-US" sz="1900" dirty="0"/>
          </a:p>
        </p:txBody>
      </p:sp>
      <p:sp>
        <p:nvSpPr>
          <p:cNvPr id="8" name="sec text"/>
          <p:cNvSpPr txBox="1"/>
          <p:nvPr/>
        </p:nvSpPr>
        <p:spPr>
          <a:xfrm>
            <a:off x="777240" y="2880360"/>
            <a:ext cx="3108960" cy="777240"/>
          </a:xfrm>
          <a:prstGeom prst="rect">
            <a:avLst/>
          </a:prstGeom>
          <a:noFill/>
          <a:ln/>
        </p:spPr>
        <p:txBody>
          <a:bodyPr wrap="square" lIns="0" tIns="0" rIns="0" bIns="0" rtlCol="0" anchor="t"/>
          <a:lstStyle/>
          <a:p>
            <a:pPr indent="0" marL="0">
              <a:buNone/>
            </a:pPr>
            <a:r>
              <a:rPr lang="en-US" sz="1500" dirty="0">
                <a:solidFill>
                  <a:schemeClr val="accent6"/>
                </a:solidFill>
              </a:rPr>
              <a:t>Containers drop all capabilities and use read-only root filesystems</a:t>
            </a:r>
            <a:endParaRPr lang="en-US" sz="1500" dirty="0"/>
          </a:p>
        </p:txBody>
      </p:sp>
      <p:sp>
        <p:nvSpPr>
          <p:cNvPr id="9" name="card"/>
          <p:cNvSpPr/>
          <p:nvPr/>
        </p:nvSpPr>
        <p:spPr>
          <a:xfrm>
            <a:off x="4297680" y="1463040"/>
            <a:ext cx="3520440" cy="2240280"/>
          </a:xfrm>
          <a:prstGeom prst="roundRect">
            <a:avLst>
              <a:gd name="adj" fmla="val 5714"/>
            </a:avLst>
          </a:prstGeom>
          <a:solidFill>
            <a:schemeClr val="bg2"/>
          </a:solidFill>
          <a:ln/>
        </p:spPr>
      </p:sp>
      <p:sp>
        <p:nvSpPr>
          <p:cNvPr id="10" name="icon bg FaThumbtack"/>
          <p:cNvSpPr/>
          <p:nvPr/>
        </p:nvSpPr>
        <p:spPr>
          <a:xfrm>
            <a:off x="4526280" y="1691640"/>
            <a:ext cx="685800" cy="685800"/>
          </a:xfrm>
          <a:prstGeom prst="ellipse">
            <a:avLst/>
          </a:prstGeom>
          <a:solidFill>
            <a:schemeClr val="accent1"/>
          </a:solidFill>
          <a:ln/>
        </p:spPr>
      </p:sp>
      <p:pic>
        <p:nvPicPr>
          <p:cNvPr id="11" name="icon FaThumbtack" descr="FaThumbtack">    </p:cNvPr>
          <p:cNvPicPr>
            <a:picLocks noChangeAspect="1"/>
          </p:cNvPicPr>
          <p:nvPr/>
        </p:nvPicPr>
        <p:blipFill>
          <a:blip r:embed="rId2"/>
          <a:stretch>
            <a:fillRect/>
          </a:stretch>
        </p:blipFill>
        <p:spPr>
          <a:xfrm>
            <a:off x="4711446" y="1876806"/>
            <a:ext cx="315468" cy="315468"/>
          </a:xfrm>
          <a:prstGeom prst="rect">
            <a:avLst/>
          </a:prstGeom>
        </p:spPr>
      </p:pic>
      <p:sp>
        <p:nvSpPr>
          <p:cNvPr id="12" name="sec head"/>
          <p:cNvSpPr txBox="1"/>
          <p:nvPr/>
        </p:nvSpPr>
        <p:spPr>
          <a:xfrm>
            <a:off x="4526280" y="2468880"/>
            <a:ext cx="3108960" cy="411480"/>
          </a:xfrm>
          <a:prstGeom prst="rect">
            <a:avLst/>
          </a:prstGeom>
          <a:noFill/>
          <a:ln/>
        </p:spPr>
        <p:txBody>
          <a:bodyPr wrap="square" lIns="0" tIns="0" rIns="0" bIns="0" rtlCol="0" anchor="ctr"/>
          <a:lstStyle/>
          <a:p>
            <a:pPr indent="0" marL="0">
              <a:buNone/>
            </a:pPr>
            <a:r>
              <a:rPr lang="en-US" sz="1900" b="1" dirty="0">
                <a:solidFill>
                  <a:schemeClr val="tx1"/>
                </a:solidFill>
              </a:rPr>
              <a:t>Actions pinned by SHA</a:t>
            </a:r>
            <a:endParaRPr lang="en-US" sz="1900" dirty="0"/>
          </a:p>
        </p:txBody>
      </p:sp>
      <p:sp>
        <p:nvSpPr>
          <p:cNvPr id="13" name="sec text"/>
          <p:cNvSpPr txBox="1"/>
          <p:nvPr/>
        </p:nvSpPr>
        <p:spPr>
          <a:xfrm>
            <a:off x="4526280" y="2880360"/>
            <a:ext cx="3108960" cy="777240"/>
          </a:xfrm>
          <a:prstGeom prst="rect">
            <a:avLst/>
          </a:prstGeom>
          <a:noFill/>
          <a:ln/>
        </p:spPr>
        <p:txBody>
          <a:bodyPr wrap="square" lIns="0" tIns="0" rIns="0" bIns="0" rtlCol="0" anchor="t"/>
          <a:lstStyle/>
          <a:p>
            <a:pPr indent="0" marL="0">
              <a:buNone/>
            </a:pPr>
            <a:r>
              <a:rPr lang="en-US" sz="1500" dirty="0">
                <a:solidFill>
                  <a:schemeClr val="accent6"/>
                </a:solidFill>
              </a:rPr>
              <a:t>A 2026 supply-chain attack hit a mutable scanner tag</a:t>
            </a:r>
            <a:endParaRPr lang="en-US" sz="1500" dirty="0"/>
          </a:p>
        </p:txBody>
      </p:sp>
      <p:sp>
        <p:nvSpPr>
          <p:cNvPr id="14" name="card"/>
          <p:cNvSpPr/>
          <p:nvPr/>
        </p:nvSpPr>
        <p:spPr>
          <a:xfrm>
            <a:off x="8046720" y="1463040"/>
            <a:ext cx="3520440" cy="2240280"/>
          </a:xfrm>
          <a:prstGeom prst="roundRect">
            <a:avLst>
              <a:gd name="adj" fmla="val 5714"/>
            </a:avLst>
          </a:prstGeom>
          <a:solidFill>
            <a:schemeClr val="bg2"/>
          </a:solidFill>
          <a:ln/>
        </p:spPr>
      </p:sp>
      <p:sp>
        <p:nvSpPr>
          <p:cNvPr id="15" name="icon bg FaKey"/>
          <p:cNvSpPr/>
          <p:nvPr/>
        </p:nvSpPr>
        <p:spPr>
          <a:xfrm>
            <a:off x="8275320" y="1691640"/>
            <a:ext cx="685800" cy="685800"/>
          </a:xfrm>
          <a:prstGeom prst="ellipse">
            <a:avLst/>
          </a:prstGeom>
          <a:solidFill>
            <a:schemeClr val="accent1"/>
          </a:solidFill>
          <a:ln/>
        </p:spPr>
      </p:sp>
      <p:pic>
        <p:nvPicPr>
          <p:cNvPr id="16" name="icon FaKey" descr="FaKey">    </p:cNvPr>
          <p:cNvPicPr>
            <a:picLocks noChangeAspect="1"/>
          </p:cNvPicPr>
          <p:nvPr/>
        </p:nvPicPr>
        <p:blipFill>
          <a:blip r:embed="rId3"/>
          <a:stretch>
            <a:fillRect/>
          </a:stretch>
        </p:blipFill>
        <p:spPr>
          <a:xfrm>
            <a:off x="8460486" y="1876806"/>
            <a:ext cx="315468" cy="315468"/>
          </a:xfrm>
          <a:prstGeom prst="rect">
            <a:avLst/>
          </a:prstGeom>
        </p:spPr>
      </p:pic>
      <p:sp>
        <p:nvSpPr>
          <p:cNvPr id="17" name="sec head"/>
          <p:cNvSpPr txBox="1"/>
          <p:nvPr/>
        </p:nvSpPr>
        <p:spPr>
          <a:xfrm>
            <a:off x="8275320" y="2468880"/>
            <a:ext cx="3108960" cy="411480"/>
          </a:xfrm>
          <a:prstGeom prst="rect">
            <a:avLst/>
          </a:prstGeom>
          <a:noFill/>
          <a:ln/>
        </p:spPr>
        <p:txBody>
          <a:bodyPr wrap="square" lIns="0" tIns="0" rIns="0" bIns="0" rtlCol="0" anchor="ctr"/>
          <a:lstStyle/>
          <a:p>
            <a:pPr indent="0" marL="0">
              <a:buNone/>
            </a:pPr>
            <a:r>
              <a:rPr lang="en-US" sz="1900" b="1" dirty="0">
                <a:solidFill>
                  <a:schemeClr val="tx1"/>
                </a:solidFill>
              </a:rPr>
              <a:t>No secrets in Git</a:t>
            </a:r>
            <a:endParaRPr lang="en-US" sz="1900" dirty="0"/>
          </a:p>
        </p:txBody>
      </p:sp>
      <p:sp>
        <p:nvSpPr>
          <p:cNvPr id="18" name="sec text"/>
          <p:cNvSpPr txBox="1"/>
          <p:nvPr/>
        </p:nvSpPr>
        <p:spPr>
          <a:xfrm>
            <a:off x="8275320" y="2880360"/>
            <a:ext cx="3108960" cy="777240"/>
          </a:xfrm>
          <a:prstGeom prst="rect">
            <a:avLst/>
          </a:prstGeom>
          <a:noFill/>
          <a:ln/>
        </p:spPr>
        <p:txBody>
          <a:bodyPr wrap="square" lIns="0" tIns="0" rIns="0" bIns="0" rtlCol="0" anchor="t"/>
          <a:lstStyle/>
          <a:p>
            <a:pPr indent="0" marL="0">
              <a:buNone/>
            </a:pPr>
            <a:r>
              <a:rPr lang="en-US" sz="1500" dirty="0">
                <a:solidFill>
                  <a:schemeClr val="accent6"/>
                </a:solidFill>
              </a:rPr>
              <a:t>Passwords are generated in-cluster; .env stays local</a:t>
            </a:r>
            <a:endParaRPr lang="en-US" sz="1500" dirty="0"/>
          </a:p>
        </p:txBody>
      </p:sp>
      <p:sp>
        <p:nvSpPr>
          <p:cNvPr id="19" name="card"/>
          <p:cNvSpPr/>
          <p:nvPr/>
        </p:nvSpPr>
        <p:spPr>
          <a:xfrm>
            <a:off x="548640" y="3886200"/>
            <a:ext cx="3520440" cy="2240280"/>
          </a:xfrm>
          <a:prstGeom prst="roundRect">
            <a:avLst>
              <a:gd name="adj" fmla="val 5714"/>
            </a:avLst>
          </a:prstGeom>
          <a:solidFill>
            <a:schemeClr val="bg2"/>
          </a:solidFill>
          <a:ln/>
        </p:spPr>
      </p:sp>
      <p:sp>
        <p:nvSpPr>
          <p:cNvPr id="20" name="icon bg FaRobot"/>
          <p:cNvSpPr/>
          <p:nvPr/>
        </p:nvSpPr>
        <p:spPr>
          <a:xfrm>
            <a:off x="777240" y="4114800"/>
            <a:ext cx="685800" cy="685800"/>
          </a:xfrm>
          <a:prstGeom prst="ellipse">
            <a:avLst/>
          </a:prstGeom>
          <a:solidFill>
            <a:schemeClr val="accent1"/>
          </a:solidFill>
          <a:ln/>
        </p:spPr>
      </p:sp>
      <p:pic>
        <p:nvPicPr>
          <p:cNvPr id="21" name="icon FaRobot" descr="FaRobot">    </p:cNvPr>
          <p:cNvPicPr>
            <a:picLocks noChangeAspect="1"/>
          </p:cNvPicPr>
          <p:nvPr/>
        </p:nvPicPr>
        <p:blipFill>
          <a:blip r:embed="rId4"/>
          <a:stretch>
            <a:fillRect/>
          </a:stretch>
        </p:blipFill>
        <p:spPr>
          <a:xfrm>
            <a:off x="962406" y="4299966"/>
            <a:ext cx="315468" cy="315468"/>
          </a:xfrm>
          <a:prstGeom prst="rect">
            <a:avLst/>
          </a:prstGeom>
        </p:spPr>
      </p:pic>
      <p:sp>
        <p:nvSpPr>
          <p:cNvPr id="22" name="sec head"/>
          <p:cNvSpPr txBox="1"/>
          <p:nvPr/>
        </p:nvSpPr>
        <p:spPr>
          <a:xfrm>
            <a:off x="777240" y="4892040"/>
            <a:ext cx="3108960" cy="411480"/>
          </a:xfrm>
          <a:prstGeom prst="rect">
            <a:avLst/>
          </a:prstGeom>
          <a:noFill/>
          <a:ln/>
        </p:spPr>
        <p:txBody>
          <a:bodyPr wrap="square" lIns="0" tIns="0" rIns="0" bIns="0" rtlCol="0" anchor="ctr"/>
          <a:lstStyle/>
          <a:p>
            <a:pPr indent="0" marL="0">
              <a:buNone/>
            </a:pPr>
            <a:r>
              <a:rPr lang="en-US" sz="1900" b="1" dirty="0">
                <a:solidFill>
                  <a:schemeClr val="tx1"/>
                </a:solidFill>
              </a:rPr>
              <a:t>Dependabot weekly</a:t>
            </a:r>
            <a:endParaRPr lang="en-US" sz="1900" dirty="0"/>
          </a:p>
        </p:txBody>
      </p:sp>
      <p:sp>
        <p:nvSpPr>
          <p:cNvPr id="23" name="sec text"/>
          <p:cNvSpPr txBox="1"/>
          <p:nvPr/>
        </p:nvSpPr>
        <p:spPr>
          <a:xfrm>
            <a:off x="777240" y="5303520"/>
            <a:ext cx="3108960" cy="777240"/>
          </a:xfrm>
          <a:prstGeom prst="rect">
            <a:avLst/>
          </a:prstGeom>
          <a:noFill/>
          <a:ln/>
        </p:spPr>
        <p:txBody>
          <a:bodyPr wrap="square" lIns="0" tIns="0" rIns="0" bIns="0" rtlCol="0" anchor="t"/>
          <a:lstStyle/>
          <a:p>
            <a:pPr indent="0" marL="0">
              <a:buNone/>
            </a:pPr>
            <a:r>
              <a:rPr lang="en-US" sz="1500" dirty="0">
                <a:solidFill>
                  <a:schemeClr val="accent6"/>
                </a:solidFill>
              </a:rPr>
              <a:t>Pinned versions and base images stay current</a:t>
            </a:r>
            <a:endParaRPr lang="en-US" sz="1500" dirty="0"/>
          </a:p>
        </p:txBody>
      </p:sp>
      <p:sp>
        <p:nvSpPr>
          <p:cNvPr id="24" name="card"/>
          <p:cNvSpPr/>
          <p:nvPr/>
        </p:nvSpPr>
        <p:spPr>
          <a:xfrm>
            <a:off x="4297680" y="3886200"/>
            <a:ext cx="3520440" cy="2240280"/>
          </a:xfrm>
          <a:prstGeom prst="roundRect">
            <a:avLst>
              <a:gd name="adj" fmla="val 5714"/>
            </a:avLst>
          </a:prstGeom>
          <a:solidFill>
            <a:schemeClr val="bg2"/>
          </a:solidFill>
          <a:ln/>
        </p:spPr>
      </p:sp>
      <p:sp>
        <p:nvSpPr>
          <p:cNvPr id="25" name="icon bg FaIdBadge"/>
          <p:cNvSpPr/>
          <p:nvPr/>
        </p:nvSpPr>
        <p:spPr>
          <a:xfrm>
            <a:off x="4526280" y="4114800"/>
            <a:ext cx="685800" cy="685800"/>
          </a:xfrm>
          <a:prstGeom prst="ellipse">
            <a:avLst/>
          </a:prstGeom>
          <a:solidFill>
            <a:schemeClr val="accent1"/>
          </a:solidFill>
          <a:ln/>
        </p:spPr>
      </p:sp>
      <p:pic>
        <p:nvPicPr>
          <p:cNvPr id="26" name="icon FaIdBadge" descr="FaIdBadge">    </p:cNvPr>
          <p:cNvPicPr>
            <a:picLocks noChangeAspect="1"/>
          </p:cNvPicPr>
          <p:nvPr/>
        </p:nvPicPr>
        <p:blipFill>
          <a:blip r:embed="rId5"/>
          <a:stretch>
            <a:fillRect/>
          </a:stretch>
        </p:blipFill>
        <p:spPr>
          <a:xfrm>
            <a:off x="4711446" y="4299966"/>
            <a:ext cx="315468" cy="315468"/>
          </a:xfrm>
          <a:prstGeom prst="rect">
            <a:avLst/>
          </a:prstGeom>
        </p:spPr>
      </p:pic>
      <p:sp>
        <p:nvSpPr>
          <p:cNvPr id="27" name="sec head"/>
          <p:cNvSpPr txBox="1"/>
          <p:nvPr/>
        </p:nvSpPr>
        <p:spPr>
          <a:xfrm>
            <a:off x="4526280" y="4892040"/>
            <a:ext cx="3108960" cy="411480"/>
          </a:xfrm>
          <a:prstGeom prst="rect">
            <a:avLst/>
          </a:prstGeom>
          <a:noFill/>
          <a:ln/>
        </p:spPr>
        <p:txBody>
          <a:bodyPr wrap="square" lIns="0" tIns="0" rIns="0" bIns="0" rtlCol="0" anchor="ctr"/>
          <a:lstStyle/>
          <a:p>
            <a:pPr indent="0" marL="0">
              <a:buNone/>
            </a:pPr>
            <a:r>
              <a:rPr lang="en-US" sz="1900" b="1" dirty="0">
                <a:solidFill>
                  <a:schemeClr val="tx1"/>
                </a:solidFill>
              </a:rPr>
              <a:t>Short-lived CI identity</a:t>
            </a:r>
            <a:endParaRPr lang="en-US" sz="1900" dirty="0"/>
          </a:p>
        </p:txBody>
      </p:sp>
      <p:sp>
        <p:nvSpPr>
          <p:cNvPr id="28" name="sec text"/>
          <p:cNvSpPr txBox="1"/>
          <p:nvPr/>
        </p:nvSpPr>
        <p:spPr>
          <a:xfrm>
            <a:off x="4526280" y="5303520"/>
            <a:ext cx="3108960" cy="777240"/>
          </a:xfrm>
          <a:prstGeom prst="rect">
            <a:avLst/>
          </a:prstGeom>
          <a:noFill/>
          <a:ln/>
        </p:spPr>
        <p:txBody>
          <a:bodyPr wrap="square" lIns="0" tIns="0" rIns="0" bIns="0" rtlCol="0" anchor="t"/>
          <a:lstStyle/>
          <a:p>
            <a:pPr indent="0" marL="0">
              <a:buNone/>
            </a:pPr>
            <a:r>
              <a:rPr lang="en-US" sz="1500" dirty="0">
                <a:solidFill>
                  <a:schemeClr val="accent6"/>
                </a:solidFill>
              </a:rPr>
              <a:t>An IAM user that only exists during the AWS window</a:t>
            </a:r>
            <a:endParaRPr lang="en-US" sz="1500" dirty="0"/>
          </a:p>
        </p:txBody>
      </p:sp>
      <p:sp>
        <p:nvSpPr>
          <p:cNvPr id="29" name="card"/>
          <p:cNvSpPr/>
          <p:nvPr/>
        </p:nvSpPr>
        <p:spPr>
          <a:xfrm>
            <a:off x="8046720" y="3886200"/>
            <a:ext cx="3520440" cy="2240280"/>
          </a:xfrm>
          <a:prstGeom prst="roundRect">
            <a:avLst>
              <a:gd name="adj" fmla="val 5714"/>
            </a:avLst>
          </a:prstGeom>
          <a:solidFill>
            <a:schemeClr val="bg2"/>
          </a:solidFill>
          <a:ln/>
        </p:spPr>
      </p:sp>
      <p:sp>
        <p:nvSpPr>
          <p:cNvPr id="30" name="icon bg FaGlobe"/>
          <p:cNvSpPr/>
          <p:nvPr/>
        </p:nvSpPr>
        <p:spPr>
          <a:xfrm>
            <a:off x="8275320" y="4114800"/>
            <a:ext cx="685800" cy="685800"/>
          </a:xfrm>
          <a:prstGeom prst="ellipse">
            <a:avLst/>
          </a:prstGeom>
          <a:solidFill>
            <a:schemeClr val="accent1"/>
          </a:solidFill>
          <a:ln/>
        </p:spPr>
      </p:sp>
      <p:pic>
        <p:nvPicPr>
          <p:cNvPr id="31" name="icon FaGlobe" descr="FaGlobe">    </p:cNvPr>
          <p:cNvPicPr>
            <a:picLocks noChangeAspect="1"/>
          </p:cNvPicPr>
          <p:nvPr/>
        </p:nvPicPr>
        <p:blipFill>
          <a:blip r:embed="rId6"/>
          <a:stretch>
            <a:fillRect/>
          </a:stretch>
        </p:blipFill>
        <p:spPr>
          <a:xfrm>
            <a:off x="8460486" y="4299966"/>
            <a:ext cx="315468" cy="315468"/>
          </a:xfrm>
          <a:prstGeom prst="rect">
            <a:avLst/>
          </a:prstGeom>
        </p:spPr>
      </p:pic>
      <p:sp>
        <p:nvSpPr>
          <p:cNvPr id="32" name="sec head"/>
          <p:cNvSpPr txBox="1"/>
          <p:nvPr/>
        </p:nvSpPr>
        <p:spPr>
          <a:xfrm>
            <a:off x="8275320" y="4892040"/>
            <a:ext cx="3108960" cy="411480"/>
          </a:xfrm>
          <a:prstGeom prst="rect">
            <a:avLst/>
          </a:prstGeom>
          <a:noFill/>
          <a:ln/>
        </p:spPr>
        <p:txBody>
          <a:bodyPr wrap="square" lIns="0" tIns="0" rIns="0" bIns="0" rtlCol="0" anchor="ctr"/>
          <a:lstStyle/>
          <a:p>
            <a:pPr indent="0" marL="0">
              <a:buNone/>
            </a:pPr>
            <a:r>
              <a:rPr lang="en-US" sz="1900" b="1" dirty="0">
                <a:solidFill>
                  <a:schemeClr val="tx1"/>
                </a:solidFill>
              </a:rPr>
              <a:t>CORS closed by default</a:t>
            </a:r>
            <a:endParaRPr lang="en-US" sz="1900" dirty="0"/>
          </a:p>
        </p:txBody>
      </p:sp>
      <p:sp>
        <p:nvSpPr>
          <p:cNvPr id="33" name="sec text"/>
          <p:cNvSpPr txBox="1"/>
          <p:nvPr/>
        </p:nvSpPr>
        <p:spPr>
          <a:xfrm>
            <a:off x="8275320" y="5303520"/>
            <a:ext cx="3108960" cy="777240"/>
          </a:xfrm>
          <a:prstGeom prst="rect">
            <a:avLst/>
          </a:prstGeom>
          <a:noFill/>
          <a:ln/>
        </p:spPr>
        <p:txBody>
          <a:bodyPr wrap="square" lIns="0" tIns="0" rIns="0" bIns="0" rtlCol="0" anchor="t"/>
          <a:lstStyle/>
          <a:p>
            <a:pPr indent="0" marL="0">
              <a:buNone/>
            </a:pPr>
            <a:r>
              <a:rPr lang="en-US" sz="1500" dirty="0">
                <a:solidFill>
                  <a:schemeClr val="accent6"/>
                </a:solidFill>
              </a:rPr>
              <a:t>Same-origin through the proxy; no wildcard</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number"/>
          <p:cNvSpPr txBox="1"/>
          <p:nvPr/>
        </p:nvSpPr>
        <p:spPr>
          <a:xfrm>
            <a:off x="548640" y="1097280"/>
            <a:ext cx="3657600" cy="1280160"/>
          </a:xfrm>
          <a:prstGeom prst="rect">
            <a:avLst/>
          </a:prstGeom>
          <a:noFill/>
          <a:ln/>
        </p:spPr>
        <p:txBody>
          <a:bodyPr wrap="square" lIns="0" tIns="0" rIns="0" bIns="0" rtlCol="0" anchor="ctr"/>
          <a:lstStyle/>
          <a:p>
            <a:pPr indent="0" marL="0">
              <a:buNone/>
            </a:pPr>
            <a:r>
              <a:rPr lang="en-US" sz="9600" b="1" dirty="0">
                <a:solidFill>
                  <a:schemeClr val="accent2"/>
                </a:solidFill>
                <a:latin typeface="Arial" pitchFamily="34" charset="0"/>
                <a:ea typeface="Arial" pitchFamily="34" charset="-122"/>
                <a:cs typeface="Arial" pitchFamily="34" charset="-120"/>
              </a:rPr>
              <a:t>04</a:t>
            </a:r>
            <a:endParaRPr lang="en-US" sz="9600" dirty="0"/>
          </a:p>
        </p:txBody>
      </p:sp>
      <p:sp>
        <p:nvSpPr>
          <p:cNvPr id="3" name="Text 0"/>
          <p:cNvSpPr/>
          <p:nvPr>
            <p:ph idx="100" type="title" hasCustomPrompt="1"/>
          </p:nvPr>
        </p:nvSpPr>
        <p:spPr>
          <a:xfrm>
            <a:off x="548640" y="2331720"/>
            <a:ext cx="11064240" cy="1188720"/>
          </a:xfrm>
          <a:prstGeom prst="rect">
            <a:avLst/>
          </a:prstGeom>
          <a:noFill/>
          <a:ln/>
        </p:spPr>
        <p:txBody>
          <a:bodyPr wrap="square" lIns="0" tIns="0" rIns="0" bIns="0" rtlCol="0" anchor="ctr"/>
          <a:lstStyle/>
          <a:p>
            <a:pPr algn="l" indent="0" marL="0">
              <a:buNone/>
            </a:pPr>
            <a:r>
              <a:rPr lang="en-US" sz="5000" b="1" dirty="0">
                <a:solidFill>
                  <a:schemeClr val="bg1"/>
                </a:solidFill>
              </a:rPr>
              <a:t>Infrastructure and Kubernetes</a:t>
            </a:r>
            <a:endParaRPr lang="en-US" sz="5000" dirty="0"/>
          </a:p>
        </p:txBody>
      </p:sp>
      <p:sp>
        <p:nvSpPr>
          <p:cNvPr id="4" name="section subtitle"/>
          <p:cNvSpPr txBox="1"/>
          <p:nvPr/>
        </p:nvSpPr>
        <p:spPr>
          <a:xfrm>
            <a:off x="548640" y="3749040"/>
            <a:ext cx="10515600" cy="822960"/>
          </a:xfrm>
          <a:prstGeom prst="rect">
            <a:avLst/>
          </a:prstGeom>
          <a:noFill/>
          <a:ln/>
        </p:spPr>
        <p:txBody>
          <a:bodyPr wrap="square" lIns="0" tIns="0" rIns="0" bIns="0" rtlCol="0" anchor="t"/>
          <a:lstStyle/>
          <a:p>
            <a:pPr indent="0" marL="0">
              <a:buNone/>
            </a:pPr>
            <a:r>
              <a:rPr lang="en-US" sz="2400" dirty="0">
                <a:solidFill>
                  <a:schemeClr val="bg2"/>
                </a:solidFill>
              </a:rPr>
              <a:t>Terraform builds AWS. Helm runs the app. Autoscaling and monitoring keep it healthy</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The Free plan shaped every AWS decision</a:t>
            </a:r>
            <a:endParaRPr lang="en-US" sz="3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4572000"/>
                <a:gridCol w="6492240"/>
              </a:tblGrid>
              <a:tr h="713232">
                <a:tc>
                  <a:txBody>
                    <a:bodyPr/>
                    <a:lstStyle/>
                    <a:p>
                      <a:pPr indent="0" marL="0">
                        <a:buNone/>
                      </a:pPr>
                      <a:r>
                        <a:rPr lang="en-US" sz="1600" b="1" dirty="0">
                          <a:solidFill>
                            <a:schemeClr val="bg1"/>
                          </a:solidFill>
                        </a:rPr>
                        <a:t>Constraint</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My decision</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r>
              <a:tr h="713232">
                <a:tc>
                  <a:txBody>
                    <a:bodyPr/>
                    <a:lstStyle/>
                    <a:p>
                      <a:pPr indent="0" marL="0">
                        <a:buNone/>
                      </a:pPr>
                      <a:r>
                        <a:rPr lang="en-US" sz="2000" dirty="0">
                          <a:solidFill>
                            <a:schemeClr val="tx1"/>
                          </a:solidFill>
                        </a:rPr>
                        <a:t>Spot instances are blocked</a:t>
                      </a:r>
                      <a:endParaRPr lang="en-US" sz="20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2000" dirty="0">
                          <a:solidFill>
                            <a:schemeClr val="tx1"/>
                          </a:solidFill>
                        </a:rPr>
                        <a:t>One on-demand m7i-flex.large node</a:t>
                      </a:r>
                      <a:endParaRPr lang="en-US" sz="20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713232">
                <a:tc>
                  <a:txBody>
                    <a:bodyPr/>
                    <a:lstStyle/>
                    <a:p>
                      <a:pPr indent="0" marL="0">
                        <a:buNone/>
                      </a:pPr>
                      <a:r>
                        <a:rPr lang="en-US" sz="2000" dirty="0">
                          <a:solidFill>
                            <a:schemeClr val="tx1"/>
                          </a:solidFill>
                        </a:rPr>
                        <a:t>Only a few instance types are allowed</a:t>
                      </a:r>
                      <a:endParaRPr lang="en-US" sz="20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2000" dirty="0">
                          <a:solidFill>
                            <a:schemeClr val="tx1"/>
                          </a:solidFill>
                        </a:rPr>
                        <a:t>m7i-flex.large: 2 vCPU, 8 GiB</a:t>
                      </a:r>
                      <a:endParaRPr lang="en-US" sz="20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713232">
                <a:tc>
                  <a:txBody>
                    <a:bodyPr/>
                    <a:lstStyle/>
                    <a:p>
                      <a:pPr indent="0" marL="0">
                        <a:buNone/>
                      </a:pPr>
                      <a:r>
                        <a:rPr lang="en-US" sz="2000" dirty="0">
                          <a:solidFill>
                            <a:schemeClr val="tx1"/>
                          </a:solidFill>
                        </a:rPr>
                        <a:t>No IAM OIDC provider</a:t>
                      </a:r>
                      <a:endParaRPr lang="en-US" sz="20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2000" dirty="0">
                          <a:solidFill>
                            <a:schemeClr val="tx1"/>
                          </a:solidFill>
                        </a:rPr>
                        <a:t>EBS CSI uses EKS Pod Identity; CI uses a short-lived IAM user</a:t>
                      </a:r>
                      <a:endParaRPr lang="en-US" sz="20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713232">
                <a:tc>
                  <a:txBody>
                    <a:bodyPr/>
                    <a:lstStyle/>
                    <a:p>
                      <a:pPr indent="0" marL="0">
                        <a:buNone/>
                      </a:pPr>
                      <a:r>
                        <a:rPr lang="en-US" sz="2000" dirty="0">
                          <a:solidFill>
                            <a:schemeClr val="tx1"/>
                          </a:solidFill>
                        </a:rPr>
                        <a:t>Every dollar counts</a:t>
                      </a:r>
                      <a:endParaRPr lang="en-US" sz="20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2000" dirty="0">
                          <a:solidFill>
                            <a:schemeClr val="tx1"/>
                          </a:solidFill>
                        </a:rPr>
                        <a:t>Public subnets, no NAT gateway, no RDS, no KMS key</a:t>
                      </a:r>
                      <a:endParaRPr lang="en-US" sz="20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713232">
                <a:tc>
                  <a:txBody>
                    <a:bodyPr/>
                    <a:lstStyle/>
                    <a:p>
                      <a:pPr indent="0" marL="0">
                        <a:buNone/>
                      </a:pPr>
                      <a:r>
                        <a:rPr lang="en-US" sz="2000" dirty="0">
                          <a:solidFill>
                            <a:schemeClr val="tx1"/>
                          </a:solidFill>
                        </a:rPr>
                        <a:t>Old versions cost more</a:t>
                      </a:r>
                      <a:endParaRPr lang="en-US" sz="20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2000" dirty="0">
                          <a:solidFill>
                            <a:schemeClr val="tx1"/>
                          </a:solidFill>
                        </a:rPr>
                        <a:t>Kubernetes 1.35 on standard support</a:t>
                      </a:r>
                      <a:endParaRPr lang="en-US" sz="20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Terraform builds the whole stack from code</a:t>
            </a:r>
            <a:endParaRPr lang="en-US" sz="3400" dirty="0"/>
          </a:p>
        </p:txBody>
      </p:sp>
      <p:sp>
        <p:nvSpPr>
          <p:cNvPr id="4" name="frame m7-plan"/>
          <p:cNvSpPr/>
          <p:nvPr/>
        </p:nvSpPr>
        <p:spPr>
          <a:xfrm>
            <a:off x="493776" y="1316736"/>
            <a:ext cx="7059168" cy="2256333"/>
          </a:xfrm>
          <a:prstGeom prst="roundRect">
            <a:avLst>
              <a:gd name="adj" fmla="val 2432"/>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m7-plan" descr="m7-plan">    </p:cNvPr>
          <p:cNvPicPr>
            <a:picLocks noChangeAspect="1"/>
          </p:cNvPicPr>
          <p:nvPr/>
        </p:nvPicPr>
        <p:blipFill>
          <a:blip r:embed="rId1"/>
          <a:stretch>
            <a:fillRect/>
          </a:stretch>
        </p:blipFill>
        <p:spPr>
          <a:xfrm>
            <a:off x="548640" y="1371600"/>
            <a:ext cx="6949440" cy="2146605"/>
          </a:xfrm>
          <a:prstGeom prst="rect">
            <a:avLst/>
          </a:prstGeom>
        </p:spPr>
      </p:pic>
      <p:sp>
        <p:nvSpPr>
          <p:cNvPr id="6" name="caption"/>
          <p:cNvSpPr txBox="1"/>
          <p:nvPr/>
        </p:nvSpPr>
        <p:spPr>
          <a:xfrm>
            <a:off x="493776" y="3646221"/>
            <a:ext cx="7059168" cy="365760"/>
          </a:xfrm>
          <a:prstGeom prst="rect">
            <a:avLst/>
          </a:prstGeom>
          <a:noFill/>
          <a:ln/>
        </p:spPr>
        <p:txBody>
          <a:bodyPr wrap="square" lIns="0" tIns="0" rIns="0" bIns="0" rtlCol="0" anchor="ctr"/>
          <a:lstStyle/>
          <a:p>
            <a:pPr algn="l" indent="0" marL="0">
              <a:buNone/>
            </a:pPr>
            <a:r>
              <a:rPr lang="en-US" sz="1400" dirty="0">
                <a:solidFill>
                  <a:schemeClr val="accent6"/>
                </a:solidFill>
              </a:rPr>
              <a:t>terraform plan: 50 to add, 0 to change, 0 to destroy</a:t>
            </a:r>
            <a:endParaRPr lang="en-US" sz="1400" dirty="0"/>
          </a:p>
        </p:txBody>
      </p:sp>
      <p:sp>
        <p:nvSpPr>
          <p:cNvPr id="7" name="frame m7-apply"/>
          <p:cNvSpPr/>
          <p:nvPr/>
        </p:nvSpPr>
        <p:spPr>
          <a:xfrm>
            <a:off x="493776" y="4105656"/>
            <a:ext cx="7059168" cy="1781454"/>
          </a:xfrm>
          <a:prstGeom prst="roundRect">
            <a:avLst>
              <a:gd name="adj" fmla="val 3080"/>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8" name="m7-apply" descr="m7-apply">    </p:cNvPr>
          <p:cNvPicPr>
            <a:picLocks noChangeAspect="1"/>
          </p:cNvPicPr>
          <p:nvPr/>
        </p:nvPicPr>
        <p:blipFill>
          <a:blip r:embed="rId2"/>
          <a:stretch>
            <a:fillRect/>
          </a:stretch>
        </p:blipFill>
        <p:spPr>
          <a:xfrm>
            <a:off x="548640" y="4160520"/>
            <a:ext cx="6949440" cy="1671726"/>
          </a:xfrm>
          <a:prstGeom prst="rect">
            <a:avLst/>
          </a:prstGeom>
        </p:spPr>
      </p:pic>
      <p:sp>
        <p:nvSpPr>
          <p:cNvPr id="9" name="caption"/>
          <p:cNvSpPr txBox="1"/>
          <p:nvPr/>
        </p:nvSpPr>
        <p:spPr>
          <a:xfrm>
            <a:off x="493776" y="5960262"/>
            <a:ext cx="7059168" cy="365760"/>
          </a:xfrm>
          <a:prstGeom prst="rect">
            <a:avLst/>
          </a:prstGeom>
          <a:noFill/>
          <a:ln/>
        </p:spPr>
        <p:txBody>
          <a:bodyPr wrap="square" lIns="0" tIns="0" rIns="0" bIns="0" rtlCol="0" anchor="ctr"/>
          <a:lstStyle/>
          <a:p>
            <a:pPr algn="l" indent="0" marL="0">
              <a:buNone/>
            </a:pPr>
            <a:r>
              <a:rPr lang="en-US" sz="1400" dirty="0">
                <a:solidFill>
                  <a:schemeClr val="accent6"/>
                </a:solidFill>
              </a:rPr>
              <a:t>terraform apply: complete in 12 minutes</a:t>
            </a:r>
            <a:endParaRPr lang="en-US" sz="1400" dirty="0"/>
          </a:p>
        </p:txBody>
      </p:sp>
      <p:sp>
        <p:nvSpPr>
          <p:cNvPr id="10" name="stat resources planned and applied"/>
          <p:cNvSpPr txBox="1"/>
          <p:nvPr/>
        </p:nvSpPr>
        <p:spPr>
          <a:xfrm>
            <a:off x="8229600" y="1554480"/>
            <a:ext cx="3383280" cy="868680"/>
          </a:xfrm>
          <a:prstGeom prst="rect">
            <a:avLst/>
          </a:prstGeom>
          <a:noFill/>
          <a:ln/>
        </p:spPr>
        <p:txBody>
          <a:bodyPr wrap="square" lIns="0" tIns="0" rIns="0" bIns="0" rtlCol="0" anchor="b"/>
          <a:lstStyle/>
          <a:p>
            <a:pPr indent="0" marL="0">
              <a:buNone/>
            </a:pPr>
            <a:r>
              <a:rPr lang="en-US" sz="6400" b="1" dirty="0">
                <a:solidFill>
                  <a:schemeClr val="accent1"/>
                </a:solidFill>
                <a:latin typeface="Arial" pitchFamily="34" charset="0"/>
                <a:ea typeface="Arial" pitchFamily="34" charset="-122"/>
                <a:cs typeface="Arial" pitchFamily="34" charset="-120"/>
              </a:rPr>
              <a:t>50</a:t>
            </a:r>
            <a:endParaRPr lang="en-US" sz="6400" dirty="0"/>
          </a:p>
        </p:txBody>
      </p:sp>
      <p:sp>
        <p:nvSpPr>
          <p:cNvPr id="11" name="stat label"/>
          <p:cNvSpPr txBox="1"/>
          <p:nvPr/>
        </p:nvSpPr>
        <p:spPr>
          <a:xfrm>
            <a:off x="8229600" y="2441448"/>
            <a:ext cx="3383280" cy="640080"/>
          </a:xfrm>
          <a:prstGeom prst="rect">
            <a:avLst/>
          </a:prstGeom>
          <a:noFill/>
          <a:ln/>
        </p:spPr>
        <p:txBody>
          <a:bodyPr wrap="square" lIns="0" tIns="0" rIns="0" bIns="0" rtlCol="0" anchor="t"/>
          <a:lstStyle/>
          <a:p>
            <a:pPr indent="0" marL="0">
              <a:buNone/>
            </a:pPr>
            <a:r>
              <a:rPr lang="en-US" sz="1800" dirty="0">
                <a:solidFill>
                  <a:schemeClr val="accent6"/>
                </a:solidFill>
              </a:rPr>
              <a:t>resources planned and applied</a:t>
            </a:r>
            <a:endParaRPr lang="en-US" sz="1800" dirty="0"/>
          </a:p>
        </p:txBody>
      </p:sp>
      <p:sp>
        <p:nvSpPr>
          <p:cNvPr id="12" name="stat to create the EKS cluster"/>
          <p:cNvSpPr txBox="1"/>
          <p:nvPr/>
        </p:nvSpPr>
        <p:spPr>
          <a:xfrm>
            <a:off x="8229600" y="3566160"/>
            <a:ext cx="3383280" cy="868680"/>
          </a:xfrm>
          <a:prstGeom prst="rect">
            <a:avLst/>
          </a:prstGeom>
          <a:noFill/>
          <a:ln/>
        </p:spPr>
        <p:txBody>
          <a:bodyPr wrap="square" lIns="0" tIns="0" rIns="0" bIns="0" rtlCol="0" anchor="b"/>
          <a:lstStyle/>
          <a:p>
            <a:pPr indent="0" marL="0">
              <a:buNone/>
            </a:pPr>
            <a:r>
              <a:rPr lang="en-US" sz="5400" b="1" dirty="0">
                <a:solidFill>
                  <a:schemeClr val="accent2"/>
                </a:solidFill>
                <a:latin typeface="Arial" pitchFamily="34" charset="0"/>
                <a:ea typeface="Arial" pitchFamily="34" charset="-122"/>
                <a:cs typeface="Arial" pitchFamily="34" charset="-120"/>
              </a:rPr>
              <a:t>12 min</a:t>
            </a:r>
            <a:endParaRPr lang="en-US" sz="5400" dirty="0"/>
          </a:p>
        </p:txBody>
      </p:sp>
      <p:sp>
        <p:nvSpPr>
          <p:cNvPr id="13" name="stat label"/>
          <p:cNvSpPr txBox="1"/>
          <p:nvPr/>
        </p:nvSpPr>
        <p:spPr>
          <a:xfrm>
            <a:off x="8229600" y="4453128"/>
            <a:ext cx="3383280" cy="640080"/>
          </a:xfrm>
          <a:prstGeom prst="rect">
            <a:avLst/>
          </a:prstGeom>
          <a:noFill/>
          <a:ln/>
        </p:spPr>
        <p:txBody>
          <a:bodyPr wrap="square" lIns="0" tIns="0" rIns="0" bIns="0" rtlCol="0" anchor="t"/>
          <a:lstStyle/>
          <a:p>
            <a:pPr indent="0" marL="0">
              <a:buNone/>
            </a:pPr>
            <a:r>
              <a:rPr lang="en-US" sz="1800" dirty="0">
                <a:solidFill>
                  <a:schemeClr val="accent6"/>
                </a:solidFill>
              </a:rPr>
              <a:t>to create the EKS cluster</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AWS Console confirms the VPC and EKS cluster</a:t>
            </a:r>
            <a:endParaRPr lang="en-US" sz="3400" dirty="0"/>
          </a:p>
        </p:txBody>
      </p:sp>
      <p:sp>
        <p:nvSpPr>
          <p:cNvPr id="4" name="frame m7-console-vpc"/>
          <p:cNvSpPr/>
          <p:nvPr/>
        </p:nvSpPr>
        <p:spPr>
          <a:xfrm>
            <a:off x="493776" y="1635252"/>
            <a:ext cx="5596128" cy="3678936"/>
          </a:xfrm>
          <a:prstGeom prst="roundRect">
            <a:avLst>
              <a:gd name="adj" fmla="val 1491"/>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m7-console-vpc" descr="m7-console-vpc">    </p:cNvPr>
          <p:cNvPicPr>
            <a:picLocks noChangeAspect="1"/>
          </p:cNvPicPr>
          <p:nvPr/>
        </p:nvPicPr>
        <p:blipFill>
          <a:blip r:embed="rId1"/>
          <a:stretch>
            <a:fillRect/>
          </a:stretch>
        </p:blipFill>
        <p:spPr>
          <a:xfrm>
            <a:off x="548640" y="1690116"/>
            <a:ext cx="5486400" cy="3569208"/>
          </a:xfrm>
          <a:prstGeom prst="rect">
            <a:avLst/>
          </a:prstGeom>
        </p:spPr>
      </p:pic>
      <p:sp>
        <p:nvSpPr>
          <p:cNvPr id="6" name="caption"/>
          <p:cNvSpPr txBox="1"/>
          <p:nvPr/>
        </p:nvSpPr>
        <p:spPr>
          <a:xfrm>
            <a:off x="493776" y="5387340"/>
            <a:ext cx="5596128" cy="365760"/>
          </a:xfrm>
          <a:prstGeom prst="rect">
            <a:avLst/>
          </a:prstGeom>
          <a:noFill/>
          <a:ln/>
        </p:spPr>
        <p:txBody>
          <a:bodyPr wrap="square" lIns="0" tIns="0" rIns="0" bIns="0" rtlCol="0" anchor="ctr"/>
          <a:lstStyle/>
          <a:p>
            <a:pPr algn="ctr" indent="0" marL="0">
              <a:buNone/>
            </a:pPr>
            <a:r>
              <a:rPr lang="en-US" sz="1400" dirty="0">
                <a:solidFill>
                  <a:schemeClr val="accent6"/>
                </a:solidFill>
              </a:rPr>
              <a:t>VPC with two public subnets</a:t>
            </a:r>
            <a:endParaRPr lang="en-US" sz="1400" dirty="0"/>
          </a:p>
        </p:txBody>
      </p:sp>
      <p:sp>
        <p:nvSpPr>
          <p:cNvPr id="7" name="frame m7-console-eks"/>
          <p:cNvSpPr/>
          <p:nvPr/>
        </p:nvSpPr>
        <p:spPr>
          <a:xfrm>
            <a:off x="6117336" y="1630680"/>
            <a:ext cx="5596128" cy="3688080"/>
          </a:xfrm>
          <a:prstGeom prst="roundRect">
            <a:avLst>
              <a:gd name="adj" fmla="val 1488"/>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8" name="m7-console-eks" descr="m7-console-eks">    </p:cNvPr>
          <p:cNvPicPr>
            <a:picLocks noChangeAspect="1"/>
          </p:cNvPicPr>
          <p:nvPr/>
        </p:nvPicPr>
        <p:blipFill>
          <a:blip r:embed="rId2"/>
          <a:stretch>
            <a:fillRect/>
          </a:stretch>
        </p:blipFill>
        <p:spPr>
          <a:xfrm>
            <a:off x="6172200" y="1685544"/>
            <a:ext cx="5486400" cy="3578352"/>
          </a:xfrm>
          <a:prstGeom prst="rect">
            <a:avLst/>
          </a:prstGeom>
        </p:spPr>
      </p:pic>
      <p:sp>
        <p:nvSpPr>
          <p:cNvPr id="9" name="caption"/>
          <p:cNvSpPr txBox="1"/>
          <p:nvPr/>
        </p:nvSpPr>
        <p:spPr>
          <a:xfrm>
            <a:off x="6117336" y="5391912"/>
            <a:ext cx="5596128" cy="365760"/>
          </a:xfrm>
          <a:prstGeom prst="rect">
            <a:avLst/>
          </a:prstGeom>
          <a:noFill/>
          <a:ln/>
        </p:spPr>
        <p:txBody>
          <a:bodyPr wrap="square" lIns="0" tIns="0" rIns="0" bIns="0" rtlCol="0" anchor="ctr"/>
          <a:lstStyle/>
          <a:p>
            <a:pPr algn="ctr" indent="0" marL="0">
              <a:buNone/>
            </a:pPr>
            <a:r>
              <a:rPr lang="en-US" sz="1400" dirty="0">
                <a:solidFill>
                  <a:schemeClr val="accent6"/>
                </a:solidFill>
              </a:rPr>
              <a:t>EKS 1.35 cluster, status Active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Helm packages the app for Kubernetes</a:t>
            </a:r>
            <a:endParaRPr lang="en-US" sz="3400" dirty="0"/>
          </a:p>
        </p:txBody>
      </p:sp>
      <p:sp>
        <p:nvSpPr>
          <p:cNvPr id="4" name="bullets"/>
          <p:cNvSpPr txBox="1"/>
          <p:nvPr/>
        </p:nvSpPr>
        <p:spPr>
          <a:xfrm>
            <a:off x="548640" y="1508760"/>
            <a:ext cx="4754880" cy="4572000"/>
          </a:xfrm>
          <a:prstGeom prst="rect">
            <a:avLst/>
          </a:prstGeom>
          <a:noFill/>
          <a:ln/>
        </p:spPr>
        <p:txBody>
          <a:bodyPr wrap="square" lIns="0" tIns="0" rIns="0" bIns="0" rtlCol="0" anchor="t"/>
          <a:lstStyle/>
          <a:p>
            <a:pPr marL="228600" indent="-228600">
              <a:spcAft>
                <a:spcPts val="1200"/>
              </a:spcAft>
              <a:buSzPct val="100000"/>
              <a:buChar char="•"/>
            </a:pPr>
            <a:r>
              <a:rPr lang="en-US" sz="2000" b="1" dirty="0">
                <a:solidFill>
                  <a:schemeClr val="tx1"/>
                </a:solidFill>
              </a:rPr>
              <a:t>Deployments: </a:t>
            </a:r>
            <a:pPr indent="0" marL="0">
              <a:spcAft>
                <a:spcPts val="1200"/>
              </a:spcAft>
              <a:buNone/>
            </a:pPr>
            <a:r>
              <a:rPr lang="en-US" sz="2000" dirty="0">
                <a:solidFill>
                  <a:schemeClr val="tx1"/>
                </a:solidFill>
              </a:rPr>
              <a:t>2 backend and 2 frontend pods</a:t>
            </a:r>
            <a:endParaRPr lang="en-US" sz="2000" dirty="0"/>
          </a:p>
          <a:p>
            <a:pPr marL="228600" indent="-228600">
              <a:spcAft>
                <a:spcPts val="1200"/>
              </a:spcAft>
              <a:buSzPct val="100000"/>
              <a:buChar char="•"/>
            </a:pPr>
            <a:r>
              <a:rPr lang="en-US" sz="2000" b="1" dirty="0">
                <a:solidFill>
                  <a:schemeClr val="tx1"/>
                </a:solidFill>
              </a:rPr>
              <a:t>StatefulSet: </a:t>
            </a:r>
            <a:pPr indent="0" marL="0">
              <a:spcAft>
                <a:spcPts val="1200"/>
              </a:spcAft>
              <a:buNone/>
            </a:pPr>
            <a:r>
              <a:rPr lang="en-US" sz="2000" dirty="0">
                <a:solidFill>
                  <a:schemeClr val="tx1"/>
                </a:solidFill>
              </a:rPr>
              <a:t>PostgreSQL with a gp3 volume</a:t>
            </a:r>
            <a:endParaRPr lang="en-US" sz="2000" dirty="0"/>
          </a:p>
          <a:p>
            <a:pPr marL="228600" indent="-228600">
              <a:spcAft>
                <a:spcPts val="1200"/>
              </a:spcAft>
              <a:buSzPct val="100000"/>
              <a:buChar char="•"/>
            </a:pPr>
            <a:r>
              <a:rPr lang="en-US" sz="2000" b="1" dirty="0">
                <a:solidFill>
                  <a:schemeClr val="tx1"/>
                </a:solidFill>
              </a:rPr>
              <a:t>ClusterIP services </a:t>
            </a:r>
            <a:pPr indent="0" marL="0">
              <a:spcAft>
                <a:spcPts val="1200"/>
              </a:spcAft>
              <a:buNone/>
            </a:pPr>
            <a:r>
              <a:rPr lang="en-US" sz="2000" dirty="0">
                <a:solidFill>
                  <a:schemeClr val="tx1"/>
                </a:solidFill>
              </a:rPr>
              <a:t>plus one Ingress</a:t>
            </a:r>
            <a:endParaRPr lang="en-US" sz="2000" dirty="0"/>
          </a:p>
          <a:p>
            <a:pPr marL="228600" indent="-228600">
              <a:spcAft>
                <a:spcPts val="1200"/>
              </a:spcAft>
              <a:buSzPct val="100000"/>
              <a:buChar char="•"/>
            </a:pPr>
            <a:r>
              <a:rPr lang="en-US" sz="2000" b="1" dirty="0">
                <a:solidFill>
                  <a:schemeClr val="tx1"/>
                </a:solidFill>
              </a:rPr>
              <a:t>Hardened pods: </a:t>
            </a:r>
            <a:pPr indent="0" marL="0">
              <a:spcAft>
                <a:spcPts val="1200"/>
              </a:spcAft>
              <a:buNone/>
            </a:pPr>
            <a:r>
              <a:rPr lang="en-US" sz="2000" dirty="0">
                <a:solidFill>
                  <a:schemeClr val="tx1"/>
                </a:solidFill>
              </a:rPr>
              <a:t>read-only filesystems, no capabilities</a:t>
            </a:r>
            <a:endParaRPr lang="en-US" sz="2000" dirty="0"/>
          </a:p>
          <a:p>
            <a:pPr marL="228600" indent="-228600">
              <a:spcAft>
                <a:spcPts val="1200"/>
              </a:spcAft>
              <a:buSzPct val="100000"/>
              <a:buChar char="•"/>
            </a:pPr>
            <a:r>
              <a:rPr lang="en-US" sz="2000" b="1" dirty="0">
                <a:solidFill>
                  <a:schemeClr val="tx1"/>
                </a:solidFill>
              </a:rPr>
              <a:t>Autoscaling: </a:t>
            </a:r>
            <a:pPr indent="0" marL="0">
              <a:spcAft>
                <a:spcPts val="1200"/>
              </a:spcAft>
              <a:buNone/>
            </a:pPr>
            <a:r>
              <a:rPr lang="en-US" sz="2000" dirty="0">
                <a:solidFill>
                  <a:schemeClr val="tx1"/>
                </a:solidFill>
              </a:rPr>
              <a:t>CPU-based HPAs</a:t>
            </a:r>
            <a:endParaRPr lang="en-US" sz="2000" dirty="0"/>
          </a:p>
        </p:txBody>
      </p:sp>
      <p:sp>
        <p:nvSpPr>
          <p:cNvPr id="5" name="frame m8-pods"/>
          <p:cNvSpPr/>
          <p:nvPr/>
        </p:nvSpPr>
        <p:spPr>
          <a:xfrm>
            <a:off x="5632266" y="1408176"/>
            <a:ext cx="5971909" cy="2487168"/>
          </a:xfrm>
          <a:prstGeom prst="roundRect">
            <a:avLst>
              <a:gd name="adj" fmla="val 2206"/>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6" name="m8-pods" descr="m8-pods">    </p:cNvPr>
          <p:cNvPicPr>
            <a:picLocks noChangeAspect="1"/>
          </p:cNvPicPr>
          <p:nvPr/>
        </p:nvPicPr>
        <p:blipFill>
          <a:blip r:embed="rId1"/>
          <a:stretch>
            <a:fillRect/>
          </a:stretch>
        </p:blipFill>
        <p:spPr>
          <a:xfrm>
            <a:off x="5687130" y="1463040"/>
            <a:ext cx="5862181" cy="2377440"/>
          </a:xfrm>
          <a:prstGeom prst="rect">
            <a:avLst/>
          </a:prstGeom>
        </p:spPr>
      </p:pic>
      <p:sp>
        <p:nvSpPr>
          <p:cNvPr id="7" name="caption"/>
          <p:cNvSpPr txBox="1"/>
          <p:nvPr/>
        </p:nvSpPr>
        <p:spPr>
          <a:xfrm>
            <a:off x="5632266" y="3968496"/>
            <a:ext cx="5971909" cy="365760"/>
          </a:xfrm>
          <a:prstGeom prst="rect">
            <a:avLst/>
          </a:prstGeom>
          <a:noFill/>
          <a:ln/>
        </p:spPr>
        <p:txBody>
          <a:bodyPr wrap="square" lIns="0" tIns="0" rIns="0" bIns="0" rtlCol="0" anchor="ctr"/>
          <a:lstStyle/>
          <a:p>
            <a:pPr algn="ctr" indent="0" marL="0">
              <a:buNone/>
            </a:pPr>
            <a:r>
              <a:rPr lang="en-US" sz="1400" dirty="0">
                <a:solidFill>
                  <a:schemeClr val="accent6"/>
                </a:solidFill>
              </a:rPr>
              <a:t>kubectl get pods: everything Running</a:t>
            </a:r>
            <a:endParaRPr lang="en-US" sz="1400" dirty="0"/>
          </a:p>
        </p:txBody>
      </p:sp>
      <p:sp>
        <p:nvSpPr>
          <p:cNvPr id="8" name="frame m8-svc"/>
          <p:cNvSpPr/>
          <p:nvPr/>
        </p:nvSpPr>
        <p:spPr>
          <a:xfrm>
            <a:off x="6596904" y="4334256"/>
            <a:ext cx="4042631" cy="1938528"/>
          </a:xfrm>
          <a:prstGeom prst="roundRect">
            <a:avLst>
              <a:gd name="adj" fmla="val 2830"/>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9" name="m8-svc" descr="m8-svc">    </p:cNvPr>
          <p:cNvPicPr>
            <a:picLocks noChangeAspect="1"/>
          </p:cNvPicPr>
          <p:nvPr/>
        </p:nvPicPr>
        <p:blipFill>
          <a:blip r:embed="rId2"/>
          <a:stretch>
            <a:fillRect/>
          </a:stretch>
        </p:blipFill>
        <p:spPr>
          <a:xfrm>
            <a:off x="6651768" y="4389120"/>
            <a:ext cx="3932903" cy="1828800"/>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The app runs on EKS behind one load balancer</a:t>
            </a:r>
            <a:endParaRPr lang="en-US" sz="3400" dirty="0"/>
          </a:p>
        </p:txBody>
      </p:sp>
      <p:sp>
        <p:nvSpPr>
          <p:cNvPr id="4" name="frame m8-ingress-browser"/>
          <p:cNvSpPr/>
          <p:nvPr/>
        </p:nvSpPr>
        <p:spPr>
          <a:xfrm>
            <a:off x="493776" y="1362456"/>
            <a:ext cx="6575340" cy="4315968"/>
          </a:xfrm>
          <a:prstGeom prst="roundRect">
            <a:avLst>
              <a:gd name="adj" fmla="val 1271"/>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m8-ingress-browser" descr="m8-ingress-browser">    </p:cNvPr>
          <p:cNvPicPr>
            <a:picLocks noChangeAspect="1"/>
          </p:cNvPicPr>
          <p:nvPr/>
        </p:nvPicPr>
        <p:blipFill>
          <a:blip r:embed="rId1"/>
          <a:stretch>
            <a:fillRect/>
          </a:stretch>
        </p:blipFill>
        <p:spPr>
          <a:xfrm>
            <a:off x="548640" y="1417320"/>
            <a:ext cx="6465612" cy="4206240"/>
          </a:xfrm>
          <a:prstGeom prst="rect">
            <a:avLst/>
          </a:prstGeom>
        </p:spPr>
      </p:pic>
      <p:sp>
        <p:nvSpPr>
          <p:cNvPr id="6" name="caption"/>
          <p:cNvSpPr txBox="1"/>
          <p:nvPr/>
        </p:nvSpPr>
        <p:spPr>
          <a:xfrm>
            <a:off x="493776" y="5751576"/>
            <a:ext cx="6575340" cy="365760"/>
          </a:xfrm>
          <a:prstGeom prst="rect">
            <a:avLst/>
          </a:prstGeom>
          <a:noFill/>
          <a:ln/>
        </p:spPr>
        <p:txBody>
          <a:bodyPr wrap="square" lIns="0" tIns="0" rIns="0" bIns="0" rtlCol="0" anchor="ctr"/>
          <a:lstStyle/>
          <a:p>
            <a:pPr algn="l" indent="0" marL="0">
              <a:buNone/>
            </a:pPr>
            <a:r>
              <a:rPr lang="en-US" sz="1400" dirty="0">
                <a:solidFill>
                  <a:schemeClr val="accent6"/>
                </a:solidFill>
              </a:rPr>
              <a:t>Live on the NLB hostname</a:t>
            </a:r>
            <a:endParaRPr lang="en-US" sz="1400" dirty="0"/>
          </a:p>
        </p:txBody>
      </p:sp>
      <p:sp>
        <p:nvSpPr>
          <p:cNvPr id="7" name="frame m8-helm-list"/>
          <p:cNvSpPr/>
          <p:nvPr/>
        </p:nvSpPr>
        <p:spPr>
          <a:xfrm>
            <a:off x="7443216" y="1446555"/>
            <a:ext cx="4270248" cy="1861769"/>
          </a:xfrm>
          <a:prstGeom prst="roundRect">
            <a:avLst>
              <a:gd name="adj" fmla="val 2947"/>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8" name="m8-helm-list" descr="m8-helm-list">    </p:cNvPr>
          <p:cNvPicPr>
            <a:picLocks noChangeAspect="1"/>
          </p:cNvPicPr>
          <p:nvPr/>
        </p:nvPicPr>
        <p:blipFill>
          <a:blip r:embed="rId2"/>
          <a:stretch>
            <a:fillRect/>
          </a:stretch>
        </p:blipFill>
        <p:spPr>
          <a:xfrm>
            <a:off x="7498080" y="1501419"/>
            <a:ext cx="4160520" cy="1752041"/>
          </a:xfrm>
          <a:prstGeom prst="rect">
            <a:avLst/>
          </a:prstGeom>
        </p:spPr>
      </p:pic>
      <p:sp>
        <p:nvSpPr>
          <p:cNvPr id="9" name="bullets"/>
          <p:cNvSpPr txBox="1"/>
          <p:nvPr/>
        </p:nvSpPr>
        <p:spPr>
          <a:xfrm>
            <a:off x="7498080" y="3657600"/>
            <a:ext cx="4160520" cy="2560320"/>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chemeClr val="tx1"/>
                </a:solidFill>
              </a:rPr>
              <a:t>One NLB </a:t>
            </a:r>
            <a:pPr indent="0" marL="0">
              <a:spcAft>
                <a:spcPts val="1200"/>
              </a:spcAft>
              <a:buNone/>
            </a:pPr>
            <a:r>
              <a:rPr lang="en-US" sz="1700" dirty="0">
                <a:solidFill>
                  <a:schemeClr val="tx1"/>
                </a:solidFill>
              </a:rPr>
              <a:t>is the only public entry point</a:t>
            </a:r>
            <a:endParaRPr lang="en-US" sz="1700" dirty="0"/>
          </a:p>
          <a:p>
            <a:pPr marL="228600" indent="-228600">
              <a:spcAft>
                <a:spcPts val="1200"/>
              </a:spcAft>
              <a:buSzPct val="100000"/>
              <a:buChar char="•"/>
            </a:pPr>
            <a:r>
              <a:rPr lang="en-US" sz="1700" b="1" dirty="0">
                <a:solidFill>
                  <a:schemeClr val="tx1"/>
                </a:solidFill>
              </a:rPr>
              <a:t>Traefik routes </a:t>
            </a:r>
            <a:pPr indent="0" marL="0">
              <a:spcAft>
                <a:spcPts val="1200"/>
              </a:spcAft>
              <a:buNone/>
            </a:pPr>
            <a:r>
              <a:rPr lang="en-US" sz="1700" dirty="0">
                <a:solidFill>
                  <a:schemeClr val="tx1"/>
                </a:solidFill>
              </a:rPr>
              <a:t>/api to FastAPI and / to nginx</a:t>
            </a:r>
            <a:endParaRPr lang="en-US" sz="1700" dirty="0"/>
          </a:p>
          <a:p>
            <a:pPr marL="228600" indent="-228600">
              <a:spcAft>
                <a:spcPts val="1200"/>
              </a:spcAft>
              <a:buSzPct val="100000"/>
              <a:buChar char="•"/>
            </a:pPr>
            <a:r>
              <a:rPr lang="en-US" sz="1700" b="1" dirty="0">
                <a:solidFill>
                  <a:schemeClr val="tx1"/>
                </a:solidFill>
              </a:rPr>
              <a:t>Three Helm releases </a:t>
            </a:r>
            <a:pPr indent="0" marL="0">
              <a:spcAft>
                <a:spcPts val="1200"/>
              </a:spcAft>
              <a:buNone/>
            </a:pPr>
            <a:r>
              <a:rPr lang="en-US" sz="1700" dirty="0">
                <a:solidFill>
                  <a:schemeClr val="tx1"/>
                </a:solidFill>
              </a:rPr>
              <a:t>run the app, ingress and monitoring</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The autoscaler adds pods under load</a:t>
            </a:r>
            <a:endParaRPr lang="en-US" sz="3400" dirty="0"/>
          </a:p>
        </p:txBody>
      </p:sp>
      <p:sp>
        <p:nvSpPr>
          <p:cNvPr id="4" name="frame m9-hpa"/>
          <p:cNvSpPr/>
          <p:nvPr/>
        </p:nvSpPr>
        <p:spPr>
          <a:xfrm>
            <a:off x="493776" y="1532763"/>
            <a:ext cx="7699248" cy="3335274"/>
          </a:xfrm>
          <a:prstGeom prst="roundRect">
            <a:avLst>
              <a:gd name="adj" fmla="val 1645"/>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m9-hpa" descr="m9-hpa">    </p:cNvPr>
          <p:cNvPicPr>
            <a:picLocks noChangeAspect="1"/>
          </p:cNvPicPr>
          <p:nvPr/>
        </p:nvPicPr>
        <p:blipFill>
          <a:blip r:embed="rId1"/>
          <a:stretch>
            <a:fillRect/>
          </a:stretch>
        </p:blipFill>
        <p:spPr>
          <a:xfrm>
            <a:off x="548640" y="1587627"/>
            <a:ext cx="7589520" cy="3225546"/>
          </a:xfrm>
          <a:prstGeom prst="rect">
            <a:avLst/>
          </a:prstGeom>
        </p:spPr>
      </p:pic>
      <p:sp>
        <p:nvSpPr>
          <p:cNvPr id="6" name="caption"/>
          <p:cNvSpPr txBox="1"/>
          <p:nvPr/>
        </p:nvSpPr>
        <p:spPr>
          <a:xfrm>
            <a:off x="493776" y="4941189"/>
            <a:ext cx="7699248" cy="365760"/>
          </a:xfrm>
          <a:prstGeom prst="rect">
            <a:avLst/>
          </a:prstGeom>
          <a:noFill/>
          <a:ln/>
        </p:spPr>
        <p:txBody>
          <a:bodyPr wrap="square" lIns="0" tIns="0" rIns="0" bIns="0" rtlCol="0" anchor="ctr"/>
          <a:lstStyle/>
          <a:p>
            <a:pPr algn="l" indent="0" marL="0">
              <a:buNone/>
            </a:pPr>
            <a:r>
              <a:rPr lang="en-US" sz="1400" dirty="0">
                <a:solidFill>
                  <a:schemeClr val="accent6"/>
                </a:solidFill>
              </a:rPr>
              <a:t>HPA under load (kind rehearsal)</a:t>
            </a:r>
            <a:endParaRPr lang="en-US" sz="1400" dirty="0"/>
          </a:p>
        </p:txBody>
      </p:sp>
      <p:sp>
        <p:nvSpPr>
          <p:cNvPr id="7" name="stat backend pods under load"/>
          <p:cNvSpPr txBox="1"/>
          <p:nvPr/>
        </p:nvSpPr>
        <p:spPr>
          <a:xfrm>
            <a:off x="8641080" y="1554480"/>
            <a:ext cx="3017520" cy="868680"/>
          </a:xfrm>
          <a:prstGeom prst="rect">
            <a:avLst/>
          </a:prstGeom>
          <a:noFill/>
          <a:ln/>
        </p:spPr>
        <p:txBody>
          <a:bodyPr wrap="square" lIns="0" tIns="0" rIns="0" bIns="0" rtlCol="0" anchor="b"/>
          <a:lstStyle/>
          <a:p>
            <a:pPr indent="0" marL="0">
              <a:buNone/>
            </a:pPr>
            <a:r>
              <a:rPr lang="en-US" sz="5400" b="1" dirty="0">
                <a:solidFill>
                  <a:schemeClr val="accent2"/>
                </a:solidFill>
                <a:latin typeface="Arial" pitchFamily="34" charset="0"/>
                <a:ea typeface="Arial" pitchFamily="34" charset="-122"/>
                <a:cs typeface="Arial" pitchFamily="34" charset="-120"/>
              </a:rPr>
              <a:t>2 → 5</a:t>
            </a:r>
            <a:endParaRPr lang="en-US" sz="5400" dirty="0"/>
          </a:p>
        </p:txBody>
      </p:sp>
      <p:sp>
        <p:nvSpPr>
          <p:cNvPr id="8" name="stat label"/>
          <p:cNvSpPr txBox="1"/>
          <p:nvPr/>
        </p:nvSpPr>
        <p:spPr>
          <a:xfrm>
            <a:off x="8641080" y="2441448"/>
            <a:ext cx="3017520" cy="640080"/>
          </a:xfrm>
          <a:prstGeom prst="rect">
            <a:avLst/>
          </a:prstGeom>
          <a:noFill/>
          <a:ln/>
        </p:spPr>
        <p:txBody>
          <a:bodyPr wrap="square" lIns="0" tIns="0" rIns="0" bIns="0" rtlCol="0" anchor="t"/>
          <a:lstStyle/>
          <a:p>
            <a:pPr indent="0" marL="0">
              <a:buNone/>
            </a:pPr>
            <a:r>
              <a:rPr lang="en-US" sz="1800" dirty="0">
                <a:solidFill>
                  <a:schemeClr val="accent6"/>
                </a:solidFill>
              </a:rPr>
              <a:t>backend pods under load</a:t>
            </a:r>
            <a:endParaRPr lang="en-US" sz="1800" dirty="0"/>
          </a:p>
        </p:txBody>
      </p:sp>
      <p:sp>
        <p:nvSpPr>
          <p:cNvPr id="9" name="stat errors in 58,785 requests"/>
          <p:cNvSpPr txBox="1"/>
          <p:nvPr/>
        </p:nvSpPr>
        <p:spPr>
          <a:xfrm>
            <a:off x="8641080" y="3566160"/>
            <a:ext cx="3017520" cy="868680"/>
          </a:xfrm>
          <a:prstGeom prst="rect">
            <a:avLst/>
          </a:prstGeom>
          <a:noFill/>
          <a:ln/>
        </p:spPr>
        <p:txBody>
          <a:bodyPr wrap="square" lIns="0" tIns="0" rIns="0" bIns="0" rtlCol="0" anchor="b"/>
          <a:lstStyle/>
          <a:p>
            <a:pPr indent="0" marL="0">
              <a:buNone/>
            </a:pPr>
            <a:r>
              <a:rPr lang="en-US" sz="5400" b="1" dirty="0">
                <a:solidFill>
                  <a:schemeClr val="accent4"/>
                </a:solidFill>
                <a:latin typeface="Arial" pitchFamily="34" charset="0"/>
                <a:ea typeface="Arial" pitchFamily="34" charset="-122"/>
                <a:cs typeface="Arial" pitchFamily="34" charset="-120"/>
              </a:rPr>
              <a:t>0</a:t>
            </a:r>
            <a:endParaRPr lang="en-US" sz="5400" dirty="0"/>
          </a:p>
        </p:txBody>
      </p:sp>
      <p:sp>
        <p:nvSpPr>
          <p:cNvPr id="10" name="stat label"/>
          <p:cNvSpPr txBox="1"/>
          <p:nvPr/>
        </p:nvSpPr>
        <p:spPr>
          <a:xfrm>
            <a:off x="8641080" y="4453128"/>
            <a:ext cx="3017520" cy="640080"/>
          </a:xfrm>
          <a:prstGeom prst="rect">
            <a:avLst/>
          </a:prstGeom>
          <a:noFill/>
          <a:ln/>
        </p:spPr>
        <p:txBody>
          <a:bodyPr wrap="square" lIns="0" tIns="0" rIns="0" bIns="0" rtlCol="0" anchor="t"/>
          <a:lstStyle/>
          <a:p>
            <a:pPr indent="0" marL="0">
              <a:buNone/>
            </a:pPr>
            <a:r>
              <a:rPr lang="en-US" sz="1800" dirty="0">
                <a:solidFill>
                  <a:schemeClr val="accent6"/>
                </a:solidFill>
              </a:rPr>
              <a:t>errors in 58,785 requests</a:t>
            </a:r>
            <a:endParaRPr lang="en-US" sz="1800" dirty="0"/>
          </a:p>
        </p:txBody>
      </p:sp>
      <p:sp>
        <p:nvSpPr>
          <p:cNvPr id="11" name="card"/>
          <p:cNvSpPr/>
          <p:nvPr/>
        </p:nvSpPr>
        <p:spPr>
          <a:xfrm>
            <a:off x="548640" y="5349240"/>
            <a:ext cx="7589520" cy="777240"/>
          </a:xfrm>
          <a:prstGeom prst="roundRect">
            <a:avLst>
              <a:gd name="adj" fmla="val 16471"/>
            </a:avLst>
          </a:prstGeom>
          <a:solidFill>
            <a:schemeClr val="bg2"/>
          </a:solidFill>
          <a:ln/>
        </p:spPr>
      </p:sp>
      <p:sp>
        <p:nvSpPr>
          <p:cNvPr id="12" name="hpa target"/>
          <p:cNvSpPr txBox="1"/>
          <p:nvPr/>
        </p:nvSpPr>
        <p:spPr>
          <a:xfrm>
            <a:off x="822960" y="5349240"/>
            <a:ext cx="7132320" cy="777240"/>
          </a:xfrm>
          <a:prstGeom prst="rect">
            <a:avLst/>
          </a:prstGeom>
          <a:noFill/>
          <a:ln/>
        </p:spPr>
        <p:txBody>
          <a:bodyPr wrap="square" lIns="0" tIns="0" rIns="0" bIns="0" rtlCol="0" anchor="ctr"/>
          <a:lstStyle/>
          <a:p>
            <a:pPr indent="0" marL="0">
              <a:buNone/>
            </a:pPr>
            <a:r>
              <a:rPr lang="en-US" sz="1800" b="1" dirty="0">
                <a:solidFill>
                  <a:schemeClr val="accent1"/>
                </a:solidFill>
              </a:rPr>
              <a:t>Target: 60% CPU · min 2 pods · max 5 pods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The backend exposes Prometheus metrics</a:t>
            </a:r>
            <a:endParaRPr lang="en-US" sz="3400" dirty="0"/>
          </a:p>
        </p:txBody>
      </p:sp>
      <p:sp>
        <p:nvSpPr>
          <p:cNvPr id="4" name="frame m9-metrics-curl"/>
          <p:cNvSpPr/>
          <p:nvPr/>
        </p:nvSpPr>
        <p:spPr>
          <a:xfrm>
            <a:off x="493776" y="1473098"/>
            <a:ext cx="6693408" cy="4323283"/>
          </a:xfrm>
          <a:prstGeom prst="roundRect">
            <a:avLst>
              <a:gd name="adj" fmla="val 1269"/>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m9-metrics-curl" descr="m9-metrics-curl">    </p:cNvPr>
          <p:cNvPicPr>
            <a:picLocks noChangeAspect="1"/>
          </p:cNvPicPr>
          <p:nvPr/>
        </p:nvPicPr>
        <p:blipFill>
          <a:blip r:embed="rId1"/>
          <a:stretch>
            <a:fillRect/>
          </a:stretch>
        </p:blipFill>
        <p:spPr>
          <a:xfrm>
            <a:off x="548640" y="1527962"/>
            <a:ext cx="6583680" cy="4213555"/>
          </a:xfrm>
          <a:prstGeom prst="rect">
            <a:avLst/>
          </a:prstGeom>
        </p:spPr>
      </p:pic>
      <p:sp>
        <p:nvSpPr>
          <p:cNvPr id="6" name="bullets"/>
          <p:cNvSpPr txBox="1"/>
          <p:nvPr/>
        </p:nvSpPr>
        <p:spPr>
          <a:xfrm>
            <a:off x="7498080" y="1554480"/>
            <a:ext cx="4160520" cy="4114800"/>
          </a:xfrm>
          <a:prstGeom prst="rect">
            <a:avLst/>
          </a:prstGeom>
          <a:noFill/>
          <a:ln/>
        </p:spPr>
        <p:txBody>
          <a:bodyPr wrap="square" lIns="0" tIns="0" rIns="0" bIns="0" rtlCol="0" anchor="t"/>
          <a:lstStyle/>
          <a:p>
            <a:pPr marL="228600" indent="-228600">
              <a:spcAft>
                <a:spcPts val="1200"/>
              </a:spcAft>
              <a:buSzPct val="100000"/>
              <a:buChar char="•"/>
            </a:pPr>
            <a:r>
              <a:rPr lang="en-US" sz="1900" b="1" dirty="0">
                <a:solidFill>
                  <a:schemeClr val="tx1"/>
                </a:solidFill>
              </a:rPr>
              <a:t>HTTP metrics: </a:t>
            </a:r>
            <a:pPr indent="0" marL="0">
              <a:spcAft>
                <a:spcPts val="1200"/>
              </a:spcAft>
              <a:buNone/>
            </a:pPr>
            <a:r>
              <a:rPr lang="en-US" sz="1900" dirty="0">
                <a:solidFill>
                  <a:schemeClr val="tx1"/>
                </a:solidFill>
              </a:rPr>
              <a:t>requests, latency and status codes</a:t>
            </a:r>
            <a:endParaRPr lang="en-US" sz="1900" dirty="0"/>
          </a:p>
          <a:p>
            <a:pPr marL="228600" indent="-228600">
              <a:spcAft>
                <a:spcPts val="1200"/>
              </a:spcAft>
              <a:buSzPct val="100000"/>
              <a:buChar char="•"/>
            </a:pPr>
            <a:r>
              <a:rPr lang="en-US" sz="1900" b="1" dirty="0">
                <a:solidFill>
                  <a:schemeClr val="tx1"/>
                </a:solidFill>
              </a:rPr>
              <a:t>Bookings </a:t>
            </a:r>
            <a:pPr indent="0" marL="0">
              <a:spcAft>
                <a:spcPts val="1200"/>
              </a:spcAft>
              <a:buNone/>
            </a:pPr>
            <a:r>
              <a:rPr lang="en-US" sz="1900" dirty="0">
                <a:solidFill>
                  <a:schemeClr val="tx1"/>
                </a:solidFill>
              </a:rPr>
              <a:t>counted as they happen</a:t>
            </a:r>
            <a:endParaRPr lang="en-US" sz="1900" dirty="0"/>
          </a:p>
          <a:p>
            <a:pPr marL="228600" indent="-228600">
              <a:spcAft>
                <a:spcPts val="1200"/>
              </a:spcAft>
              <a:buSzPct val="100000"/>
              <a:buChar char="•"/>
            </a:pPr>
            <a:r>
              <a:rPr lang="en-US" sz="1900" b="1" dirty="0">
                <a:solidFill>
                  <a:schemeClr val="tx1"/>
                </a:solidFill>
              </a:rPr>
              <a:t>Conflicts: </a:t>
            </a:r>
            <a:pPr indent="0" marL="0">
              <a:spcAft>
                <a:spcPts val="1200"/>
              </a:spcAft>
              <a:buNone/>
            </a:pPr>
            <a:r>
              <a:rPr lang="en-US" sz="1900" dirty="0">
                <a:solidFill>
                  <a:schemeClr val="tx1"/>
                </a:solidFill>
              </a:rPr>
              <a:t>every 409 increments a counter</a:t>
            </a:r>
            <a:endParaRPr lang="en-US" sz="1900" dirty="0"/>
          </a:p>
          <a:p>
            <a:pPr marL="228600" indent="-228600">
              <a:spcAft>
                <a:spcPts val="1200"/>
              </a:spcAft>
              <a:buSzPct val="100000"/>
              <a:buChar char="•"/>
            </a:pPr>
            <a:r>
              <a:rPr lang="en-US" sz="1900" b="1" dirty="0">
                <a:solidFill>
                  <a:schemeClr val="tx1"/>
                </a:solidFill>
              </a:rPr>
              <a:t>Transitions: </a:t>
            </a:r>
            <a:pPr indent="0" marL="0">
              <a:spcAft>
                <a:spcPts val="1200"/>
              </a:spcAft>
              <a:buNone/>
            </a:pPr>
            <a:r>
              <a:rPr lang="en-US" sz="1900" dirty="0">
                <a:solidFill>
                  <a:schemeClr val="tx1"/>
                </a:solidFill>
              </a:rPr>
              <a:t>counted per status</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Prometheus scrapes it and Grafana shows it</a:t>
            </a:r>
            <a:endParaRPr lang="en-US" sz="3400" dirty="0"/>
          </a:p>
        </p:txBody>
      </p:sp>
      <p:sp>
        <p:nvSpPr>
          <p:cNvPr id="4" name="frame m9-eks-prom-targets"/>
          <p:cNvSpPr/>
          <p:nvPr/>
        </p:nvSpPr>
        <p:spPr>
          <a:xfrm>
            <a:off x="493776" y="1667256"/>
            <a:ext cx="5596128" cy="3614928"/>
          </a:xfrm>
          <a:prstGeom prst="roundRect">
            <a:avLst>
              <a:gd name="adj" fmla="val 1518"/>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m9-eks-prom-targets" descr="m9-eks-prom-targets">    </p:cNvPr>
          <p:cNvPicPr>
            <a:picLocks noChangeAspect="1"/>
          </p:cNvPicPr>
          <p:nvPr/>
        </p:nvPicPr>
        <p:blipFill>
          <a:blip r:embed="rId1"/>
          <a:stretch>
            <a:fillRect/>
          </a:stretch>
        </p:blipFill>
        <p:spPr>
          <a:xfrm>
            <a:off x="548640" y="1722120"/>
            <a:ext cx="5486400" cy="3505200"/>
          </a:xfrm>
          <a:prstGeom prst="rect">
            <a:avLst/>
          </a:prstGeom>
        </p:spPr>
      </p:pic>
      <p:sp>
        <p:nvSpPr>
          <p:cNvPr id="6" name="caption"/>
          <p:cNvSpPr txBox="1"/>
          <p:nvPr/>
        </p:nvSpPr>
        <p:spPr>
          <a:xfrm>
            <a:off x="493776" y="5355336"/>
            <a:ext cx="5596128" cy="365760"/>
          </a:xfrm>
          <a:prstGeom prst="rect">
            <a:avLst/>
          </a:prstGeom>
          <a:noFill/>
          <a:ln/>
        </p:spPr>
        <p:txBody>
          <a:bodyPr wrap="square" lIns="0" tIns="0" rIns="0" bIns="0" rtlCol="0" anchor="ctr"/>
          <a:lstStyle/>
          <a:p>
            <a:pPr algn="ctr" indent="0" marL="0">
              <a:buNone/>
            </a:pPr>
            <a:r>
              <a:rPr lang="en-US" sz="1400" dirty="0">
                <a:solidFill>
                  <a:schemeClr val="accent6"/>
                </a:solidFill>
              </a:rPr>
              <a:t>Prometheus: backend targets UP</a:t>
            </a:r>
            <a:endParaRPr lang="en-US" sz="1400" dirty="0"/>
          </a:p>
        </p:txBody>
      </p:sp>
      <p:sp>
        <p:nvSpPr>
          <p:cNvPr id="7" name="frame m9-eks-grafana"/>
          <p:cNvSpPr/>
          <p:nvPr/>
        </p:nvSpPr>
        <p:spPr>
          <a:xfrm>
            <a:off x="6117336" y="1635252"/>
            <a:ext cx="5596128" cy="3678936"/>
          </a:xfrm>
          <a:prstGeom prst="roundRect">
            <a:avLst>
              <a:gd name="adj" fmla="val 1491"/>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8" name="m9-eks-grafana" descr="m9-eks-grafana">    </p:cNvPr>
          <p:cNvPicPr>
            <a:picLocks noChangeAspect="1"/>
          </p:cNvPicPr>
          <p:nvPr/>
        </p:nvPicPr>
        <p:blipFill>
          <a:blip r:embed="rId2"/>
          <a:stretch>
            <a:fillRect/>
          </a:stretch>
        </p:blipFill>
        <p:spPr>
          <a:xfrm>
            <a:off x="6172200" y="1690116"/>
            <a:ext cx="5486400" cy="3569208"/>
          </a:xfrm>
          <a:prstGeom prst="rect">
            <a:avLst/>
          </a:prstGeom>
        </p:spPr>
      </p:pic>
      <p:sp>
        <p:nvSpPr>
          <p:cNvPr id="9" name="caption"/>
          <p:cNvSpPr txBox="1"/>
          <p:nvPr/>
        </p:nvSpPr>
        <p:spPr>
          <a:xfrm>
            <a:off x="6117336" y="5387340"/>
            <a:ext cx="5596128" cy="365760"/>
          </a:xfrm>
          <a:prstGeom prst="rect">
            <a:avLst/>
          </a:prstGeom>
          <a:noFill/>
          <a:ln/>
        </p:spPr>
        <p:txBody>
          <a:bodyPr wrap="square" lIns="0" tIns="0" rIns="0" bIns="0" rtlCol="0" anchor="ctr"/>
          <a:lstStyle/>
          <a:p>
            <a:pPr algn="ctr" indent="0" marL="0">
              <a:buNone/>
            </a:pPr>
            <a:r>
              <a:rPr lang="en-US" sz="1400" dirty="0">
                <a:solidFill>
                  <a:schemeClr val="accent6"/>
                </a:solidFill>
              </a:rPr>
              <a:t>Grafana: the Waiting Room dashboard on EKS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ection number"/>
          <p:cNvSpPr txBox="1"/>
          <p:nvPr/>
        </p:nvSpPr>
        <p:spPr>
          <a:xfrm>
            <a:off x="548640" y="1097280"/>
            <a:ext cx="3657600" cy="1280160"/>
          </a:xfrm>
          <a:prstGeom prst="rect">
            <a:avLst/>
          </a:prstGeom>
          <a:noFill/>
          <a:ln/>
        </p:spPr>
        <p:txBody>
          <a:bodyPr wrap="square" lIns="0" tIns="0" rIns="0" bIns="0" rtlCol="0" anchor="ctr"/>
          <a:lstStyle/>
          <a:p>
            <a:pPr indent="0" marL="0">
              <a:buNone/>
            </a:pPr>
            <a:r>
              <a:rPr lang="en-US" sz="9600" b="1" dirty="0">
                <a:solidFill>
                  <a:schemeClr val="accent2"/>
                </a:solidFill>
                <a:latin typeface="Arial" pitchFamily="34" charset="0"/>
                <a:ea typeface="Arial" pitchFamily="34" charset="-122"/>
                <a:cs typeface="Arial" pitchFamily="34" charset="-120"/>
              </a:rPr>
              <a:t>05</a:t>
            </a:r>
            <a:endParaRPr lang="en-US" sz="9600" dirty="0"/>
          </a:p>
        </p:txBody>
      </p:sp>
      <p:sp>
        <p:nvSpPr>
          <p:cNvPr id="3" name="Text 0"/>
          <p:cNvSpPr/>
          <p:nvPr>
            <p:ph idx="100" type="title" hasCustomPrompt="1"/>
          </p:nvPr>
        </p:nvSpPr>
        <p:spPr>
          <a:xfrm>
            <a:off x="548640" y="2331720"/>
            <a:ext cx="11064240" cy="1188720"/>
          </a:xfrm>
          <a:prstGeom prst="rect">
            <a:avLst/>
          </a:prstGeom>
          <a:noFill/>
          <a:ln/>
        </p:spPr>
        <p:txBody>
          <a:bodyPr wrap="square" lIns="0" tIns="0" rIns="0" bIns="0" rtlCol="0" anchor="ctr"/>
          <a:lstStyle/>
          <a:p>
            <a:pPr algn="l" indent="0" marL="0">
              <a:buNone/>
            </a:pPr>
            <a:r>
              <a:rPr lang="en-US" sz="5000" b="1" dirty="0">
                <a:solidFill>
                  <a:schemeClr val="bg1"/>
                </a:solidFill>
              </a:rPr>
              <a:t>Operate and learn</a:t>
            </a:r>
            <a:endParaRPr lang="en-US" sz="5000" dirty="0"/>
          </a:p>
        </p:txBody>
      </p:sp>
      <p:sp>
        <p:nvSpPr>
          <p:cNvPr id="4" name="section subtitle"/>
          <p:cNvSpPr txBox="1"/>
          <p:nvPr/>
        </p:nvSpPr>
        <p:spPr>
          <a:xfrm>
            <a:off x="548640" y="3749040"/>
            <a:ext cx="10515600" cy="822960"/>
          </a:xfrm>
          <a:prstGeom prst="rect">
            <a:avLst/>
          </a:prstGeom>
          <a:noFill/>
          <a:ln/>
        </p:spPr>
        <p:txBody>
          <a:bodyPr wrap="square" lIns="0" tIns="0" rIns="0" bIns="0" rtlCol="0" anchor="t"/>
          <a:lstStyle/>
          <a:p>
            <a:pPr indent="0" marL="0">
              <a:buNone/>
            </a:pPr>
            <a:r>
              <a:rPr lang="en-US" sz="2400" dirty="0">
                <a:solidFill>
                  <a:schemeClr val="bg2"/>
                </a:solidFill>
              </a:rPr>
              <a:t>Ship a change. Diagnose failures. Control cost. Reflect honestly</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One commit became a live deployment</a:t>
            </a:r>
            <a:endParaRPr lang="en-US" sz="3400" dirty="0"/>
          </a:p>
        </p:txBody>
      </p:sp>
      <p:sp>
        <p:nvSpPr>
          <p:cNvPr id="4" name="frame demo-1-footer-before"/>
          <p:cNvSpPr/>
          <p:nvPr/>
        </p:nvSpPr>
        <p:spPr>
          <a:xfrm>
            <a:off x="493776" y="1770583"/>
            <a:ext cx="5321808" cy="3225394"/>
          </a:xfrm>
          <a:prstGeom prst="roundRect">
            <a:avLst>
              <a:gd name="adj" fmla="val 1701"/>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demo-1-footer-before" descr="demo-1-footer-before">    </p:cNvPr>
          <p:cNvPicPr>
            <a:picLocks noChangeAspect="1"/>
          </p:cNvPicPr>
          <p:nvPr/>
        </p:nvPicPr>
        <p:blipFill>
          <a:blip r:embed="rId1"/>
          <a:stretch>
            <a:fillRect/>
          </a:stretch>
        </p:blipFill>
        <p:spPr>
          <a:xfrm>
            <a:off x="548640" y="1825447"/>
            <a:ext cx="5212080" cy="3115666"/>
          </a:xfrm>
          <a:prstGeom prst="rect">
            <a:avLst/>
          </a:prstGeom>
        </p:spPr>
      </p:pic>
      <p:sp>
        <p:nvSpPr>
          <p:cNvPr id="6" name="caption"/>
          <p:cNvSpPr txBox="1"/>
          <p:nvPr/>
        </p:nvSpPr>
        <p:spPr>
          <a:xfrm>
            <a:off x="493776" y="5069129"/>
            <a:ext cx="5321808" cy="365760"/>
          </a:xfrm>
          <a:prstGeom prst="rect">
            <a:avLst/>
          </a:prstGeom>
          <a:noFill/>
          <a:ln/>
        </p:spPr>
        <p:txBody>
          <a:bodyPr wrap="square" lIns="0" tIns="0" rIns="0" bIns="0" rtlCol="0" anchor="ctr"/>
          <a:lstStyle/>
          <a:p>
            <a:pPr algn="ctr" indent="0" marL="0">
              <a:buNone/>
            </a:pPr>
            <a:r>
              <a:rPr lang="en-US" sz="1400" dirty="0">
                <a:solidFill>
                  <a:schemeClr val="accent6"/>
                </a:solidFill>
              </a:rPr>
              <a:t>Before: build 10a6c28</a:t>
            </a:r>
            <a:endParaRPr lang="en-US" sz="1400" dirty="0"/>
          </a:p>
        </p:txBody>
      </p:sp>
      <p:sp>
        <p:nvSpPr>
          <p:cNvPr id="7" name="arrow"/>
          <p:cNvSpPr/>
          <p:nvPr/>
        </p:nvSpPr>
        <p:spPr>
          <a:xfrm>
            <a:off x="5852160" y="3291840"/>
            <a:ext cx="502920" cy="0"/>
          </a:xfrm>
          <a:prstGeom prst="line">
            <a:avLst/>
          </a:prstGeom>
          <a:noFill/>
          <a:ln w="63500">
            <a:solidFill>
              <a:schemeClr val="accent2"/>
            </a:solidFill>
            <a:prstDash val="solid"/>
            <a:tailEnd type="triangle"/>
          </a:ln>
        </p:spPr>
      </p:sp>
      <p:sp>
        <p:nvSpPr>
          <p:cNvPr id="8" name="frame demo-4-footer-after"/>
          <p:cNvSpPr/>
          <p:nvPr/>
        </p:nvSpPr>
        <p:spPr>
          <a:xfrm>
            <a:off x="6391656" y="1759001"/>
            <a:ext cx="5321808" cy="3248558"/>
          </a:xfrm>
          <a:prstGeom prst="roundRect">
            <a:avLst>
              <a:gd name="adj" fmla="val 1689"/>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9" name="demo-4-footer-after" descr="demo-4-footer-after">    </p:cNvPr>
          <p:cNvPicPr>
            <a:picLocks noChangeAspect="1"/>
          </p:cNvPicPr>
          <p:nvPr/>
        </p:nvPicPr>
        <p:blipFill>
          <a:blip r:embed="rId2"/>
          <a:stretch>
            <a:fillRect/>
          </a:stretch>
        </p:blipFill>
        <p:spPr>
          <a:xfrm>
            <a:off x="6446520" y="1813865"/>
            <a:ext cx="5212080" cy="3138830"/>
          </a:xfrm>
          <a:prstGeom prst="rect">
            <a:avLst/>
          </a:prstGeom>
        </p:spPr>
      </p:pic>
      <p:sp>
        <p:nvSpPr>
          <p:cNvPr id="10" name="caption"/>
          <p:cNvSpPr txBox="1"/>
          <p:nvPr/>
        </p:nvSpPr>
        <p:spPr>
          <a:xfrm>
            <a:off x="6391656" y="5080711"/>
            <a:ext cx="5321808" cy="365760"/>
          </a:xfrm>
          <a:prstGeom prst="rect">
            <a:avLst/>
          </a:prstGeom>
          <a:noFill/>
          <a:ln/>
        </p:spPr>
        <p:txBody>
          <a:bodyPr wrap="square" lIns="0" tIns="0" rIns="0" bIns="0" rtlCol="0" anchor="ctr"/>
          <a:lstStyle/>
          <a:p>
            <a:pPr algn="ctr" indent="0" marL="0">
              <a:buNone/>
            </a:pPr>
            <a:r>
              <a:rPr lang="en-US" sz="1400" dirty="0">
                <a:solidFill>
                  <a:schemeClr val="accent6"/>
                </a:solidFill>
              </a:rPr>
              <a:t>After: build e63e86a, with the new subtitle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The pipeline ships the change in minutes</a:t>
            </a:r>
            <a:endParaRPr lang="en-US" sz="3400" dirty="0"/>
          </a:p>
        </p:txBody>
      </p:sp>
      <p:sp>
        <p:nvSpPr>
          <p:cNvPr id="4" name="frame demo-2-actions-green"/>
          <p:cNvSpPr/>
          <p:nvPr/>
        </p:nvSpPr>
        <p:spPr>
          <a:xfrm>
            <a:off x="493776" y="1362456"/>
            <a:ext cx="6876288" cy="3805022"/>
          </a:xfrm>
          <a:prstGeom prst="roundRect">
            <a:avLst>
              <a:gd name="adj" fmla="val 1442"/>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demo-2-actions-green" descr="demo-2-actions-green">    </p:cNvPr>
          <p:cNvPicPr>
            <a:picLocks noChangeAspect="1"/>
          </p:cNvPicPr>
          <p:nvPr/>
        </p:nvPicPr>
        <p:blipFill>
          <a:blip r:embed="rId1"/>
          <a:stretch>
            <a:fillRect/>
          </a:stretch>
        </p:blipFill>
        <p:spPr>
          <a:xfrm>
            <a:off x="548640" y="1417320"/>
            <a:ext cx="6766560" cy="3695294"/>
          </a:xfrm>
          <a:prstGeom prst="rect">
            <a:avLst/>
          </a:prstGeom>
        </p:spPr>
      </p:pic>
      <p:sp>
        <p:nvSpPr>
          <p:cNvPr id="6" name="caption"/>
          <p:cNvSpPr txBox="1"/>
          <p:nvPr/>
        </p:nvSpPr>
        <p:spPr>
          <a:xfrm>
            <a:off x="493776" y="5240630"/>
            <a:ext cx="6876288" cy="365760"/>
          </a:xfrm>
          <a:prstGeom prst="rect">
            <a:avLst/>
          </a:prstGeom>
          <a:noFill/>
          <a:ln/>
        </p:spPr>
        <p:txBody>
          <a:bodyPr wrap="square" lIns="0" tIns="0" rIns="0" bIns="0" rtlCol="0" anchor="ctr"/>
          <a:lstStyle/>
          <a:p>
            <a:pPr algn="l" indent="0" marL="0">
              <a:buNone/>
            </a:pPr>
            <a:r>
              <a:rPr lang="en-US" sz="1400" dirty="0">
                <a:solidFill>
                  <a:schemeClr val="accent6"/>
                </a:solidFill>
              </a:rPr>
              <a:t>All six jobs pass, including the Helm deploy</a:t>
            </a:r>
            <a:endParaRPr lang="en-US" sz="1400" dirty="0"/>
          </a:p>
        </p:txBody>
      </p:sp>
      <p:sp>
        <p:nvSpPr>
          <p:cNvPr id="7" name="bullets"/>
          <p:cNvSpPr txBox="1"/>
          <p:nvPr/>
        </p:nvSpPr>
        <p:spPr>
          <a:xfrm>
            <a:off x="7680960" y="1645920"/>
            <a:ext cx="3977640" cy="3657600"/>
          </a:xfrm>
          <a:prstGeom prst="rect">
            <a:avLst/>
          </a:prstGeom>
          <a:noFill/>
          <a:ln/>
        </p:spPr>
        <p:txBody>
          <a:bodyPr wrap="square" lIns="0" tIns="0" rIns="0" bIns="0" rtlCol="0" anchor="t"/>
          <a:lstStyle/>
          <a:p>
            <a:pPr marL="228600" indent="-228600">
              <a:spcAft>
                <a:spcPts val="1200"/>
              </a:spcAft>
              <a:buSzPct val="100000"/>
              <a:buChar char="•"/>
            </a:pPr>
            <a:r>
              <a:rPr lang="en-US" sz="2000" b="1" dirty="0">
                <a:solidFill>
                  <a:schemeClr val="tx1"/>
                </a:solidFill>
              </a:rPr>
              <a:t>Tested, </a:t>
            </a:r>
            <a:pPr indent="0" marL="0">
              <a:spcAft>
                <a:spcPts val="1200"/>
              </a:spcAft>
              <a:buNone/>
            </a:pPr>
            <a:r>
              <a:rPr lang="en-US" sz="2000" dirty="0">
                <a:solidFill>
                  <a:schemeClr val="tx1"/>
                </a:solidFill>
              </a:rPr>
              <a:t>scanned and built in about three minutes</a:t>
            </a:r>
            <a:endParaRPr lang="en-US" sz="2000" dirty="0"/>
          </a:p>
          <a:p>
            <a:pPr marL="228600" indent="-228600">
              <a:spcAft>
                <a:spcPts val="1200"/>
              </a:spcAft>
              <a:buSzPct val="100000"/>
              <a:buChar char="•"/>
            </a:pPr>
            <a:r>
              <a:rPr lang="en-US" sz="2000" b="1" dirty="0">
                <a:solidFill>
                  <a:schemeClr val="tx1"/>
                </a:solidFill>
              </a:rPr>
              <a:t>Pushed </a:t>
            </a:r>
            <a:pPr indent="0" marL="0">
              <a:spcAft>
                <a:spcPts val="1200"/>
              </a:spcAft>
              <a:buNone/>
            </a:pPr>
            <a:r>
              <a:rPr lang="en-US" sz="2000" dirty="0">
                <a:solidFill>
                  <a:schemeClr val="tx1"/>
                </a:solidFill>
              </a:rPr>
              <a:t>both images to GHCR, tagged with the new SHA</a:t>
            </a:r>
            <a:endParaRPr lang="en-US" sz="2000" dirty="0"/>
          </a:p>
          <a:p>
            <a:pPr marL="228600" indent="-228600">
              <a:spcAft>
                <a:spcPts val="1200"/>
              </a:spcAft>
              <a:buSzPct val="100000"/>
              <a:buChar char="•"/>
            </a:pPr>
            <a:r>
              <a:rPr lang="en-US" sz="2000" b="1" dirty="0">
                <a:solidFill>
                  <a:schemeClr val="tx1"/>
                </a:solidFill>
              </a:rPr>
              <a:t>Deployed </a:t>
            </a:r>
            <a:pPr indent="0" marL="0">
              <a:spcAft>
                <a:spcPts val="1200"/>
              </a:spcAft>
              <a:buNone/>
            </a:pPr>
            <a:r>
              <a:rPr lang="en-US" sz="2000" dirty="0">
                <a:solidFill>
                  <a:schemeClr val="tx1"/>
                </a:solidFill>
              </a:rPr>
              <a:t>with a rolling, atomic Helm upgrade</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The cluster now runs the new image</a:t>
            </a:r>
            <a:endParaRPr lang="en-US" sz="3400" dirty="0"/>
          </a:p>
        </p:txBody>
      </p:sp>
      <p:sp>
        <p:nvSpPr>
          <p:cNvPr id="4" name="frame demo-3-new-image-tag"/>
          <p:cNvSpPr/>
          <p:nvPr/>
        </p:nvSpPr>
        <p:spPr>
          <a:xfrm>
            <a:off x="493776" y="1650282"/>
            <a:ext cx="11204143" cy="2094396"/>
          </a:xfrm>
          <a:prstGeom prst="roundRect">
            <a:avLst>
              <a:gd name="adj" fmla="val 2620"/>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5" name="demo-3-new-image-tag" descr="demo-3-new-image-tag">    </p:cNvPr>
          <p:cNvPicPr>
            <a:picLocks noChangeAspect="1"/>
          </p:cNvPicPr>
          <p:nvPr/>
        </p:nvPicPr>
        <p:blipFill>
          <a:blip r:embed="rId1"/>
          <a:stretch>
            <a:fillRect/>
          </a:stretch>
        </p:blipFill>
        <p:spPr>
          <a:xfrm>
            <a:off x="548640" y="1705146"/>
            <a:ext cx="11094415" cy="1984668"/>
          </a:xfrm>
          <a:prstGeom prst="rect">
            <a:avLst/>
          </a:prstGeom>
        </p:spPr>
      </p:pic>
      <p:sp>
        <p:nvSpPr>
          <p:cNvPr id="6" name="caption"/>
          <p:cNvSpPr txBox="1"/>
          <p:nvPr/>
        </p:nvSpPr>
        <p:spPr>
          <a:xfrm>
            <a:off x="493776" y="3817830"/>
            <a:ext cx="11204143" cy="365760"/>
          </a:xfrm>
          <a:prstGeom prst="rect">
            <a:avLst/>
          </a:prstGeom>
          <a:noFill/>
          <a:ln/>
        </p:spPr>
        <p:txBody>
          <a:bodyPr wrap="square" lIns="0" tIns="0" rIns="0" bIns="0" rtlCol="0" anchor="ctr"/>
          <a:lstStyle/>
          <a:p>
            <a:pPr algn="ctr" indent="0" marL="0">
              <a:buNone/>
            </a:pPr>
            <a:r>
              <a:rPr lang="en-US" sz="1400" dirty="0">
                <a:solidFill>
                  <a:schemeClr val="accent6"/>
                </a:solidFill>
              </a:rPr>
              <a:t>Pod images match the commit SHA printed by git rev-parse HEAD</a:t>
            </a:r>
            <a:endParaRPr lang="en-US" sz="1400" dirty="0"/>
          </a:p>
        </p:txBody>
      </p:sp>
      <p:sp>
        <p:nvSpPr>
          <p:cNvPr id="7" name="card"/>
          <p:cNvSpPr/>
          <p:nvPr/>
        </p:nvSpPr>
        <p:spPr>
          <a:xfrm>
            <a:off x="548640" y="4572000"/>
            <a:ext cx="3520440" cy="1554480"/>
          </a:xfrm>
          <a:prstGeom prst="roundRect">
            <a:avLst>
              <a:gd name="adj" fmla="val 8235"/>
            </a:avLst>
          </a:prstGeom>
          <a:solidFill>
            <a:schemeClr val="bg2"/>
          </a:solidFill>
          <a:ln/>
        </p:spPr>
      </p:sp>
      <p:sp>
        <p:nvSpPr>
          <p:cNvPr id="8" name="icon bg FaLink"/>
          <p:cNvSpPr/>
          <p:nvPr/>
        </p:nvSpPr>
        <p:spPr>
          <a:xfrm>
            <a:off x="777240" y="4754880"/>
            <a:ext cx="640080" cy="640080"/>
          </a:xfrm>
          <a:prstGeom prst="ellipse">
            <a:avLst/>
          </a:prstGeom>
          <a:solidFill>
            <a:schemeClr val="accent1"/>
          </a:solidFill>
          <a:ln/>
        </p:spPr>
      </p:sp>
      <p:pic>
        <p:nvPicPr>
          <p:cNvPr id="9" name="icon FaLink" descr="FaLink">    </p:cNvPr>
          <p:cNvPicPr>
            <a:picLocks noChangeAspect="1"/>
          </p:cNvPicPr>
          <p:nvPr/>
        </p:nvPicPr>
        <p:blipFill>
          <a:blip r:embed="rId2"/>
          <a:stretch>
            <a:fillRect/>
          </a:stretch>
        </p:blipFill>
        <p:spPr>
          <a:xfrm>
            <a:off x="950062" y="4927702"/>
            <a:ext cx="294437" cy="294437"/>
          </a:xfrm>
          <a:prstGeom prst="rect">
            <a:avLst/>
          </a:prstGeom>
        </p:spPr>
      </p:pic>
      <p:sp>
        <p:nvSpPr>
          <p:cNvPr id="10" name="tr3 head"/>
          <p:cNvSpPr txBox="1"/>
          <p:nvPr/>
        </p:nvSpPr>
        <p:spPr>
          <a:xfrm>
            <a:off x="1600200" y="4754880"/>
            <a:ext cx="2377440" cy="640080"/>
          </a:xfrm>
          <a:prstGeom prst="rect">
            <a:avLst/>
          </a:prstGeom>
          <a:noFill/>
          <a:ln/>
        </p:spPr>
        <p:txBody>
          <a:bodyPr wrap="square" lIns="0" tIns="0" rIns="0" bIns="0" rtlCol="0" anchor="ctr"/>
          <a:lstStyle/>
          <a:p>
            <a:pPr indent="0" marL="0">
              <a:buNone/>
            </a:pPr>
            <a:r>
              <a:rPr lang="en-US" sz="1900" b="1" dirty="0">
                <a:solidFill>
                  <a:schemeClr val="tx1"/>
                </a:solidFill>
              </a:rPr>
              <a:t>Commit to pod</a:t>
            </a:r>
            <a:endParaRPr lang="en-US" sz="1900" dirty="0"/>
          </a:p>
        </p:txBody>
      </p:sp>
      <p:sp>
        <p:nvSpPr>
          <p:cNvPr id="11" name="tr3 text"/>
          <p:cNvSpPr txBox="1"/>
          <p:nvPr/>
        </p:nvSpPr>
        <p:spPr>
          <a:xfrm>
            <a:off x="777240" y="5486400"/>
            <a:ext cx="3108960" cy="548640"/>
          </a:xfrm>
          <a:prstGeom prst="rect">
            <a:avLst/>
          </a:prstGeom>
          <a:noFill/>
          <a:ln/>
        </p:spPr>
        <p:txBody>
          <a:bodyPr wrap="square" lIns="0" tIns="0" rIns="0" bIns="0" rtlCol="0" anchor="t"/>
          <a:lstStyle/>
          <a:p>
            <a:pPr indent="0" marL="0">
              <a:buNone/>
            </a:pPr>
            <a:r>
              <a:rPr lang="en-US" sz="1600" dirty="0">
                <a:solidFill>
                  <a:schemeClr val="accent6"/>
                </a:solidFill>
              </a:rPr>
              <a:t>The image tag equals the full Git SHA</a:t>
            </a:r>
            <a:endParaRPr lang="en-US" sz="1600" dirty="0"/>
          </a:p>
        </p:txBody>
      </p:sp>
      <p:sp>
        <p:nvSpPr>
          <p:cNvPr id="12" name="card"/>
          <p:cNvSpPr/>
          <p:nvPr/>
        </p:nvSpPr>
        <p:spPr>
          <a:xfrm>
            <a:off x="4297680" y="4572000"/>
            <a:ext cx="3520440" cy="1554480"/>
          </a:xfrm>
          <a:prstGeom prst="roundRect">
            <a:avLst>
              <a:gd name="adj" fmla="val 8235"/>
            </a:avLst>
          </a:prstGeom>
          <a:solidFill>
            <a:schemeClr val="bg2"/>
          </a:solidFill>
          <a:ln/>
        </p:spPr>
      </p:sp>
      <p:sp>
        <p:nvSpPr>
          <p:cNvPr id="13" name="icon bg FaUndo"/>
          <p:cNvSpPr/>
          <p:nvPr/>
        </p:nvSpPr>
        <p:spPr>
          <a:xfrm>
            <a:off x="4526280" y="4754880"/>
            <a:ext cx="640080" cy="640080"/>
          </a:xfrm>
          <a:prstGeom prst="ellipse">
            <a:avLst/>
          </a:prstGeom>
          <a:solidFill>
            <a:schemeClr val="accent1"/>
          </a:solidFill>
          <a:ln/>
        </p:spPr>
      </p:sp>
      <p:pic>
        <p:nvPicPr>
          <p:cNvPr id="14" name="icon FaUndo" descr="FaUndo">    </p:cNvPr>
          <p:cNvPicPr>
            <a:picLocks noChangeAspect="1"/>
          </p:cNvPicPr>
          <p:nvPr/>
        </p:nvPicPr>
        <p:blipFill>
          <a:blip r:embed="rId3"/>
          <a:stretch>
            <a:fillRect/>
          </a:stretch>
        </p:blipFill>
        <p:spPr>
          <a:xfrm>
            <a:off x="4699102" y="4927702"/>
            <a:ext cx="294437" cy="294437"/>
          </a:xfrm>
          <a:prstGeom prst="rect">
            <a:avLst/>
          </a:prstGeom>
        </p:spPr>
      </p:pic>
      <p:sp>
        <p:nvSpPr>
          <p:cNvPr id="15" name="tr3 head"/>
          <p:cNvSpPr txBox="1"/>
          <p:nvPr/>
        </p:nvSpPr>
        <p:spPr>
          <a:xfrm>
            <a:off x="5349240" y="4754880"/>
            <a:ext cx="2377440" cy="640080"/>
          </a:xfrm>
          <a:prstGeom prst="rect">
            <a:avLst/>
          </a:prstGeom>
          <a:noFill/>
          <a:ln/>
        </p:spPr>
        <p:txBody>
          <a:bodyPr wrap="square" lIns="0" tIns="0" rIns="0" bIns="0" rtlCol="0" anchor="ctr"/>
          <a:lstStyle/>
          <a:p>
            <a:pPr indent="0" marL="0">
              <a:buNone/>
            </a:pPr>
            <a:r>
              <a:rPr lang="en-US" sz="1900" b="1" dirty="0">
                <a:solidFill>
                  <a:schemeClr val="tx1"/>
                </a:solidFill>
              </a:rPr>
              <a:t>Easy rollback</a:t>
            </a:r>
            <a:endParaRPr lang="en-US" sz="1900" dirty="0"/>
          </a:p>
        </p:txBody>
      </p:sp>
      <p:sp>
        <p:nvSpPr>
          <p:cNvPr id="16" name="tr3 text"/>
          <p:cNvSpPr txBox="1"/>
          <p:nvPr/>
        </p:nvSpPr>
        <p:spPr>
          <a:xfrm>
            <a:off x="4526280" y="5486400"/>
            <a:ext cx="3108960" cy="548640"/>
          </a:xfrm>
          <a:prstGeom prst="rect">
            <a:avLst/>
          </a:prstGeom>
          <a:noFill/>
          <a:ln/>
        </p:spPr>
        <p:txBody>
          <a:bodyPr wrap="square" lIns="0" tIns="0" rIns="0" bIns="0" rtlCol="0" anchor="t"/>
          <a:lstStyle/>
          <a:p>
            <a:pPr indent="0" marL="0">
              <a:buNone/>
            </a:pPr>
            <a:r>
              <a:rPr lang="en-US" sz="1600" dirty="0">
                <a:solidFill>
                  <a:schemeClr val="accent6"/>
                </a:solidFill>
              </a:rPr>
              <a:t>Deploy an earlier SHA to go back</a:t>
            </a:r>
            <a:endParaRPr lang="en-US" sz="1600" dirty="0"/>
          </a:p>
        </p:txBody>
      </p:sp>
      <p:sp>
        <p:nvSpPr>
          <p:cNvPr id="17" name="card"/>
          <p:cNvSpPr/>
          <p:nvPr/>
        </p:nvSpPr>
        <p:spPr>
          <a:xfrm>
            <a:off x="8046720" y="4572000"/>
            <a:ext cx="3520440" cy="1554480"/>
          </a:xfrm>
          <a:prstGeom prst="roundRect">
            <a:avLst>
              <a:gd name="adj" fmla="val 8235"/>
            </a:avLst>
          </a:prstGeom>
          <a:solidFill>
            <a:schemeClr val="bg2"/>
          </a:solidFill>
          <a:ln/>
        </p:spPr>
      </p:sp>
      <p:sp>
        <p:nvSpPr>
          <p:cNvPr id="18" name="icon bg FaShieldAlt"/>
          <p:cNvSpPr/>
          <p:nvPr/>
        </p:nvSpPr>
        <p:spPr>
          <a:xfrm>
            <a:off x="8275320" y="4754880"/>
            <a:ext cx="640080" cy="640080"/>
          </a:xfrm>
          <a:prstGeom prst="ellipse">
            <a:avLst/>
          </a:prstGeom>
          <a:solidFill>
            <a:schemeClr val="accent1"/>
          </a:solidFill>
          <a:ln/>
        </p:spPr>
      </p:sp>
      <p:pic>
        <p:nvPicPr>
          <p:cNvPr id="19" name="icon FaShieldAlt" descr="FaShieldAlt">    </p:cNvPr>
          <p:cNvPicPr>
            <a:picLocks noChangeAspect="1"/>
          </p:cNvPicPr>
          <p:nvPr/>
        </p:nvPicPr>
        <p:blipFill>
          <a:blip r:embed="rId4"/>
          <a:stretch>
            <a:fillRect/>
          </a:stretch>
        </p:blipFill>
        <p:spPr>
          <a:xfrm>
            <a:off x="8448142" y="4927702"/>
            <a:ext cx="294437" cy="294437"/>
          </a:xfrm>
          <a:prstGeom prst="rect">
            <a:avLst/>
          </a:prstGeom>
        </p:spPr>
      </p:pic>
      <p:sp>
        <p:nvSpPr>
          <p:cNvPr id="20" name="tr3 head"/>
          <p:cNvSpPr txBox="1"/>
          <p:nvPr/>
        </p:nvSpPr>
        <p:spPr>
          <a:xfrm>
            <a:off x="9098280" y="4754880"/>
            <a:ext cx="2377440" cy="640080"/>
          </a:xfrm>
          <a:prstGeom prst="rect">
            <a:avLst/>
          </a:prstGeom>
          <a:noFill/>
          <a:ln/>
        </p:spPr>
        <p:txBody>
          <a:bodyPr wrap="square" lIns="0" tIns="0" rIns="0" bIns="0" rtlCol="0" anchor="ctr"/>
          <a:lstStyle/>
          <a:p>
            <a:pPr indent="0" marL="0">
              <a:buNone/>
            </a:pPr>
            <a:r>
              <a:rPr lang="en-US" sz="1900" b="1" dirty="0">
                <a:solidFill>
                  <a:schemeClr val="tx1"/>
                </a:solidFill>
              </a:rPr>
              <a:t>Atomic upgrade</a:t>
            </a:r>
            <a:endParaRPr lang="en-US" sz="1900" dirty="0"/>
          </a:p>
        </p:txBody>
      </p:sp>
      <p:sp>
        <p:nvSpPr>
          <p:cNvPr id="21" name="tr3 text"/>
          <p:cNvSpPr txBox="1"/>
          <p:nvPr/>
        </p:nvSpPr>
        <p:spPr>
          <a:xfrm>
            <a:off x="8275320" y="5486400"/>
            <a:ext cx="3108960" cy="548640"/>
          </a:xfrm>
          <a:prstGeom prst="rect">
            <a:avLst/>
          </a:prstGeom>
          <a:noFill/>
          <a:ln/>
        </p:spPr>
        <p:txBody>
          <a:bodyPr wrap="square" lIns="0" tIns="0" rIns="0" bIns="0" rtlCol="0" anchor="t"/>
          <a:lstStyle/>
          <a:p>
            <a:pPr indent="0" marL="0">
              <a:buNone/>
            </a:pPr>
            <a:r>
              <a:rPr lang="en-US" sz="1600" dirty="0">
                <a:solidFill>
                  <a:schemeClr val="accent6"/>
                </a:solidFill>
              </a:rPr>
              <a:t>A failed rollout reverts automatically</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A troubleshooting lab trains the diagnosis</a:t>
            </a:r>
            <a:endParaRPr lang="en-US" sz="3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583680" cy="914400"/>
        </p:xfrm>
        <a:graphic>
          <a:graphicData uri="http://schemas.openxmlformats.org/drawingml/2006/table">
            <a:tbl>
              <a:tblPr/>
              <a:tblGrid>
                <a:gridCol w="2103120"/>
                <a:gridCol w="2651760"/>
                <a:gridCol w="1828800"/>
              </a:tblGrid>
              <a:tr h="658368">
                <a:tc>
                  <a:txBody>
                    <a:bodyPr/>
                    <a:lstStyle/>
                    <a:p>
                      <a:pPr indent="0" marL="0">
                        <a:buNone/>
                      </a:pPr>
                      <a:r>
                        <a:rPr lang="en-US" sz="1600" b="1" dirty="0">
                          <a:solidFill>
                            <a:schemeClr val="bg1"/>
                          </a:solidFill>
                        </a:rPr>
                        <a:t>Symptom</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Cause</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Fix</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r>
              <a:tr h="658368">
                <a:tc>
                  <a:txBody>
                    <a:bodyPr/>
                    <a:lstStyle/>
                    <a:p>
                      <a:pPr indent="0" marL="0">
                        <a:buNone/>
                      </a:pPr>
                      <a:r>
                        <a:rPr lang="en-US" sz="1600" dirty="0">
                          <a:solidFill>
                            <a:schemeClr val="tx1"/>
                          </a:solidFill>
                        </a:rPr>
                        <a:t>ImagePullBackOff</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Image tag does not exist</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Set the right tag</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658368">
                <a:tc>
                  <a:txBody>
                    <a:bodyPr/>
                    <a:lstStyle/>
                    <a:p>
                      <a:pPr indent="0" marL="0">
                        <a:buNone/>
                      </a:pPr>
                      <a:r>
                        <a:rPr lang="en-US" sz="1600" dirty="0">
                          <a:solidFill>
                            <a:schemeClr val="tx1"/>
                          </a:solidFill>
                        </a:rPr>
                        <a:t>Service has no traffic</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Selector matches no pods</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Patch the selector</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658368">
                <a:tc>
                  <a:txBody>
                    <a:bodyPr/>
                    <a:lstStyle/>
                    <a:p>
                      <a:pPr indent="0" marL="0">
                        <a:buNone/>
                      </a:pPr>
                      <a:r>
                        <a:rPr lang="en-US" sz="1600" dirty="0">
                          <a:solidFill>
                            <a:schemeClr val="tx1"/>
                          </a:solidFill>
                        </a:rPr>
                        <a:t>Running, not Ready</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Database host is wrong</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Correct DB_HOST</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bl>
          </a:graphicData>
        </a:graphic>
      </p:graphicFrame>
      <p:sp>
        <p:nvSpPr>
          <p:cNvPr id="5" name="lesson"/>
          <p:cNvSpPr txBox="1"/>
          <p:nvPr/>
        </p:nvSpPr>
        <p:spPr>
          <a:xfrm>
            <a:off x="548640" y="4846320"/>
            <a:ext cx="6400800" cy="1005840"/>
          </a:xfrm>
          <a:prstGeom prst="rect">
            <a:avLst/>
          </a:prstGeom>
          <a:noFill/>
          <a:ln/>
        </p:spPr>
        <p:txBody>
          <a:bodyPr wrap="square" lIns="0" tIns="0" rIns="0" bIns="0" rtlCol="0" anchor="t"/>
          <a:lstStyle/>
          <a:p>
            <a:pPr indent="0" marL="0">
              <a:buNone/>
            </a:pPr>
            <a:r>
              <a:rPr lang="en-US" sz="1900" b="1" dirty="0">
                <a:solidFill>
                  <a:schemeClr val="accent1"/>
                </a:solidFill>
              </a:rPr>
              <a:t>Events first. Labels connect Services to pods. Liveness is not readiness.</a:t>
            </a:r>
            <a:endParaRPr lang="en-US" sz="1900" dirty="0"/>
          </a:p>
        </p:txBody>
      </p:sp>
      <p:sp>
        <p:nvSpPr>
          <p:cNvPr id="6" name="frame m9-troubleshooting"/>
          <p:cNvSpPr/>
          <p:nvPr/>
        </p:nvSpPr>
        <p:spPr>
          <a:xfrm>
            <a:off x="7214616" y="1626413"/>
            <a:ext cx="4498848" cy="2965094"/>
          </a:xfrm>
          <a:prstGeom prst="roundRect">
            <a:avLst>
              <a:gd name="adj" fmla="val 1850"/>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7" name="m9-troubleshooting" descr="m9-troubleshooting">    </p:cNvPr>
          <p:cNvPicPr>
            <a:picLocks noChangeAspect="1"/>
          </p:cNvPicPr>
          <p:nvPr/>
        </p:nvPicPr>
        <p:blipFill>
          <a:blip r:embed="rId1"/>
          <a:stretch>
            <a:fillRect/>
          </a:stretch>
        </p:blipFill>
        <p:spPr>
          <a:xfrm>
            <a:off x="7269480" y="1681277"/>
            <a:ext cx="4389120" cy="2855366"/>
          </a:xfrm>
          <a:prstGeom prst="rect">
            <a:avLst/>
          </a:prstGeom>
        </p:spPr>
      </p:pic>
      <p:sp>
        <p:nvSpPr>
          <p:cNvPr id="8" name="caption"/>
          <p:cNvSpPr txBox="1"/>
          <p:nvPr/>
        </p:nvSpPr>
        <p:spPr>
          <a:xfrm>
            <a:off x="7214616" y="4664659"/>
            <a:ext cx="4498848" cy="365760"/>
          </a:xfrm>
          <a:prstGeom prst="rect">
            <a:avLst/>
          </a:prstGeom>
          <a:noFill/>
          <a:ln/>
        </p:spPr>
        <p:txBody>
          <a:bodyPr wrap="square" lIns="0" tIns="0" rIns="0" bIns="0" rtlCol="0" anchor="ctr"/>
          <a:lstStyle/>
          <a:p>
            <a:pPr algn="ctr" indent="0" marL="0">
              <a:buNone/>
            </a:pPr>
            <a:r>
              <a:rPr lang="en-US" sz="1400" dirty="0">
                <a:solidFill>
                  <a:schemeClr val="accent6"/>
                </a:solidFill>
              </a:rPr>
              <a:t>ImagePullBackOff reproduced and diagnosed</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AWS cost stayed near zero, nothing runs now</a:t>
            </a:r>
            <a:endParaRPr lang="en-US" sz="3400" dirty="0"/>
          </a:p>
        </p:txBody>
      </p:sp>
      <p:sp>
        <p:nvSpPr>
          <p:cNvPr id="4" name="stat per hour while running"/>
          <p:cNvSpPr txBox="1"/>
          <p:nvPr/>
        </p:nvSpPr>
        <p:spPr>
          <a:xfrm>
            <a:off x="548640" y="1417320"/>
            <a:ext cx="3200400" cy="868680"/>
          </a:xfrm>
          <a:prstGeom prst="rect">
            <a:avLst/>
          </a:prstGeom>
          <a:noFill/>
          <a:ln/>
        </p:spPr>
        <p:txBody>
          <a:bodyPr wrap="square" lIns="0" tIns="0" rIns="0" bIns="0" rtlCol="0" anchor="b"/>
          <a:lstStyle/>
          <a:p>
            <a:pPr indent="0" marL="0">
              <a:buNone/>
            </a:pPr>
            <a:r>
              <a:rPr lang="en-US" sz="5400" b="1" dirty="0">
                <a:solidFill>
                  <a:schemeClr val="accent1"/>
                </a:solidFill>
                <a:latin typeface="Arial" pitchFamily="34" charset="0"/>
                <a:ea typeface="Arial" pitchFamily="34" charset="-122"/>
                <a:cs typeface="Arial" pitchFamily="34" charset="-120"/>
              </a:rPr>
              <a:t>$0.26</a:t>
            </a:r>
            <a:endParaRPr lang="en-US" sz="5400" dirty="0"/>
          </a:p>
        </p:txBody>
      </p:sp>
      <p:sp>
        <p:nvSpPr>
          <p:cNvPr id="5" name="stat label"/>
          <p:cNvSpPr txBox="1"/>
          <p:nvPr/>
        </p:nvSpPr>
        <p:spPr>
          <a:xfrm>
            <a:off x="548640" y="2304288"/>
            <a:ext cx="3200400" cy="640080"/>
          </a:xfrm>
          <a:prstGeom prst="rect">
            <a:avLst/>
          </a:prstGeom>
          <a:noFill/>
          <a:ln/>
        </p:spPr>
        <p:txBody>
          <a:bodyPr wrap="square" lIns="0" tIns="0" rIns="0" bIns="0" rtlCol="0" anchor="t"/>
          <a:lstStyle/>
          <a:p>
            <a:pPr indent="0" marL="0">
              <a:buNone/>
            </a:pPr>
            <a:r>
              <a:rPr lang="en-US" sz="1800" dirty="0">
                <a:solidFill>
                  <a:schemeClr val="accent6"/>
                </a:solidFill>
              </a:rPr>
              <a:t>per hour while running</a:t>
            </a:r>
            <a:endParaRPr lang="en-US" sz="1800" dirty="0"/>
          </a:p>
        </p:txBody>
      </p:sp>
      <p:sp>
        <p:nvSpPr>
          <p:cNvPr id="6" name="stat budget alerts guard the account"/>
          <p:cNvSpPr txBox="1"/>
          <p:nvPr/>
        </p:nvSpPr>
        <p:spPr>
          <a:xfrm>
            <a:off x="4297680" y="1417320"/>
            <a:ext cx="3200400" cy="868680"/>
          </a:xfrm>
          <a:prstGeom prst="rect">
            <a:avLst/>
          </a:prstGeom>
          <a:noFill/>
          <a:ln/>
        </p:spPr>
        <p:txBody>
          <a:bodyPr wrap="square" lIns="0" tIns="0" rIns="0" bIns="0" rtlCol="0" anchor="b"/>
          <a:lstStyle/>
          <a:p>
            <a:pPr indent="0" marL="0">
              <a:buNone/>
            </a:pPr>
            <a:r>
              <a:rPr lang="en-US" sz="5400" b="1" dirty="0">
                <a:solidFill>
                  <a:schemeClr val="accent2"/>
                </a:solidFill>
                <a:latin typeface="Arial" pitchFamily="34" charset="0"/>
                <a:ea typeface="Arial" pitchFamily="34" charset="-122"/>
                <a:cs typeface="Arial" pitchFamily="34" charset="-120"/>
              </a:rPr>
              <a:t>6</a:t>
            </a:r>
            <a:endParaRPr lang="en-US" sz="5400" dirty="0"/>
          </a:p>
        </p:txBody>
      </p:sp>
      <p:sp>
        <p:nvSpPr>
          <p:cNvPr id="7" name="stat label"/>
          <p:cNvSpPr txBox="1"/>
          <p:nvPr/>
        </p:nvSpPr>
        <p:spPr>
          <a:xfrm>
            <a:off x="4297680" y="2304288"/>
            <a:ext cx="3200400" cy="640080"/>
          </a:xfrm>
          <a:prstGeom prst="rect">
            <a:avLst/>
          </a:prstGeom>
          <a:noFill/>
          <a:ln/>
        </p:spPr>
        <p:txBody>
          <a:bodyPr wrap="square" lIns="0" tIns="0" rIns="0" bIns="0" rtlCol="0" anchor="t"/>
          <a:lstStyle/>
          <a:p>
            <a:pPr indent="0" marL="0">
              <a:buNone/>
            </a:pPr>
            <a:r>
              <a:rPr lang="en-US" sz="1800" dirty="0">
                <a:solidFill>
                  <a:schemeClr val="accent6"/>
                </a:solidFill>
              </a:rPr>
              <a:t>budget alerts guard the account</a:t>
            </a:r>
            <a:endParaRPr lang="en-US" sz="1800" dirty="0"/>
          </a:p>
        </p:txBody>
      </p:sp>
      <p:sp>
        <p:nvSpPr>
          <p:cNvPr id="8" name="stat after teardown verification"/>
          <p:cNvSpPr txBox="1"/>
          <p:nvPr/>
        </p:nvSpPr>
        <p:spPr>
          <a:xfrm>
            <a:off x="8046720" y="1417320"/>
            <a:ext cx="3657600" cy="868680"/>
          </a:xfrm>
          <a:prstGeom prst="rect">
            <a:avLst/>
          </a:prstGeom>
          <a:noFill/>
          <a:ln/>
        </p:spPr>
        <p:txBody>
          <a:bodyPr wrap="square" lIns="0" tIns="0" rIns="0" bIns="0" rtlCol="0" anchor="b"/>
          <a:lstStyle/>
          <a:p>
            <a:pPr indent="0" marL="0">
              <a:buNone/>
            </a:pPr>
            <a:r>
              <a:rPr lang="en-US" sz="4400" b="1" dirty="0">
                <a:solidFill>
                  <a:schemeClr val="accent4"/>
                </a:solidFill>
                <a:latin typeface="Arial" pitchFamily="34" charset="0"/>
                <a:ea typeface="Arial" pitchFamily="34" charset="-122"/>
                <a:cs typeface="Arial" pitchFamily="34" charset="-120"/>
              </a:rPr>
              <a:t>ALL CLEAN</a:t>
            </a:r>
            <a:endParaRPr lang="en-US" sz="4400" dirty="0"/>
          </a:p>
        </p:txBody>
      </p:sp>
      <p:sp>
        <p:nvSpPr>
          <p:cNvPr id="9" name="stat label"/>
          <p:cNvSpPr txBox="1"/>
          <p:nvPr/>
        </p:nvSpPr>
        <p:spPr>
          <a:xfrm>
            <a:off x="8046720" y="2304288"/>
            <a:ext cx="3657600" cy="640080"/>
          </a:xfrm>
          <a:prstGeom prst="rect">
            <a:avLst/>
          </a:prstGeom>
          <a:noFill/>
          <a:ln/>
        </p:spPr>
        <p:txBody>
          <a:bodyPr wrap="square" lIns="0" tIns="0" rIns="0" bIns="0" rtlCol="0" anchor="t"/>
          <a:lstStyle/>
          <a:p>
            <a:pPr indent="0" marL="0">
              <a:buNone/>
            </a:pPr>
            <a:r>
              <a:rPr lang="en-US" sz="1800" dirty="0">
                <a:solidFill>
                  <a:schemeClr val="accent6"/>
                </a:solidFill>
              </a:rPr>
              <a:t>after teardown verification</a:t>
            </a:r>
            <a:endParaRPr lang="en-US" sz="1800" dirty="0"/>
          </a:p>
        </p:txBody>
      </p:sp>
      <p:sp>
        <p:nvSpPr>
          <p:cNvPr id="10" name="frame m7-teardown-clean"/>
          <p:cNvSpPr/>
          <p:nvPr/>
        </p:nvSpPr>
        <p:spPr>
          <a:xfrm>
            <a:off x="493776" y="3145536"/>
            <a:ext cx="6967728" cy="2399538"/>
          </a:xfrm>
          <a:prstGeom prst="roundRect">
            <a:avLst>
              <a:gd name="adj" fmla="val 2286"/>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11" name="m7-teardown-clean" descr="m7-teardown-clean">    </p:cNvPr>
          <p:cNvPicPr>
            <a:picLocks noChangeAspect="1"/>
          </p:cNvPicPr>
          <p:nvPr/>
        </p:nvPicPr>
        <p:blipFill>
          <a:blip r:embed="rId1"/>
          <a:stretch>
            <a:fillRect/>
          </a:stretch>
        </p:blipFill>
        <p:spPr>
          <a:xfrm>
            <a:off x="548640" y="3200400"/>
            <a:ext cx="6858000" cy="2289810"/>
          </a:xfrm>
          <a:prstGeom prst="rect">
            <a:avLst/>
          </a:prstGeom>
        </p:spPr>
      </p:pic>
      <p:sp>
        <p:nvSpPr>
          <p:cNvPr id="12" name="caption"/>
          <p:cNvSpPr txBox="1"/>
          <p:nvPr/>
        </p:nvSpPr>
        <p:spPr>
          <a:xfrm>
            <a:off x="493776" y="5618226"/>
            <a:ext cx="6967728" cy="365760"/>
          </a:xfrm>
          <a:prstGeom prst="rect">
            <a:avLst/>
          </a:prstGeom>
          <a:noFill/>
          <a:ln/>
        </p:spPr>
        <p:txBody>
          <a:bodyPr wrap="square" lIns="0" tIns="0" rIns="0" bIns="0" rtlCol="0" anchor="ctr"/>
          <a:lstStyle/>
          <a:p>
            <a:pPr algn="l" indent="0" marL="0">
              <a:buNone/>
            </a:pPr>
            <a:r>
              <a:rPr lang="en-US" sz="1400" dirty="0">
                <a:solidFill>
                  <a:schemeClr val="accent6"/>
                </a:solidFill>
              </a:rPr>
              <a:t>verify-teardown.sh: nothing left in either region</a:t>
            </a:r>
            <a:endParaRPr lang="en-US" sz="1400" dirty="0"/>
          </a:p>
        </p:txBody>
      </p:sp>
      <p:sp>
        <p:nvSpPr>
          <p:cNvPr id="13" name="frame m7-destroy"/>
          <p:cNvSpPr/>
          <p:nvPr/>
        </p:nvSpPr>
        <p:spPr>
          <a:xfrm>
            <a:off x="7808976" y="3145536"/>
            <a:ext cx="3904488" cy="2546807"/>
          </a:xfrm>
          <a:prstGeom prst="roundRect">
            <a:avLst>
              <a:gd name="adj" fmla="val 2154"/>
            </a:avLst>
          </a:prstGeom>
          <a:solidFill>
            <a:schemeClr val="bg1"/>
          </a:solidFill>
          <a:ln w="9525">
            <a:solidFill>
              <a:schemeClr val="accent6">
                <a:alpha val="45000"/>
              </a:schemeClr>
            </a:solidFill>
            <a:prstDash val="solid"/>
          </a:ln>
          <a:effectLst>
            <a:outerShdw sx="100000" sy="100000" kx="0" ky="0" algn="bl" rotWithShape="0" blurRad="127000" dist="38100" dir="5400000">
              <a:srgbClr val="000000">
                <a:alpha val="22000"/>
              </a:srgbClr>
            </a:outerShdw>
          </a:effectLst>
        </p:spPr>
      </p:sp>
      <p:pic>
        <p:nvPicPr>
          <p:cNvPr id="14" name="m7-destroy" descr="m7-destroy">    </p:cNvPr>
          <p:cNvPicPr>
            <a:picLocks noChangeAspect="1"/>
          </p:cNvPicPr>
          <p:nvPr/>
        </p:nvPicPr>
        <p:blipFill>
          <a:blip r:embed="rId2"/>
          <a:stretch>
            <a:fillRect/>
          </a:stretch>
        </p:blipFill>
        <p:spPr>
          <a:xfrm>
            <a:off x="7863840" y="3200400"/>
            <a:ext cx="3794760" cy="2437079"/>
          </a:xfrm>
          <a:prstGeom prst="rect">
            <a:avLst/>
          </a:prstGeom>
        </p:spPr>
      </p:pic>
      <p:sp>
        <p:nvSpPr>
          <p:cNvPr id="15" name="caption"/>
          <p:cNvSpPr txBox="1"/>
          <p:nvPr/>
        </p:nvSpPr>
        <p:spPr>
          <a:xfrm>
            <a:off x="7808976" y="5765495"/>
            <a:ext cx="3904488" cy="365760"/>
          </a:xfrm>
          <a:prstGeom prst="rect">
            <a:avLst/>
          </a:prstGeom>
          <a:noFill/>
          <a:ln/>
        </p:spPr>
        <p:txBody>
          <a:bodyPr wrap="square" lIns="0" tIns="0" rIns="0" bIns="0" rtlCol="0" anchor="ctr"/>
          <a:lstStyle/>
          <a:p>
            <a:pPr algn="ctr" indent="0" marL="0">
              <a:buNone/>
            </a:pPr>
            <a:r>
              <a:rPr lang="en-US" sz="1400" dirty="0">
                <a:solidFill>
                  <a:schemeClr val="accent6"/>
                </a:solidFill>
              </a:rPr>
              <a:t>terraform destroy</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Five problems that taught me the most</a:t>
            </a:r>
            <a:endParaRPr lang="en-US" sz="3400" dirty="0"/>
          </a:p>
        </p:txBody>
      </p:sp>
      <p:sp>
        <p:nvSpPr>
          <p:cNvPr id="4" name="card"/>
          <p:cNvSpPr/>
          <p:nvPr/>
        </p:nvSpPr>
        <p:spPr>
          <a:xfrm>
            <a:off x="548640" y="1417320"/>
            <a:ext cx="11094415" cy="841248"/>
          </a:xfrm>
          <a:prstGeom prst="roundRect">
            <a:avLst>
              <a:gd name="adj" fmla="val 15217"/>
            </a:avLst>
          </a:prstGeom>
          <a:solidFill>
            <a:schemeClr val="bg2"/>
          </a:solidFill>
          <a:ln/>
        </p:spPr>
      </p:sp>
      <p:sp>
        <p:nvSpPr>
          <p:cNvPr id="5" name="icon bg FaMemory"/>
          <p:cNvSpPr/>
          <p:nvPr/>
        </p:nvSpPr>
        <p:spPr>
          <a:xfrm>
            <a:off x="731520" y="1527048"/>
            <a:ext cx="621792" cy="621792"/>
          </a:xfrm>
          <a:prstGeom prst="ellipse">
            <a:avLst/>
          </a:prstGeom>
          <a:solidFill>
            <a:schemeClr val="accent1"/>
          </a:solidFill>
          <a:ln/>
        </p:spPr>
      </p:sp>
      <p:pic>
        <p:nvPicPr>
          <p:cNvPr id="6" name="icon FaMemory" descr="FaMemory">    </p:cNvPr>
          <p:cNvPicPr>
            <a:picLocks noChangeAspect="1"/>
          </p:cNvPicPr>
          <p:nvPr/>
        </p:nvPicPr>
        <p:blipFill>
          <a:blip r:embed="rId1"/>
          <a:stretch>
            <a:fillRect/>
          </a:stretch>
        </p:blipFill>
        <p:spPr>
          <a:xfrm>
            <a:off x="899404" y="1694932"/>
            <a:ext cx="286024" cy="286024"/>
          </a:xfrm>
          <a:prstGeom prst="rect">
            <a:avLst/>
          </a:prstGeom>
        </p:spPr>
      </p:pic>
      <p:sp>
        <p:nvSpPr>
          <p:cNvPr id="7" name="lesson head"/>
          <p:cNvSpPr txBox="1"/>
          <p:nvPr/>
        </p:nvSpPr>
        <p:spPr>
          <a:xfrm>
            <a:off x="1554480" y="1417320"/>
            <a:ext cx="4297680" cy="841248"/>
          </a:xfrm>
          <a:prstGeom prst="rect">
            <a:avLst/>
          </a:prstGeom>
          <a:noFill/>
          <a:ln/>
        </p:spPr>
        <p:txBody>
          <a:bodyPr wrap="square" lIns="0" tIns="0" rIns="0" bIns="0" rtlCol="0" anchor="ctr"/>
          <a:lstStyle/>
          <a:p>
            <a:pPr indent="0" marL="0">
              <a:buNone/>
            </a:pPr>
            <a:r>
              <a:rPr lang="en-US" sz="1900" b="1" dirty="0">
                <a:solidFill>
                  <a:schemeClr val="tx1"/>
                </a:solidFill>
              </a:rPr>
              <a:t>Grafana crashed repeatedly</a:t>
            </a:r>
            <a:endParaRPr lang="en-US" sz="1900" dirty="0"/>
          </a:p>
        </p:txBody>
      </p:sp>
      <p:sp>
        <p:nvSpPr>
          <p:cNvPr id="8" name="lesson text"/>
          <p:cNvSpPr txBox="1"/>
          <p:nvPr/>
        </p:nvSpPr>
        <p:spPr>
          <a:xfrm>
            <a:off x="5943600" y="1417320"/>
            <a:ext cx="5669280" cy="841248"/>
          </a:xfrm>
          <a:prstGeom prst="rect">
            <a:avLst/>
          </a:prstGeom>
          <a:noFill/>
          <a:ln/>
        </p:spPr>
        <p:txBody>
          <a:bodyPr wrap="square" lIns="0" tIns="0" rIns="0" bIns="0" rtlCol="0" anchor="ctr"/>
          <a:lstStyle/>
          <a:p>
            <a:pPr indent="0" marL="0">
              <a:buNone/>
            </a:pPr>
            <a:r>
              <a:rPr lang="en-US" sz="1600" dirty="0">
                <a:solidFill>
                  <a:schemeClr val="tx1"/>
                </a:solidFill>
              </a:rPr>
              <a:t>Out-of-memory kills at 256 Mi. I raised the limit.</a:t>
            </a:r>
            <a:endParaRPr lang="en-US" sz="1600" dirty="0"/>
          </a:p>
        </p:txBody>
      </p:sp>
      <p:sp>
        <p:nvSpPr>
          <p:cNvPr id="9" name="card"/>
          <p:cNvSpPr/>
          <p:nvPr/>
        </p:nvSpPr>
        <p:spPr>
          <a:xfrm>
            <a:off x="548640" y="2368296"/>
            <a:ext cx="11094415" cy="841248"/>
          </a:xfrm>
          <a:prstGeom prst="roundRect">
            <a:avLst>
              <a:gd name="adj" fmla="val 15217"/>
            </a:avLst>
          </a:prstGeom>
          <a:solidFill>
            <a:schemeClr val="bg2"/>
          </a:solidFill>
          <a:ln/>
        </p:spPr>
      </p:sp>
      <p:sp>
        <p:nvSpPr>
          <p:cNvPr id="10" name="icon bg FaBoxOpen"/>
          <p:cNvSpPr/>
          <p:nvPr/>
        </p:nvSpPr>
        <p:spPr>
          <a:xfrm>
            <a:off x="731520" y="2478024"/>
            <a:ext cx="621792" cy="621792"/>
          </a:xfrm>
          <a:prstGeom prst="ellipse">
            <a:avLst/>
          </a:prstGeom>
          <a:solidFill>
            <a:schemeClr val="accent1"/>
          </a:solidFill>
          <a:ln/>
        </p:spPr>
      </p:sp>
      <p:pic>
        <p:nvPicPr>
          <p:cNvPr id="11" name="icon FaBoxOpen" descr="FaBoxOpen">    </p:cNvPr>
          <p:cNvPicPr>
            <a:picLocks noChangeAspect="1"/>
          </p:cNvPicPr>
          <p:nvPr/>
        </p:nvPicPr>
        <p:blipFill>
          <a:blip r:embed="rId2"/>
          <a:stretch>
            <a:fillRect/>
          </a:stretch>
        </p:blipFill>
        <p:spPr>
          <a:xfrm>
            <a:off x="899404" y="2645908"/>
            <a:ext cx="286024" cy="286024"/>
          </a:xfrm>
          <a:prstGeom prst="rect">
            <a:avLst/>
          </a:prstGeom>
        </p:spPr>
      </p:pic>
      <p:sp>
        <p:nvSpPr>
          <p:cNvPr id="12" name="lesson head"/>
          <p:cNvSpPr txBox="1"/>
          <p:nvPr/>
        </p:nvSpPr>
        <p:spPr>
          <a:xfrm>
            <a:off x="1554480" y="2368296"/>
            <a:ext cx="4297680" cy="841248"/>
          </a:xfrm>
          <a:prstGeom prst="rect">
            <a:avLst/>
          </a:prstGeom>
          <a:noFill/>
          <a:ln/>
        </p:spPr>
        <p:txBody>
          <a:bodyPr wrap="square" lIns="0" tIns="0" rIns="0" bIns="0" rtlCol="0" anchor="ctr"/>
          <a:lstStyle/>
          <a:p>
            <a:pPr indent="0" marL="0">
              <a:buNone/>
            </a:pPr>
            <a:r>
              <a:rPr lang="en-US" sz="1900" b="1" dirty="0">
                <a:solidFill>
                  <a:schemeClr val="tx1"/>
                </a:solidFill>
              </a:rPr>
              <a:t>Docker build failed</a:t>
            </a:r>
            <a:endParaRPr lang="en-US" sz="1900" dirty="0"/>
          </a:p>
        </p:txBody>
      </p:sp>
      <p:sp>
        <p:nvSpPr>
          <p:cNvPr id="13" name="lesson text"/>
          <p:cNvSpPr txBox="1"/>
          <p:nvPr/>
        </p:nvSpPr>
        <p:spPr>
          <a:xfrm>
            <a:off x="5943600" y="2368296"/>
            <a:ext cx="5669280" cy="841248"/>
          </a:xfrm>
          <a:prstGeom prst="rect">
            <a:avLst/>
          </a:prstGeom>
          <a:noFill/>
          <a:ln/>
        </p:spPr>
        <p:txBody>
          <a:bodyPr wrap="square" lIns="0" tIns="0" rIns="0" bIns="0" rtlCol="0" anchor="ctr"/>
          <a:lstStyle/>
          <a:p>
            <a:pPr indent="0" marL="0">
              <a:buNone/>
            </a:pPr>
            <a:r>
              <a:rPr lang="en-US" sz="1600" dirty="0">
                <a:solidFill>
                  <a:schemeClr val="tx1"/>
                </a:solidFill>
              </a:rPr>
              <a:t>email-validator was missing from requirements. I pinned it.</a:t>
            </a:r>
            <a:endParaRPr lang="en-US" sz="1600" dirty="0"/>
          </a:p>
        </p:txBody>
      </p:sp>
      <p:sp>
        <p:nvSpPr>
          <p:cNvPr id="14" name="card"/>
          <p:cNvSpPr/>
          <p:nvPr/>
        </p:nvSpPr>
        <p:spPr>
          <a:xfrm>
            <a:off x="548640" y="3319272"/>
            <a:ext cx="11094415" cy="841248"/>
          </a:xfrm>
          <a:prstGeom prst="roundRect">
            <a:avLst>
              <a:gd name="adj" fmla="val 15217"/>
            </a:avLst>
          </a:prstGeom>
          <a:solidFill>
            <a:schemeClr val="bg2"/>
          </a:solidFill>
          <a:ln/>
        </p:spPr>
      </p:sp>
      <p:sp>
        <p:nvSpPr>
          <p:cNvPr id="15" name="icon bg FaApple"/>
          <p:cNvSpPr/>
          <p:nvPr/>
        </p:nvSpPr>
        <p:spPr>
          <a:xfrm>
            <a:off x="731520" y="3429000"/>
            <a:ext cx="621792" cy="621792"/>
          </a:xfrm>
          <a:prstGeom prst="ellipse">
            <a:avLst/>
          </a:prstGeom>
          <a:solidFill>
            <a:schemeClr val="accent1"/>
          </a:solidFill>
          <a:ln/>
        </p:spPr>
      </p:sp>
      <p:pic>
        <p:nvPicPr>
          <p:cNvPr id="16" name="icon FaApple" descr="FaApple">    </p:cNvPr>
          <p:cNvPicPr>
            <a:picLocks noChangeAspect="1"/>
          </p:cNvPicPr>
          <p:nvPr/>
        </p:nvPicPr>
        <p:blipFill>
          <a:blip r:embed="rId3"/>
          <a:stretch>
            <a:fillRect/>
          </a:stretch>
        </p:blipFill>
        <p:spPr>
          <a:xfrm>
            <a:off x="899404" y="3596884"/>
            <a:ext cx="286024" cy="286024"/>
          </a:xfrm>
          <a:prstGeom prst="rect">
            <a:avLst/>
          </a:prstGeom>
        </p:spPr>
      </p:pic>
      <p:sp>
        <p:nvSpPr>
          <p:cNvPr id="17" name="lesson head"/>
          <p:cNvSpPr txBox="1"/>
          <p:nvPr/>
        </p:nvSpPr>
        <p:spPr>
          <a:xfrm>
            <a:off x="1554480" y="3319272"/>
            <a:ext cx="4297680" cy="841248"/>
          </a:xfrm>
          <a:prstGeom prst="rect">
            <a:avLst/>
          </a:prstGeom>
          <a:noFill/>
          <a:ln/>
        </p:spPr>
        <p:txBody>
          <a:bodyPr wrap="square" lIns="0" tIns="0" rIns="0" bIns="0" rtlCol="0" anchor="ctr"/>
          <a:lstStyle/>
          <a:p>
            <a:pPr indent="0" marL="0">
              <a:buNone/>
            </a:pPr>
            <a:r>
              <a:rPr lang="en-US" sz="1900" b="1" dirty="0">
                <a:solidFill>
                  <a:schemeClr val="tx1"/>
                </a:solidFill>
              </a:rPr>
              <a:t>Bootstrap script failed on macOS</a:t>
            </a:r>
            <a:endParaRPr lang="en-US" sz="1900" dirty="0"/>
          </a:p>
        </p:txBody>
      </p:sp>
      <p:sp>
        <p:nvSpPr>
          <p:cNvPr id="18" name="lesson text"/>
          <p:cNvSpPr txBox="1"/>
          <p:nvPr/>
        </p:nvSpPr>
        <p:spPr>
          <a:xfrm>
            <a:off x="5943600" y="3319272"/>
            <a:ext cx="5669280" cy="841248"/>
          </a:xfrm>
          <a:prstGeom prst="rect">
            <a:avLst/>
          </a:prstGeom>
          <a:noFill/>
          <a:ln/>
        </p:spPr>
        <p:txBody>
          <a:bodyPr wrap="square" lIns="0" tIns="0" rIns="0" bIns="0" rtlCol="0" anchor="ctr"/>
          <a:lstStyle/>
          <a:p>
            <a:pPr indent="0" marL="0">
              <a:buNone/>
            </a:pPr>
            <a:r>
              <a:rPr lang="en-US" sz="1600" dirty="0">
                <a:solidFill>
                  <a:schemeClr val="tx1"/>
                </a:solidFill>
              </a:rPr>
              <a:t>An empty array broke under set -u. I fixed the expansion.</a:t>
            </a:r>
            <a:endParaRPr lang="en-US" sz="1600" dirty="0"/>
          </a:p>
        </p:txBody>
      </p:sp>
      <p:sp>
        <p:nvSpPr>
          <p:cNvPr id="19" name="card"/>
          <p:cNvSpPr/>
          <p:nvPr/>
        </p:nvSpPr>
        <p:spPr>
          <a:xfrm>
            <a:off x="548640" y="4270248"/>
            <a:ext cx="11094415" cy="841248"/>
          </a:xfrm>
          <a:prstGeom prst="roundRect">
            <a:avLst>
              <a:gd name="adj" fmla="val 15217"/>
            </a:avLst>
          </a:prstGeom>
          <a:solidFill>
            <a:schemeClr val="bg2"/>
          </a:solidFill>
          <a:ln/>
        </p:spPr>
      </p:sp>
      <p:sp>
        <p:nvSpPr>
          <p:cNvPr id="20" name="icon bg FaBan"/>
          <p:cNvSpPr/>
          <p:nvPr/>
        </p:nvSpPr>
        <p:spPr>
          <a:xfrm>
            <a:off x="731520" y="4379976"/>
            <a:ext cx="621792" cy="621792"/>
          </a:xfrm>
          <a:prstGeom prst="ellipse">
            <a:avLst/>
          </a:prstGeom>
          <a:solidFill>
            <a:schemeClr val="accent1"/>
          </a:solidFill>
          <a:ln/>
        </p:spPr>
      </p:sp>
      <p:pic>
        <p:nvPicPr>
          <p:cNvPr id="21" name="icon FaBan" descr="FaBan">    </p:cNvPr>
          <p:cNvPicPr>
            <a:picLocks noChangeAspect="1"/>
          </p:cNvPicPr>
          <p:nvPr/>
        </p:nvPicPr>
        <p:blipFill>
          <a:blip r:embed="rId4"/>
          <a:stretch>
            <a:fillRect/>
          </a:stretch>
        </p:blipFill>
        <p:spPr>
          <a:xfrm>
            <a:off x="899404" y="4547860"/>
            <a:ext cx="286024" cy="286024"/>
          </a:xfrm>
          <a:prstGeom prst="rect">
            <a:avLst/>
          </a:prstGeom>
        </p:spPr>
      </p:pic>
      <p:sp>
        <p:nvSpPr>
          <p:cNvPr id="22" name="lesson head"/>
          <p:cNvSpPr txBox="1"/>
          <p:nvPr/>
        </p:nvSpPr>
        <p:spPr>
          <a:xfrm>
            <a:off x="1554480" y="4270248"/>
            <a:ext cx="4297680" cy="841248"/>
          </a:xfrm>
          <a:prstGeom prst="rect">
            <a:avLst/>
          </a:prstGeom>
          <a:noFill/>
          <a:ln/>
        </p:spPr>
        <p:txBody>
          <a:bodyPr wrap="square" lIns="0" tIns="0" rIns="0" bIns="0" rtlCol="0" anchor="ctr"/>
          <a:lstStyle/>
          <a:p>
            <a:pPr indent="0" marL="0">
              <a:buNone/>
            </a:pPr>
            <a:r>
              <a:rPr lang="en-US" sz="1900" b="1" dirty="0">
                <a:solidFill>
                  <a:schemeClr val="tx1"/>
                </a:solidFill>
              </a:rPr>
              <a:t>Terraform destroy failed</a:t>
            </a:r>
            <a:endParaRPr lang="en-US" sz="1900" dirty="0"/>
          </a:p>
        </p:txBody>
      </p:sp>
      <p:sp>
        <p:nvSpPr>
          <p:cNvPr id="23" name="lesson text"/>
          <p:cNvSpPr txBox="1"/>
          <p:nvPr/>
        </p:nvSpPr>
        <p:spPr>
          <a:xfrm>
            <a:off x="5943600" y="4270248"/>
            <a:ext cx="5669280" cy="841248"/>
          </a:xfrm>
          <a:prstGeom prst="rect">
            <a:avLst/>
          </a:prstGeom>
          <a:noFill/>
          <a:ln/>
        </p:spPr>
        <p:txBody>
          <a:bodyPr wrap="square" lIns="0" tIns="0" rIns="0" bIns="0" rtlCol="0" anchor="ctr"/>
          <a:lstStyle/>
          <a:p>
            <a:pPr indent="0" marL="0">
              <a:buNone/>
            </a:pPr>
            <a:r>
              <a:rPr lang="en-US" sz="1600" dirty="0">
                <a:solidFill>
                  <a:schemeClr val="tx1"/>
                </a:solidFill>
              </a:rPr>
              <a:t>force_destroy calls an API the Free plan blocks. I turned it off.</a:t>
            </a:r>
            <a:endParaRPr lang="en-US" sz="1600" dirty="0"/>
          </a:p>
        </p:txBody>
      </p:sp>
      <p:sp>
        <p:nvSpPr>
          <p:cNvPr id="24" name="card"/>
          <p:cNvSpPr/>
          <p:nvPr/>
        </p:nvSpPr>
        <p:spPr>
          <a:xfrm>
            <a:off x="548640" y="5221224"/>
            <a:ext cx="11094415" cy="841248"/>
          </a:xfrm>
          <a:prstGeom prst="roundRect">
            <a:avLst>
              <a:gd name="adj" fmla="val 15217"/>
            </a:avLst>
          </a:prstGeom>
          <a:solidFill>
            <a:schemeClr val="bg2"/>
          </a:solidFill>
          <a:ln/>
        </p:spPr>
      </p:sp>
      <p:sp>
        <p:nvSpPr>
          <p:cNvPr id="25" name="icon bg FaGlobe"/>
          <p:cNvSpPr/>
          <p:nvPr/>
        </p:nvSpPr>
        <p:spPr>
          <a:xfrm>
            <a:off x="731520" y="5330952"/>
            <a:ext cx="621792" cy="621792"/>
          </a:xfrm>
          <a:prstGeom prst="ellipse">
            <a:avLst/>
          </a:prstGeom>
          <a:solidFill>
            <a:schemeClr val="accent1"/>
          </a:solidFill>
          <a:ln/>
        </p:spPr>
      </p:sp>
      <p:pic>
        <p:nvPicPr>
          <p:cNvPr id="26" name="icon FaGlobe" descr="FaGlobe">    </p:cNvPr>
          <p:cNvPicPr>
            <a:picLocks noChangeAspect="1"/>
          </p:cNvPicPr>
          <p:nvPr/>
        </p:nvPicPr>
        <p:blipFill>
          <a:blip r:embed="rId5"/>
          <a:stretch>
            <a:fillRect/>
          </a:stretch>
        </p:blipFill>
        <p:spPr>
          <a:xfrm>
            <a:off x="899404" y="5498836"/>
            <a:ext cx="286024" cy="286024"/>
          </a:xfrm>
          <a:prstGeom prst="rect">
            <a:avLst/>
          </a:prstGeom>
        </p:spPr>
      </p:pic>
      <p:sp>
        <p:nvSpPr>
          <p:cNvPr id="27" name="lesson head"/>
          <p:cNvSpPr txBox="1"/>
          <p:nvPr/>
        </p:nvSpPr>
        <p:spPr>
          <a:xfrm>
            <a:off x="1554480" y="5221224"/>
            <a:ext cx="4297680" cy="841248"/>
          </a:xfrm>
          <a:prstGeom prst="rect">
            <a:avLst/>
          </a:prstGeom>
          <a:noFill/>
          <a:ln/>
        </p:spPr>
        <p:txBody>
          <a:bodyPr wrap="square" lIns="0" tIns="0" rIns="0" bIns="0" rtlCol="0" anchor="ctr"/>
          <a:lstStyle/>
          <a:p>
            <a:pPr indent="0" marL="0">
              <a:buNone/>
            </a:pPr>
            <a:r>
              <a:rPr lang="en-US" sz="1900" b="1" dirty="0">
                <a:solidFill>
                  <a:schemeClr val="tx1"/>
                </a:solidFill>
              </a:rPr>
              <a:t>The load balancer URL timed out</a:t>
            </a:r>
            <a:endParaRPr lang="en-US" sz="1900" dirty="0"/>
          </a:p>
        </p:txBody>
      </p:sp>
      <p:sp>
        <p:nvSpPr>
          <p:cNvPr id="28" name="lesson text"/>
          <p:cNvSpPr txBox="1"/>
          <p:nvPr/>
        </p:nvSpPr>
        <p:spPr>
          <a:xfrm>
            <a:off x="5943600" y="5221224"/>
            <a:ext cx="5669280" cy="841248"/>
          </a:xfrm>
          <a:prstGeom prst="rect">
            <a:avLst/>
          </a:prstGeom>
          <a:noFill/>
          <a:ln/>
        </p:spPr>
        <p:txBody>
          <a:bodyPr wrap="square" lIns="0" tIns="0" rIns="0" bIns="0" rtlCol="0" anchor="ctr"/>
          <a:lstStyle/>
          <a:p>
            <a:pPr indent="0" marL="0">
              <a:buNone/>
            </a:pPr>
            <a:r>
              <a:rPr lang="en-US" sz="1600" dirty="0">
                <a:solidFill>
                  <a:schemeClr val="tx1"/>
                </a:solidFill>
              </a:rPr>
              <a:t>The browser tried HTTPS; only HTTP is exposed. I used http://.</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Where Waiting Room goes beyond the reference</a:t>
            </a:r>
            <a:endParaRPr lang="en-US" sz="34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5486400"/>
                <a:gridCol w="5577840"/>
              </a:tblGrid>
              <a:tr h="585216">
                <a:tc>
                  <a:txBody>
                    <a:bodyPr/>
                    <a:lstStyle/>
                    <a:p>
                      <a:pPr indent="0" marL="0">
                        <a:buNone/>
                      </a:pPr>
                      <a:r>
                        <a:rPr lang="en-US" sz="1600" b="1" dirty="0">
                          <a:solidFill>
                            <a:schemeClr val="bg1"/>
                          </a:solidFill>
                        </a:rPr>
                        <a:t>Reference</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Waiting Room</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r>
              <a:tr h="585216">
                <a:tc>
                  <a:txBody>
                    <a:bodyPr/>
                    <a:lstStyle/>
                    <a:p>
                      <a:pPr indent="0" marL="0">
                        <a:buNone/>
                      </a:pPr>
                      <a:r>
                        <a:rPr lang="en-US" sz="1900" dirty="0">
                          <a:solidFill>
                            <a:schemeClr val="tx1"/>
                          </a:solidFill>
                        </a:rPr>
                        <a:t>CORS allows every origin</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900" dirty="0">
                          <a:solidFill>
                            <a:schemeClr val="tx1"/>
                          </a:solidFill>
                        </a:rPr>
                        <a:t>CORS closed by default</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85216">
                <a:tc>
                  <a:txBody>
                    <a:bodyPr/>
                    <a:lstStyle/>
                    <a:p>
                      <a:pPr indent="0" marL="0">
                        <a:buNone/>
                      </a:pPr>
                      <a:r>
                        <a:rPr lang="en-US" sz="1900" dirty="0">
                          <a:solidFill>
                            <a:schemeClr val="tx1"/>
                          </a:solidFill>
                        </a:rPr>
                        <a:t>create_all next to Alembic</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900" dirty="0">
                          <a:solidFill>
                            <a:schemeClr val="tx1"/>
                          </a:solidFill>
                        </a:rPr>
                        <a:t>Alembic migrations only</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85216">
                <a:tc>
                  <a:txBody>
                    <a:bodyPr/>
                    <a:lstStyle/>
                    <a:p>
                      <a:pPr indent="0" marL="0">
                        <a:buNone/>
                      </a:pPr>
                      <a:r>
                        <a:rPr lang="en-US" sz="1900" dirty="0">
                          <a:solidFill>
                            <a:schemeClr val="tx1"/>
                          </a:solidFill>
                        </a:rPr>
                        <a:t>nginx runs as root</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900" dirty="0">
                          <a:solidFill>
                            <a:schemeClr val="tx1"/>
                          </a:solidFill>
                        </a:rPr>
                        <a:t>nginx-unprivileged, non-root</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85216">
                <a:tc>
                  <a:txBody>
                    <a:bodyPr/>
                    <a:lstStyle/>
                    <a:p>
                      <a:pPr indent="0" marL="0">
                        <a:buNone/>
                      </a:pPr>
                      <a:r>
                        <a:rPr lang="en-US" sz="1900" dirty="0">
                          <a:solidFill>
                            <a:schemeClr val="tx1"/>
                          </a:solidFill>
                        </a:rPr>
                        <a:t>NAT gateway, 2 nodes, Kubernetes 1.31</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900" dirty="0">
                          <a:solidFill>
                            <a:schemeClr val="tx1"/>
                          </a:solidFill>
                        </a:rPr>
                        <a:t>No NAT, 1 node, Kubernetes 1.35</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85216">
                <a:tc>
                  <a:txBody>
                    <a:bodyPr/>
                    <a:lstStyle/>
                    <a:p>
                      <a:pPr indent="0" marL="0">
                        <a:buNone/>
                      </a:pPr>
                      <a:r>
                        <a:rPr lang="en-US" sz="1900" dirty="0">
                          <a:solidFill>
                            <a:schemeClr val="tx1"/>
                          </a:solidFill>
                        </a:rPr>
                        <a:t>Passwords in values and compose</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900" dirty="0">
                          <a:solidFill>
                            <a:schemeClr val="tx1"/>
                          </a:solidFill>
                        </a:rPr>
                        <a:t>Secrets generated in the cluster</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85216">
                <a:tc>
                  <a:txBody>
                    <a:bodyPr/>
                    <a:lstStyle/>
                    <a:p>
                      <a:pPr indent="0" marL="0">
                        <a:buNone/>
                      </a:pPr>
                      <a:r>
                        <a:rPr lang="en-US" sz="1900" dirty="0">
                          <a:solidFill>
                            <a:schemeClr val="tx1"/>
                          </a:solidFill>
                        </a:rPr>
                        <a:t>Actions pinned by tag</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900" dirty="0">
                          <a:solidFill>
                            <a:schemeClr val="tx1"/>
                          </a:solidFill>
                        </a:rPr>
                        <a:t>Actions pinned by commit SHA</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85216">
                <a:tc>
                  <a:txBody>
                    <a:bodyPr/>
                    <a:lstStyle/>
                    <a:p>
                      <a:pPr indent="0" marL="0">
                        <a:buNone/>
                      </a:pPr>
                      <a:r>
                        <a:rPr lang="en-US" sz="1900" dirty="0">
                          <a:solidFill>
                            <a:schemeClr val="tx1"/>
                          </a:solidFill>
                        </a:rPr>
                        <a:t>Tests on SQLite</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900" dirty="0">
                          <a:solidFill>
                            <a:schemeClr val="tx1"/>
                          </a:solidFill>
                        </a:rPr>
                        <a:t>Tests on real PostgreSQL</a:t>
                      </a:r>
                      <a:endParaRPr lang="en-US" sz="19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Every grading module has evidence</a:t>
            </a:r>
            <a:endParaRPr lang="en-US" sz="34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926080"/>
                <a:gridCol w="8138160"/>
              </a:tblGrid>
              <a:tr h="438912">
                <a:tc>
                  <a:txBody>
                    <a:bodyPr/>
                    <a:lstStyle/>
                    <a:p>
                      <a:pPr indent="0" marL="0">
                        <a:buNone/>
                      </a:pPr>
                      <a:r>
                        <a:rPr lang="en-US" sz="1600" b="1" dirty="0">
                          <a:solidFill>
                            <a:schemeClr val="bg1"/>
                          </a:solidFill>
                        </a:rPr>
                        <a:t>Module</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Evidence</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r>
              <a:tr h="438912">
                <a:tc>
                  <a:txBody>
                    <a:bodyPr/>
                    <a:lstStyle/>
                    <a:p>
                      <a:pPr indent="0" marL="0">
                        <a:buNone/>
                      </a:pPr>
                      <a:r>
                        <a:rPr lang="en-US" sz="1600" dirty="0">
                          <a:solidFill>
                            <a:schemeClr val="tx1"/>
                          </a:solidFill>
                        </a:rPr>
                        <a:t>M1  Application</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16 endpoints, React UI, Alembic migrations, /health</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38912">
                <a:tc>
                  <a:txBody>
                    <a:bodyPr/>
                    <a:lstStyle/>
                    <a:p>
                      <a:pPr indent="0" marL="0">
                        <a:buNone/>
                      </a:pPr>
                      <a:r>
                        <a:rPr lang="en-US" sz="1600" dirty="0">
                          <a:solidFill>
                            <a:schemeClr val="tx1"/>
                          </a:solidFill>
                        </a:rPr>
                        <a:t>M2  Testing</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36 pytest tests, 97% coverage, a test database</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38912">
                <a:tc>
                  <a:txBody>
                    <a:bodyPr/>
                    <a:lstStyle/>
                    <a:p>
                      <a:pPr indent="0" marL="0">
                        <a:buNone/>
                      </a:pPr>
                      <a:r>
                        <a:rPr lang="en-US" sz="1600" dirty="0">
                          <a:solidFill>
                            <a:schemeClr val="tx1"/>
                          </a:solidFill>
                        </a:rPr>
                        <a:t>M3  Git and GitHub</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Public repo with meaningful commits and a complete .gitignore</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38912">
                <a:tc>
                  <a:txBody>
                    <a:bodyPr/>
                    <a:lstStyle/>
                    <a:p>
                      <a:pPr indent="0" marL="0">
                        <a:buNone/>
                      </a:pPr>
                      <a:r>
                        <a:rPr lang="en-US" sz="1600" dirty="0">
                          <a:solidFill>
                            <a:schemeClr val="tx1"/>
                          </a:solidFill>
                        </a:rPr>
                        <a:t>M4  Docker</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Multi-stage non-root images; compose starts three services</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38912">
                <a:tc>
                  <a:txBody>
                    <a:bodyPr/>
                    <a:lstStyle/>
                    <a:p>
                      <a:pPr indent="0" marL="0">
                        <a:buNone/>
                      </a:pPr>
                      <a:r>
                        <a:rPr lang="en-US" sz="1600" dirty="0">
                          <a:solidFill>
                            <a:schemeClr val="tx1"/>
                          </a:solidFill>
                        </a:rPr>
                        <a:t>M5  CI/CD</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Six-job pipeline; GHCR images tagged by SHA</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38912">
                <a:tc>
                  <a:txBody>
                    <a:bodyPr/>
                    <a:lstStyle/>
                    <a:p>
                      <a:pPr indent="0" marL="0">
                        <a:buNone/>
                      </a:pPr>
                      <a:r>
                        <a:rPr lang="en-US" sz="1600" dirty="0">
                          <a:solidFill>
                            <a:schemeClr val="tx1"/>
                          </a:solidFill>
                        </a:rPr>
                        <a:t>M6  DevSecOps</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Trivy on both images, fails on HIGH and CRITICAL</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38912">
                <a:tc>
                  <a:txBody>
                    <a:bodyPr/>
                    <a:lstStyle/>
                    <a:p>
                      <a:pPr indent="0" marL="0">
                        <a:buNone/>
                      </a:pPr>
                      <a:r>
                        <a:rPr lang="en-US" sz="1600" dirty="0">
                          <a:solidFill>
                            <a:schemeClr val="tx1"/>
                          </a:solidFill>
                        </a:rPr>
                        <a:t>M7  Terraform</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VPC, EKS and a node group: plan, apply, destroy</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38912">
                <a:tc>
                  <a:txBody>
                    <a:bodyPr/>
                    <a:lstStyle/>
                    <a:p>
                      <a:pPr indent="0" marL="0">
                        <a:buNone/>
                      </a:pPr>
                      <a:r>
                        <a:rPr lang="en-US" sz="1600" dirty="0">
                          <a:solidFill>
                            <a:schemeClr val="tx1"/>
                          </a:solidFill>
                        </a:rPr>
                        <a:t>M8  Kubernetes + Helm</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Chart, 2+ replicas, ClusterIP, Ingress, running on EKS</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38912">
                <a:tc>
                  <a:txBody>
                    <a:bodyPr/>
                    <a:lstStyle/>
                    <a:p>
                      <a:pPr indent="0" marL="0">
                        <a:buNone/>
                      </a:pPr>
                      <a:r>
                        <a:rPr lang="en-US" sz="1600" dirty="0">
                          <a:solidFill>
                            <a:schemeClr val="tx1"/>
                          </a:solidFill>
                        </a:rPr>
                        <a:t>M9  Observability</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/metrics, Prometheus targets UP, Grafana dashboard</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38912">
                <a:tc>
                  <a:txBody>
                    <a:bodyPr/>
                    <a:lstStyle/>
                    <a:p>
                      <a:pPr indent="0" marL="0">
                        <a:buNone/>
                      </a:pPr>
                      <a:r>
                        <a:rPr lang="en-US" sz="1600" dirty="0">
                          <a:solidFill>
                            <a:schemeClr val="tx1"/>
                          </a:solidFill>
                        </a:rPr>
                        <a:t>M10  Documentation</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600" dirty="0">
                          <a:solidFill>
                            <a:schemeClr val="tx1"/>
                          </a:solidFill>
                        </a:rPr>
                        <a:t>README, runbooks and this presentation</a:t>
                      </a:r>
                      <a:endParaRPr lang="en-US" sz="1600" dirty="0"/>
                    </a:p>
                  </a:txBody>
                  <a:tcPr marL="109728" marR="109728"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hanks"/>
          <p:cNvSpPr txBox="1"/>
          <p:nvPr/>
        </p:nvSpPr>
        <p:spPr>
          <a:xfrm>
            <a:off x="548640" y="822960"/>
            <a:ext cx="10972800" cy="1188720"/>
          </a:xfrm>
          <a:prstGeom prst="rect">
            <a:avLst/>
          </a:prstGeom>
          <a:noFill/>
          <a:ln/>
        </p:spPr>
        <p:txBody>
          <a:bodyPr wrap="square" lIns="0" tIns="0" rIns="0" bIns="0" rtlCol="0" anchor="ctr"/>
          <a:lstStyle/>
          <a:p>
            <a:pPr indent="0" marL="0">
              <a:buNone/>
            </a:pPr>
            <a:r>
              <a:rPr lang="en-US" sz="7200" b="1" dirty="0">
                <a:solidFill>
                  <a:schemeClr val="bg1"/>
                </a:solidFill>
                <a:latin typeface="Arial" pitchFamily="34" charset="0"/>
                <a:ea typeface="Arial" pitchFamily="34" charset="-122"/>
                <a:cs typeface="Arial" pitchFamily="34" charset="-120"/>
              </a:rPr>
              <a:t>THANK YOU</a:t>
            </a:r>
            <a:endParaRPr lang="en-US" sz="7200" dirty="0"/>
          </a:p>
        </p:txBody>
      </p:sp>
      <p:sp>
        <p:nvSpPr>
          <p:cNvPr id="3" name="next head"/>
          <p:cNvSpPr txBox="1"/>
          <p:nvPr/>
        </p:nvSpPr>
        <p:spPr>
          <a:xfrm>
            <a:off x="548640" y="2148840"/>
            <a:ext cx="7315200" cy="457200"/>
          </a:xfrm>
          <a:prstGeom prst="rect">
            <a:avLst/>
          </a:prstGeom>
          <a:noFill/>
          <a:ln/>
        </p:spPr>
        <p:txBody>
          <a:bodyPr wrap="square" lIns="0" tIns="0" rIns="0" bIns="0" rtlCol="0" anchor="ctr"/>
          <a:lstStyle/>
          <a:p>
            <a:pPr indent="0" marL="0">
              <a:buNone/>
            </a:pPr>
            <a:r>
              <a:rPr lang="en-US" sz="2400" b="1" dirty="0">
                <a:solidFill>
                  <a:schemeClr val="accent2"/>
                </a:solidFill>
              </a:rPr>
              <a:t>What I would build next</a:t>
            </a:r>
            <a:endParaRPr lang="en-US" sz="2400" dirty="0"/>
          </a:p>
        </p:txBody>
      </p:sp>
      <p:sp>
        <p:nvSpPr>
          <p:cNvPr id="4" name="next card"/>
          <p:cNvSpPr/>
          <p:nvPr/>
        </p:nvSpPr>
        <p:spPr>
          <a:xfrm>
            <a:off x="548640" y="2743200"/>
            <a:ext cx="5303520" cy="731520"/>
          </a:xfrm>
          <a:prstGeom prst="roundRect">
            <a:avLst>
              <a:gd name="adj" fmla="val 15000"/>
            </a:avLst>
          </a:prstGeom>
          <a:solidFill>
            <a:schemeClr val="accent1"/>
          </a:solidFill>
          <a:ln/>
        </p:spPr>
      </p:sp>
      <p:sp>
        <p:nvSpPr>
          <p:cNvPr id="5" name="next text"/>
          <p:cNvSpPr txBox="1"/>
          <p:nvPr/>
        </p:nvSpPr>
        <p:spPr>
          <a:xfrm>
            <a:off x="777240" y="2743200"/>
            <a:ext cx="4846320" cy="731520"/>
          </a:xfrm>
          <a:prstGeom prst="rect">
            <a:avLst/>
          </a:prstGeom>
          <a:noFill/>
          <a:ln/>
        </p:spPr>
        <p:txBody>
          <a:bodyPr wrap="square" lIns="0" tIns="0" rIns="0" bIns="0" rtlCol="0" anchor="ctr"/>
          <a:lstStyle/>
          <a:p>
            <a:pPr indent="0" marL="0">
              <a:buNone/>
            </a:pPr>
            <a:r>
              <a:rPr lang="en-US" sz="1800" b="1" dirty="0">
                <a:solidFill>
                  <a:schemeClr val="bg1"/>
                </a:solidFill>
              </a:rPr>
              <a:t>HTTPS with a domain and ACM certificates</a:t>
            </a:r>
            <a:endParaRPr lang="en-US" sz="1800" dirty="0"/>
          </a:p>
        </p:txBody>
      </p:sp>
      <p:sp>
        <p:nvSpPr>
          <p:cNvPr id="6" name="next card"/>
          <p:cNvSpPr/>
          <p:nvPr/>
        </p:nvSpPr>
        <p:spPr>
          <a:xfrm>
            <a:off x="6126480" y="2743200"/>
            <a:ext cx="5303520" cy="731520"/>
          </a:xfrm>
          <a:prstGeom prst="roundRect">
            <a:avLst>
              <a:gd name="adj" fmla="val 15000"/>
            </a:avLst>
          </a:prstGeom>
          <a:solidFill>
            <a:schemeClr val="accent1"/>
          </a:solidFill>
          <a:ln/>
        </p:spPr>
      </p:sp>
      <p:sp>
        <p:nvSpPr>
          <p:cNvPr id="7" name="next text"/>
          <p:cNvSpPr txBox="1"/>
          <p:nvPr/>
        </p:nvSpPr>
        <p:spPr>
          <a:xfrm>
            <a:off x="6355080" y="2743200"/>
            <a:ext cx="4846320" cy="731520"/>
          </a:xfrm>
          <a:prstGeom prst="rect">
            <a:avLst/>
          </a:prstGeom>
          <a:noFill/>
          <a:ln/>
        </p:spPr>
        <p:txBody>
          <a:bodyPr wrap="square" lIns="0" tIns="0" rIns="0" bIns="0" rtlCol="0" anchor="ctr"/>
          <a:lstStyle/>
          <a:p>
            <a:pPr indent="0" marL="0">
              <a:buNone/>
            </a:pPr>
            <a:r>
              <a:rPr lang="en-US" sz="1800" b="1" dirty="0">
                <a:solidFill>
                  <a:schemeClr val="bg1"/>
                </a:solidFill>
              </a:rPr>
              <a:t>Managed PostgreSQL on RDS</a:t>
            </a:r>
            <a:endParaRPr lang="en-US" sz="1800" dirty="0"/>
          </a:p>
        </p:txBody>
      </p:sp>
      <p:sp>
        <p:nvSpPr>
          <p:cNvPr id="8" name="next card"/>
          <p:cNvSpPr/>
          <p:nvPr/>
        </p:nvSpPr>
        <p:spPr>
          <a:xfrm>
            <a:off x="548640" y="3657600"/>
            <a:ext cx="5303520" cy="731520"/>
          </a:xfrm>
          <a:prstGeom prst="roundRect">
            <a:avLst>
              <a:gd name="adj" fmla="val 15000"/>
            </a:avLst>
          </a:prstGeom>
          <a:solidFill>
            <a:schemeClr val="accent1"/>
          </a:solidFill>
          <a:ln/>
        </p:spPr>
      </p:sp>
      <p:sp>
        <p:nvSpPr>
          <p:cNvPr id="9" name="next text"/>
          <p:cNvSpPr txBox="1"/>
          <p:nvPr/>
        </p:nvSpPr>
        <p:spPr>
          <a:xfrm>
            <a:off x="777240" y="3657600"/>
            <a:ext cx="4846320" cy="731520"/>
          </a:xfrm>
          <a:prstGeom prst="rect">
            <a:avLst/>
          </a:prstGeom>
          <a:noFill/>
          <a:ln/>
        </p:spPr>
        <p:txBody>
          <a:bodyPr wrap="square" lIns="0" tIns="0" rIns="0" bIns="0" rtlCol="0" anchor="ctr"/>
          <a:lstStyle/>
          <a:p>
            <a:pPr indent="0" marL="0">
              <a:buNone/>
            </a:pPr>
            <a:r>
              <a:rPr lang="en-US" sz="1800" b="1" dirty="0">
                <a:solidFill>
                  <a:schemeClr val="bg1"/>
                </a:solidFill>
              </a:rPr>
              <a:t>GitHub OIDC instead of an IAM user</a:t>
            </a:r>
            <a:endParaRPr lang="en-US" sz="1800" dirty="0"/>
          </a:p>
        </p:txBody>
      </p:sp>
      <p:sp>
        <p:nvSpPr>
          <p:cNvPr id="10" name="next card"/>
          <p:cNvSpPr/>
          <p:nvPr/>
        </p:nvSpPr>
        <p:spPr>
          <a:xfrm>
            <a:off x="6126480" y="3657600"/>
            <a:ext cx="5303520" cy="731520"/>
          </a:xfrm>
          <a:prstGeom prst="roundRect">
            <a:avLst>
              <a:gd name="adj" fmla="val 15000"/>
            </a:avLst>
          </a:prstGeom>
          <a:solidFill>
            <a:schemeClr val="accent1"/>
          </a:solidFill>
          <a:ln/>
        </p:spPr>
      </p:sp>
      <p:sp>
        <p:nvSpPr>
          <p:cNvPr id="11" name="next text"/>
          <p:cNvSpPr txBox="1"/>
          <p:nvPr/>
        </p:nvSpPr>
        <p:spPr>
          <a:xfrm>
            <a:off x="6355080" y="3657600"/>
            <a:ext cx="4846320" cy="731520"/>
          </a:xfrm>
          <a:prstGeom prst="rect">
            <a:avLst/>
          </a:prstGeom>
          <a:noFill/>
          <a:ln/>
        </p:spPr>
        <p:txBody>
          <a:bodyPr wrap="square" lIns="0" tIns="0" rIns="0" bIns="0" rtlCol="0" anchor="ctr"/>
          <a:lstStyle/>
          <a:p>
            <a:pPr indent="0" marL="0">
              <a:buNone/>
            </a:pPr>
            <a:r>
              <a:rPr lang="en-US" sz="1800" b="1" dirty="0">
                <a:solidFill>
                  <a:schemeClr val="bg1"/>
                </a:solidFill>
              </a:rPr>
              <a:t>Alertmanager rules for failed bookings</a:t>
            </a:r>
            <a:endParaRPr lang="en-US" sz="1800" dirty="0"/>
          </a:p>
        </p:txBody>
      </p:sp>
      <p:sp>
        <p:nvSpPr>
          <p:cNvPr id="12" name="repo"/>
          <p:cNvSpPr txBox="1"/>
          <p:nvPr/>
        </p:nvSpPr>
        <p:spPr>
          <a:xfrm>
            <a:off x="548640" y="4892040"/>
            <a:ext cx="8229600" cy="457200"/>
          </a:xfrm>
          <a:prstGeom prst="rect">
            <a:avLst/>
          </a:prstGeom>
          <a:noFill/>
          <a:ln/>
        </p:spPr>
        <p:txBody>
          <a:bodyPr wrap="square" lIns="0" tIns="0" rIns="0" bIns="0" rtlCol="0" anchor="ctr"/>
          <a:lstStyle/>
          <a:p>
            <a:pPr indent="0" marL="0">
              <a:buNone/>
            </a:pPr>
            <a:r>
              <a:rPr lang="en-US" sz="2400" b="1" dirty="0">
                <a:solidFill>
                  <a:schemeClr val="bg1"/>
                </a:solidFill>
              </a:rPr>
              <a:t>github.com/mrind3v/waiting-room</a:t>
            </a:r>
            <a:endParaRPr lang="en-US" sz="2400" dirty="0"/>
          </a:p>
        </p:txBody>
      </p:sp>
      <p:sp>
        <p:nvSpPr>
          <p:cNvPr id="13" name="credits"/>
          <p:cNvSpPr txBox="1"/>
          <p:nvPr/>
        </p:nvSpPr>
        <p:spPr>
          <a:xfrm>
            <a:off x="548640" y="5486400"/>
            <a:ext cx="9144000" cy="365760"/>
          </a:xfrm>
          <a:prstGeom prst="rect">
            <a:avLst/>
          </a:prstGeom>
          <a:noFill/>
          <a:ln/>
        </p:spPr>
        <p:txBody>
          <a:bodyPr wrap="square" lIns="0" tIns="0" rIns="0" bIns="0" rtlCol="0" anchor="ctr"/>
          <a:lstStyle/>
          <a:p>
            <a:pPr indent="0" marL="0">
              <a:buNone/>
            </a:pPr>
            <a:r>
              <a:rPr lang="en-US" sz="1800" dirty="0">
                <a:solidFill>
                  <a:schemeClr val="bg2"/>
                </a:solidFill>
              </a:rPr>
              <a:t>Mrinmay Dev Sarma  ·  DevOps  ·  Instructor: Nensi Ravaliya</a:t>
            </a:r>
            <a:endParaRPr lang="en-US" sz="1800" dirty="0"/>
          </a:p>
        </p:txBody>
      </p:sp>
      <p:sp>
        <p:nvSpPr>
          <p:cNvPr id="15" name="Text 0"/>
          <p:cNvSpPr/>
          <p:nvPr>
            <p:ph idx="100" type="title" hasCustomPrompt="1"/>
          </p:nvPr>
        </p:nvSpPr>
        <p:spPr>
          <a:xfrm>
            <a:off x="548640" y="2331720"/>
            <a:ext cx="11064240" cy="1188720"/>
          </a:xfrm>
          <a:prstGeom prst="rect">
            <a:avLst/>
          </a:prstGeom>
          <a:noFill/>
          <a:ln/>
        </p:spPr>
        <p:txBody>
          <a:bodyPr wrap="square" lIns="0" tIns="0" rIns="0" bIns="0" rtlCol="0" anchor="ctr"/>
          <a:lstStyle/>
          <a:p>
            <a:pPr algn="l" indent="0" marL="0">
              <a:buNone/>
            </a:pPr>
            <a:endParaRPr lang="en-US" sz="5000" dirty="0"/>
          </a:p>
        </p:txBody>
      </p:sp>
    </p:spTree>
  </p:cSld>
  <p:clrMapOvr>
    <a:masterClrMapping/>
  </p:clrMapOvr>
</p:sld>
</file>

<file path=ppt/theme/theme1.xml><?xml version="1.0" encoding="utf-8"?>
<a:theme xmlns:a="http://schemas.openxmlformats.org/drawingml/2006/main" name="Waiting Room">
  <a:themeElements>
    <a:clrScheme name="Waiting Room">
      <a:dk1>
        <a:srgbClr val="0B2B2A"/>
      </a:dk1>
      <a:lt1>
        <a:srgbClr val="FFFFFF"/>
      </a:lt1>
      <a:dk2>
        <a:srgbClr val="0F766E"/>
      </a:dk2>
      <a:lt2>
        <a:srgbClr val="E8F5F3"/>
      </a:lt2>
      <a:accent1>
        <a:srgbClr val="0F766E"/>
      </a:accent1>
      <a:accent2>
        <a:srgbClr val="F59E0B"/>
      </a:accent2>
      <a:accent3>
        <a:srgbClr val="1D4ED8"/>
      </a:accent3>
      <a:accent4>
        <a:srgbClr val="15803D"/>
      </a:accent4>
      <a:accent5>
        <a:srgbClr val="B91C1C"/>
      </a:accent5>
      <a:accent6>
        <a:srgbClr val="5B7776"/>
      </a:accent6>
      <a:hlink>
        <a:srgbClr val="0F766E"/>
      </a:hlink>
      <a:folHlink>
        <a:srgbClr val="5B7776"/>
      </a:folHlink>
    </a:clrScheme>
    <a:fontScheme name="Waiting Roo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Waiting Room: DevOps Capstone</dc:title>
  <dc:subject>PptxGenJS Presentation</dc:subject>
  <dc:creator>Mrinmay Dev Sarma</dc:creator>
  <cp:lastModifiedBy>Mrinmay Dev Sarma</cp:lastModifiedBy>
  <cp:revision>1</cp:revision>
  <dcterms:created xsi:type="dcterms:W3CDTF">2026-10-16T06:52:53Z</dcterms:created>
  <dcterms:modified xsi:type="dcterms:W3CDTF">2026-10-16T06:52:53Z</dcterms:modified>
</cp:coreProperties>
</file>